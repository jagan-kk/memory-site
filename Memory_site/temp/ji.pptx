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62" r:id="rId3"/>
    <p:sldId id="264" r:id="rId4"/>
    <p:sldId id="329" r:id="rId5"/>
    <p:sldId id="265" r:id="rId6"/>
    <p:sldId id="266" r:id="rId7"/>
    <p:sldId id="267" r:id="rId8"/>
    <p:sldId id="268" r:id="rId9"/>
    <p:sldId id="269" r:id="rId10"/>
    <p:sldId id="270" r:id="rId11"/>
    <p:sldId id="271" r:id="rId12"/>
    <p:sldId id="331" r:id="rId13"/>
    <p:sldId id="272" r:id="rId14"/>
    <p:sldId id="273" r:id="rId15"/>
    <p:sldId id="330" r:id="rId16"/>
    <p:sldId id="274" r:id="rId17"/>
    <p:sldId id="275" r:id="rId18"/>
    <p:sldId id="276" r:id="rId19"/>
    <p:sldId id="277" r:id="rId20"/>
    <p:sldId id="278" r:id="rId21"/>
    <p:sldId id="279" r:id="rId22"/>
    <p:sldId id="280" r:id="rId23"/>
    <p:sldId id="282" r:id="rId24"/>
    <p:sldId id="283" r:id="rId25"/>
    <p:sldId id="284" r:id="rId26"/>
    <p:sldId id="285" r:id="rId27"/>
    <p:sldId id="286" r:id="rId28"/>
    <p:sldId id="287" r:id="rId29"/>
    <p:sldId id="288" r:id="rId30"/>
    <p:sldId id="289" r:id="rId31"/>
    <p:sldId id="312"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89" autoAdjust="0"/>
  </p:normalViewPr>
  <p:slideViewPr>
    <p:cSldViewPr>
      <p:cViewPr>
        <p:scale>
          <a:sx n="70" d="100"/>
          <a:sy n="70" d="100"/>
        </p:scale>
        <p:origin x="-1386"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8BDC59-54E5-4CE8-A190-5FD8AED24FA4}" type="datetimeFigureOut">
              <a:rPr lang="en-IN" smtClean="0"/>
              <a:pPr/>
              <a:t>14-12-2025</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ACF023-2C60-4EC2-89A3-553251F400FF}" type="slidenum">
              <a:rPr lang="en-IN" smtClean="0"/>
              <a:pPr/>
              <a:t>‹#›</a:t>
            </a:fld>
            <a:endParaRPr lang="en-IN" dirty="0"/>
          </a:p>
        </p:txBody>
      </p:sp>
    </p:spTree>
    <p:extLst>
      <p:ext uri="{BB962C8B-B14F-4D97-AF65-F5344CB8AC3E}">
        <p14:creationId xmlns="" xmlns:p14="http://schemas.microsoft.com/office/powerpoint/2010/main" val="171162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ktustudents.in/"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ktustudents.in/" TargetMode="Externa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676400"/>
            <a:ext cx="8839200" cy="2384425"/>
          </a:xfrm>
        </p:spPr>
        <p:txBody>
          <a:bodyPr>
            <a:normAutofit fontScale="90000"/>
          </a:bodyPr>
          <a:lstStyle/>
          <a:p>
            <a:r>
              <a:rPr lang="en-IN" sz="4200" b="1" dirty="0" smtClean="0">
                <a:solidFill>
                  <a:schemeClr val="accent2">
                    <a:lumMod val="75000"/>
                  </a:schemeClr>
                </a:solidFill>
                <a:latin typeface="Algerian" pitchFamily="82" charset="0"/>
              </a:rPr>
              <a:t>CST 402 </a:t>
            </a:r>
            <a:br>
              <a:rPr lang="en-IN" sz="4200" b="1" dirty="0" smtClean="0">
                <a:solidFill>
                  <a:schemeClr val="accent2">
                    <a:lumMod val="75000"/>
                  </a:schemeClr>
                </a:solidFill>
                <a:latin typeface="Algerian" pitchFamily="82" charset="0"/>
              </a:rPr>
            </a:br>
            <a:r>
              <a:rPr lang="en-IN" sz="4200" b="1" dirty="0" smtClean="0">
                <a:solidFill>
                  <a:schemeClr val="accent2">
                    <a:lumMod val="75000"/>
                  </a:schemeClr>
                </a:solidFill>
                <a:latin typeface="Algerian" pitchFamily="82" charset="0"/>
              </a:rPr>
              <a:t>DISTRIBUTED COMPUTING</a:t>
            </a:r>
            <a:br>
              <a:rPr lang="en-IN" sz="4200" b="1" dirty="0" smtClean="0">
                <a:solidFill>
                  <a:schemeClr val="accent2">
                    <a:lumMod val="75000"/>
                  </a:schemeClr>
                </a:solidFill>
                <a:latin typeface="Algerian" pitchFamily="82" charset="0"/>
              </a:rPr>
            </a:br>
            <a:r>
              <a:rPr lang="en-IN" sz="4200" b="1" dirty="0" smtClean="0">
                <a:solidFill>
                  <a:schemeClr val="accent2">
                    <a:lumMod val="75000"/>
                  </a:schemeClr>
                </a:solidFill>
                <a:latin typeface="Algerian" pitchFamily="82" charset="0"/>
              </a:rPr>
              <a:t/>
            </a:r>
            <a:br>
              <a:rPr lang="en-IN" sz="4200" b="1" dirty="0" smtClean="0">
                <a:solidFill>
                  <a:schemeClr val="accent2">
                    <a:lumMod val="75000"/>
                  </a:schemeClr>
                </a:solidFill>
                <a:latin typeface="Algerian" pitchFamily="82" charset="0"/>
              </a:rPr>
            </a:br>
            <a:r>
              <a:rPr lang="en-IN" sz="4200" b="1" dirty="0" smtClean="0">
                <a:solidFill>
                  <a:schemeClr val="accent2">
                    <a:lumMod val="75000"/>
                  </a:schemeClr>
                </a:solidFill>
                <a:latin typeface="Algerian" pitchFamily="82" charset="0"/>
              </a:rPr>
              <a:t>MODULE II</a:t>
            </a:r>
            <a:endParaRPr lang="en-IN" sz="4200" b="1" dirty="0">
              <a:solidFill>
                <a:schemeClr val="accent2">
                  <a:lumMod val="75000"/>
                </a:schemeClr>
              </a:solidFill>
              <a:latin typeface="Algerian" pitchFamily="82" charset="0"/>
            </a:endParaRPr>
          </a:p>
        </p:txBody>
      </p:sp>
    </p:spTree>
    <p:extLst>
      <p:ext uri="{BB962C8B-B14F-4D97-AF65-F5344CB8AC3E}">
        <p14:creationId xmlns="" xmlns:p14="http://schemas.microsoft.com/office/powerpoint/2010/main" val="2753400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smtClean="0">
                <a:solidFill>
                  <a:schemeClr val="accent2">
                    <a:lumMod val="75000"/>
                  </a:schemeClr>
                </a:solidFill>
                <a:latin typeface="Algerian" pitchFamily="82" charset="0"/>
              </a:rPr>
              <a:t>Module – II</a:t>
            </a:r>
            <a:br>
              <a:rPr lang="en-IN" sz="3600" b="1" dirty="0" smtClean="0">
                <a:solidFill>
                  <a:schemeClr val="accent2">
                    <a:lumMod val="75000"/>
                  </a:schemeClr>
                </a:solidFill>
                <a:latin typeface="Algerian" pitchFamily="82" charset="0"/>
              </a:rPr>
            </a:br>
            <a:r>
              <a:rPr lang="en-IN" sz="3600" b="1" dirty="0" smtClean="0">
                <a:solidFill>
                  <a:schemeClr val="accent2">
                    <a:lumMod val="75000"/>
                  </a:schemeClr>
                </a:solidFill>
                <a:latin typeface="Algerian" pitchFamily="82" charset="0"/>
              </a:rPr>
              <a:t>Lesson Plan</a:t>
            </a:r>
            <a:endParaRPr lang="en-IN" sz="3600" b="1" dirty="0">
              <a:solidFill>
                <a:schemeClr val="accent2">
                  <a:lumMod val="75000"/>
                </a:schemeClr>
              </a:solidFill>
              <a:latin typeface="Algerian" pitchFamily="82" charset="0"/>
            </a:endParaRPr>
          </a:p>
        </p:txBody>
      </p:sp>
      <p:sp>
        <p:nvSpPr>
          <p:cNvPr id="3" name="Content Placeholder 2"/>
          <p:cNvSpPr>
            <a:spLocks noGrp="1"/>
          </p:cNvSpPr>
          <p:nvPr>
            <p:ph idx="1"/>
          </p:nvPr>
        </p:nvSpPr>
        <p:spPr>
          <a:xfrm>
            <a:off x="76200" y="1295400"/>
            <a:ext cx="8915400" cy="4953000"/>
          </a:xfrm>
        </p:spPr>
        <p:txBody>
          <a:bodyPr>
            <a:noAutofit/>
          </a:bodyPr>
          <a:lstStyle/>
          <a:p>
            <a:pPr>
              <a:lnSpc>
                <a:spcPct val="150000"/>
              </a:lnSpc>
              <a:buFont typeface="Wingdings" pitchFamily="2" charset="2"/>
              <a:buChar char="§"/>
            </a:pPr>
            <a:r>
              <a:rPr lang="en-IN" sz="2000" b="1" dirty="0" smtClean="0">
                <a:latin typeface="Tw Cen MT" pitchFamily="34" charset="0"/>
              </a:rPr>
              <a:t>Logical </a:t>
            </a:r>
            <a:r>
              <a:rPr lang="en-IN" sz="2000" b="1" dirty="0">
                <a:latin typeface="Tw Cen MT" pitchFamily="34" charset="0"/>
              </a:rPr>
              <a:t>time – A framework for a system of logical clocks, Scalar </a:t>
            </a:r>
            <a:r>
              <a:rPr lang="en-IN" sz="2000" b="1" dirty="0" smtClean="0">
                <a:latin typeface="Tw Cen MT" pitchFamily="34" charset="0"/>
              </a:rPr>
              <a:t>time, Vector </a:t>
            </a:r>
            <a:r>
              <a:rPr lang="en-IN" sz="2000" b="1" dirty="0">
                <a:latin typeface="Tw Cen MT" pitchFamily="34" charset="0"/>
              </a:rPr>
              <a:t>time</a:t>
            </a:r>
            <a:endParaRPr lang="en-IN" sz="2000" b="1" dirty="0" smtClean="0">
              <a:solidFill>
                <a:srgbClr val="002060"/>
              </a:solidFill>
              <a:latin typeface="Tw Cen MT" pitchFamily="34" charset="0"/>
            </a:endParaRPr>
          </a:p>
          <a:p>
            <a:pPr>
              <a:lnSpc>
                <a:spcPct val="150000"/>
              </a:lnSpc>
              <a:buFont typeface="Wingdings" pitchFamily="2" charset="2"/>
              <a:buChar char="§"/>
            </a:pPr>
            <a:endParaRPr lang="en-IN" sz="1000" b="1" dirty="0" smtClean="0">
              <a:latin typeface="Tw Cen MT" pitchFamily="34" charset="0"/>
            </a:endParaRPr>
          </a:p>
          <a:p>
            <a:pPr>
              <a:lnSpc>
                <a:spcPct val="150000"/>
              </a:lnSpc>
              <a:buFont typeface="Wingdings" pitchFamily="2" charset="2"/>
              <a:buChar char="§"/>
            </a:pPr>
            <a:r>
              <a:rPr lang="en-IN" sz="2000" b="1" dirty="0" smtClean="0">
                <a:latin typeface="Tw Cen MT" pitchFamily="34" charset="0"/>
              </a:rPr>
              <a:t>Leader </a:t>
            </a:r>
            <a:r>
              <a:rPr lang="en-IN" sz="2000" b="1" dirty="0">
                <a:latin typeface="Tw Cen MT" pitchFamily="34" charset="0"/>
              </a:rPr>
              <a:t>election algorithm – Bully Algorithm, Ring Algorithm</a:t>
            </a:r>
            <a:r>
              <a:rPr lang="en-IN" sz="2000" b="1" dirty="0" smtClean="0">
                <a:solidFill>
                  <a:srgbClr val="002060"/>
                </a:solidFill>
                <a:latin typeface="Tw Cen MT" pitchFamily="34" charset="0"/>
              </a:rPr>
              <a:t>. </a:t>
            </a:r>
          </a:p>
          <a:p>
            <a:pPr>
              <a:lnSpc>
                <a:spcPct val="150000"/>
              </a:lnSpc>
              <a:buFont typeface="Wingdings" pitchFamily="2" charset="2"/>
              <a:buChar char="§"/>
            </a:pPr>
            <a:endParaRPr lang="en-IN" sz="1000" b="1" dirty="0" smtClean="0">
              <a:latin typeface="Tw Cen MT" pitchFamily="34" charset="0"/>
            </a:endParaRPr>
          </a:p>
          <a:p>
            <a:pPr>
              <a:lnSpc>
                <a:spcPct val="150000"/>
              </a:lnSpc>
              <a:buFont typeface="Wingdings" pitchFamily="2" charset="2"/>
              <a:buChar char="§"/>
            </a:pPr>
            <a:r>
              <a:rPr lang="en-IN" sz="2000" b="1" dirty="0" smtClean="0">
                <a:latin typeface="Tw Cen MT" pitchFamily="34" charset="0"/>
              </a:rPr>
              <a:t>Global </a:t>
            </a:r>
            <a:r>
              <a:rPr lang="en-IN" sz="2000" b="1" dirty="0">
                <a:latin typeface="Tw Cen MT" pitchFamily="34" charset="0"/>
              </a:rPr>
              <a:t>state and snapshot recording algorithms – System model and </a:t>
            </a:r>
            <a:r>
              <a:rPr lang="en-IN" sz="2000" b="1" dirty="0" smtClean="0">
                <a:latin typeface="Tw Cen MT" pitchFamily="34" charset="0"/>
              </a:rPr>
              <a:t>definitions</a:t>
            </a:r>
            <a:r>
              <a:rPr lang="en-IN" sz="2000" b="1" dirty="0" smtClean="0">
                <a:solidFill>
                  <a:srgbClr val="002060"/>
                </a:solidFill>
                <a:latin typeface="Tw Cen MT" pitchFamily="34" charset="0"/>
              </a:rPr>
              <a:t>.  </a:t>
            </a:r>
          </a:p>
          <a:p>
            <a:pPr>
              <a:lnSpc>
                <a:spcPct val="150000"/>
              </a:lnSpc>
              <a:buFont typeface="Wingdings" pitchFamily="2" charset="2"/>
              <a:buChar char="§"/>
            </a:pPr>
            <a:r>
              <a:rPr lang="en-IN" sz="2000" b="1" dirty="0" smtClean="0">
                <a:latin typeface="Tw Cen MT" pitchFamily="34" charset="0"/>
              </a:rPr>
              <a:t>Snapshot </a:t>
            </a:r>
            <a:r>
              <a:rPr lang="en-IN" sz="2000" b="1" dirty="0">
                <a:latin typeface="Tw Cen MT" pitchFamily="34" charset="0"/>
              </a:rPr>
              <a:t>algorithm for FIFO channels – </a:t>
            </a:r>
            <a:r>
              <a:rPr lang="en-IN" sz="2000" b="1" dirty="0" err="1">
                <a:latin typeface="Tw Cen MT" pitchFamily="34" charset="0"/>
              </a:rPr>
              <a:t>Chandy</a:t>
            </a:r>
            <a:r>
              <a:rPr lang="en-IN" sz="2000" b="1" dirty="0">
                <a:latin typeface="Tw Cen MT" pitchFamily="34" charset="0"/>
              </a:rPr>
              <a:t> </a:t>
            </a:r>
            <a:r>
              <a:rPr lang="en-IN" sz="2000" b="1" dirty="0" err="1">
                <a:latin typeface="Tw Cen MT" pitchFamily="34" charset="0"/>
              </a:rPr>
              <a:t>Lamport</a:t>
            </a:r>
            <a:r>
              <a:rPr lang="en-IN" sz="2000" b="1" dirty="0">
                <a:latin typeface="Tw Cen MT" pitchFamily="34" charset="0"/>
              </a:rPr>
              <a:t> algorithm. </a:t>
            </a:r>
            <a:endParaRPr lang="en-IN" sz="2000" b="1" dirty="0" smtClean="0">
              <a:solidFill>
                <a:srgbClr val="002060"/>
              </a:solidFill>
              <a:latin typeface="Tw Cen MT" pitchFamily="34" charset="0"/>
            </a:endParaRPr>
          </a:p>
          <a:p>
            <a:pPr>
              <a:lnSpc>
                <a:spcPct val="150000"/>
              </a:lnSpc>
              <a:buFont typeface="Wingdings" pitchFamily="2" charset="2"/>
              <a:buChar char="§"/>
            </a:pPr>
            <a:endParaRPr lang="en-IN" sz="1000" b="1" dirty="0" smtClean="0">
              <a:latin typeface="Tw Cen MT" pitchFamily="34" charset="0"/>
            </a:endParaRPr>
          </a:p>
          <a:p>
            <a:pPr>
              <a:lnSpc>
                <a:spcPct val="150000"/>
              </a:lnSpc>
              <a:buFont typeface="Wingdings" pitchFamily="2" charset="2"/>
              <a:buChar char="§"/>
            </a:pPr>
            <a:r>
              <a:rPr lang="en-IN" sz="2000" b="1" dirty="0" smtClean="0">
                <a:latin typeface="Tw Cen MT" pitchFamily="34" charset="0"/>
              </a:rPr>
              <a:t>Termination </a:t>
            </a:r>
            <a:r>
              <a:rPr lang="en-IN" sz="2000" b="1" dirty="0">
                <a:latin typeface="Tw Cen MT" pitchFamily="34" charset="0"/>
              </a:rPr>
              <a:t>detection – System model of a distributed computation </a:t>
            </a:r>
            <a:endParaRPr lang="en-IN" sz="2000" b="1" dirty="0" smtClean="0">
              <a:solidFill>
                <a:srgbClr val="002060"/>
              </a:solidFill>
              <a:latin typeface="Tw Cen MT" pitchFamily="34" charset="0"/>
            </a:endParaRPr>
          </a:p>
          <a:p>
            <a:pPr>
              <a:lnSpc>
                <a:spcPct val="150000"/>
              </a:lnSpc>
              <a:buFont typeface="Wingdings" pitchFamily="2" charset="2"/>
              <a:buChar char="§"/>
            </a:pPr>
            <a:r>
              <a:rPr lang="en-IN" sz="2000" b="1" dirty="0" smtClean="0">
                <a:latin typeface="Tw Cen MT" pitchFamily="34" charset="0"/>
              </a:rPr>
              <a:t>Termination </a:t>
            </a:r>
            <a:r>
              <a:rPr lang="en-IN" sz="2000" b="1" dirty="0">
                <a:latin typeface="Tw Cen MT" pitchFamily="34" charset="0"/>
              </a:rPr>
              <a:t>detection using distributed </a:t>
            </a:r>
            <a:r>
              <a:rPr lang="en-IN" sz="2000" b="1" dirty="0" smtClean="0">
                <a:latin typeface="Tw Cen MT" pitchFamily="34" charset="0"/>
              </a:rPr>
              <a:t>snapshots.</a:t>
            </a:r>
          </a:p>
          <a:p>
            <a:pPr>
              <a:lnSpc>
                <a:spcPct val="150000"/>
              </a:lnSpc>
              <a:buFont typeface="Wingdings" pitchFamily="2" charset="2"/>
              <a:buChar char="§"/>
            </a:pPr>
            <a:r>
              <a:rPr lang="en-IN" sz="2000" b="1" dirty="0" smtClean="0">
                <a:latin typeface="Tw Cen MT" pitchFamily="34" charset="0"/>
              </a:rPr>
              <a:t>Termination </a:t>
            </a:r>
            <a:r>
              <a:rPr lang="en-IN" sz="2000" b="1" dirty="0">
                <a:latin typeface="Tw Cen MT" pitchFamily="34" charset="0"/>
              </a:rPr>
              <a:t>detection by weight throwing, Spanning tree-based algorithm </a:t>
            </a:r>
          </a:p>
        </p:txBody>
      </p:sp>
    </p:spTree>
    <p:extLst>
      <p:ext uri="{BB962C8B-B14F-4D97-AF65-F5344CB8AC3E}">
        <p14:creationId xmlns="" xmlns:p14="http://schemas.microsoft.com/office/powerpoint/2010/main" val="39123742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chemeClr val="accent2">
                    <a:lumMod val="75000"/>
                  </a:schemeClr>
                </a:solidFill>
              </a:rPr>
              <a:t>Logical time</a:t>
            </a:r>
          </a:p>
        </p:txBody>
      </p:sp>
      <p:sp>
        <p:nvSpPr>
          <p:cNvPr id="3" name="Content Placeholder 2"/>
          <p:cNvSpPr>
            <a:spLocks noGrp="1"/>
          </p:cNvSpPr>
          <p:nvPr>
            <p:ph idx="1"/>
          </p:nvPr>
        </p:nvSpPr>
        <p:spPr>
          <a:xfrm>
            <a:off x="304800" y="914400"/>
            <a:ext cx="8610600" cy="5638800"/>
          </a:xfrm>
        </p:spPr>
        <p:txBody>
          <a:bodyPr>
            <a:noAutofit/>
          </a:bodyPr>
          <a:lstStyle/>
          <a:p>
            <a:pPr algn="just">
              <a:lnSpc>
                <a:spcPct val="150000"/>
              </a:lnSpc>
              <a:buFont typeface="Wingdings" pitchFamily="2" charset="2"/>
              <a:buChar char="§"/>
            </a:pPr>
            <a:r>
              <a:rPr lang="en-IN" sz="1900" dirty="0" smtClean="0">
                <a:latin typeface="Times New Roman" pitchFamily="18" charset="0"/>
                <a:cs typeface="Times New Roman" pitchFamily="18" charset="0"/>
              </a:rPr>
              <a:t>In </a:t>
            </a:r>
            <a:r>
              <a:rPr lang="en-IN" sz="1900" dirty="0">
                <a:latin typeface="Times New Roman" pitchFamily="18" charset="0"/>
                <a:cs typeface="Times New Roman" pitchFamily="18" charset="0"/>
              </a:rPr>
              <a:t>distributed systems, it is not possible to have </a:t>
            </a:r>
            <a:r>
              <a:rPr lang="en-IN" sz="1900" u="sng" dirty="0">
                <a:latin typeface="Times New Roman" pitchFamily="18" charset="0"/>
                <a:cs typeface="Times New Roman" pitchFamily="18" charset="0"/>
              </a:rPr>
              <a:t>global physical time</a:t>
            </a:r>
            <a:r>
              <a:rPr lang="en-IN" sz="1900" dirty="0">
                <a:latin typeface="Times New Roman" pitchFamily="18" charset="0"/>
                <a:cs typeface="Times New Roman" pitchFamily="18" charset="0"/>
              </a:rPr>
              <a:t>; </a:t>
            </a:r>
            <a:endParaRPr lang="en-IN" sz="1900" dirty="0" smtClean="0">
              <a:latin typeface="Times New Roman" pitchFamily="18" charset="0"/>
              <a:cs typeface="Times New Roman" pitchFamily="18" charset="0"/>
            </a:endParaRPr>
          </a:p>
          <a:p>
            <a:pPr algn="just">
              <a:lnSpc>
                <a:spcPct val="150000"/>
              </a:lnSpc>
              <a:buFont typeface="Wingdings" pitchFamily="2" charset="2"/>
              <a:buChar char="§"/>
            </a:pPr>
            <a:r>
              <a:rPr lang="en-IN" sz="1900" dirty="0" smtClean="0">
                <a:latin typeface="Times New Roman" pitchFamily="18" charset="0"/>
                <a:cs typeface="Times New Roman" pitchFamily="18" charset="0"/>
              </a:rPr>
              <a:t>It </a:t>
            </a:r>
            <a:r>
              <a:rPr lang="en-IN" sz="1900" dirty="0">
                <a:latin typeface="Times New Roman" pitchFamily="18" charset="0"/>
                <a:cs typeface="Times New Roman" pitchFamily="18" charset="0"/>
              </a:rPr>
              <a:t>is possible to realize only an approximation of </a:t>
            </a:r>
            <a:r>
              <a:rPr lang="en-IN" sz="1900" dirty="0" smtClean="0">
                <a:latin typeface="Times New Roman" pitchFamily="18" charset="0"/>
                <a:cs typeface="Times New Roman" pitchFamily="18" charset="0"/>
              </a:rPr>
              <a:t>it</a:t>
            </a:r>
          </a:p>
          <a:p>
            <a:pPr algn="just">
              <a:lnSpc>
                <a:spcPct val="150000"/>
              </a:lnSpc>
              <a:buFont typeface="Wingdings" pitchFamily="2" charset="2"/>
              <a:buChar char="§"/>
            </a:pPr>
            <a:r>
              <a:rPr lang="en-IN" sz="1900" dirty="0">
                <a:latin typeface="Times New Roman" pitchFamily="18" charset="0"/>
                <a:cs typeface="Times New Roman" pitchFamily="18" charset="0"/>
              </a:rPr>
              <a:t>As asynchronous distributed computations make progress in spurts, it turns out that the logical time, which advances in jumps, is sufficient to capture the fundamental </a:t>
            </a:r>
            <a:r>
              <a:rPr lang="en-IN" sz="1900" b="1" u="sng" dirty="0" smtClean="0">
                <a:latin typeface="Times New Roman" pitchFamily="18" charset="0"/>
                <a:cs typeface="Times New Roman" pitchFamily="18" charset="0"/>
              </a:rPr>
              <a:t>monotonicity  property(order</a:t>
            </a:r>
            <a:r>
              <a:rPr lang="en-IN" sz="1900" u="sng" dirty="0" smtClean="0">
                <a:latin typeface="Times New Roman" pitchFamily="18" charset="0"/>
                <a:cs typeface="Times New Roman" pitchFamily="18" charset="0"/>
              </a:rPr>
              <a:t>) associated </a:t>
            </a:r>
            <a:r>
              <a:rPr lang="en-IN" sz="1900" u="sng" dirty="0">
                <a:latin typeface="Times New Roman" pitchFamily="18" charset="0"/>
                <a:cs typeface="Times New Roman" pitchFamily="18" charset="0"/>
              </a:rPr>
              <a:t>with causality in distributed </a:t>
            </a:r>
            <a:r>
              <a:rPr lang="en-IN" sz="1900" u="sng" dirty="0" smtClean="0">
                <a:latin typeface="Times New Roman" pitchFamily="18" charset="0"/>
                <a:cs typeface="Times New Roman" pitchFamily="18" charset="0"/>
              </a:rPr>
              <a:t>systems</a:t>
            </a:r>
          </a:p>
          <a:p>
            <a:pPr algn="just">
              <a:lnSpc>
                <a:spcPct val="150000"/>
              </a:lnSpc>
              <a:buFont typeface="Wingdings" pitchFamily="2" charset="2"/>
              <a:buChar char="§"/>
            </a:pPr>
            <a:r>
              <a:rPr lang="en-IN" sz="1900" dirty="0">
                <a:latin typeface="Times New Roman" pitchFamily="18" charset="0"/>
                <a:cs typeface="Times New Roman" pitchFamily="18" charset="0"/>
              </a:rPr>
              <a:t>Causality (or the causal precedence relation) among events in a distributed system is a powerful concept in reasoning, </a:t>
            </a:r>
            <a:r>
              <a:rPr lang="en-IN" sz="1900" dirty="0" smtClean="0">
                <a:latin typeface="Times New Roman" pitchFamily="18" charset="0"/>
                <a:cs typeface="Times New Roman" pitchFamily="18" charset="0"/>
              </a:rPr>
              <a:t>analysing, </a:t>
            </a:r>
            <a:r>
              <a:rPr lang="en-IN" sz="1900" dirty="0">
                <a:latin typeface="Times New Roman" pitchFamily="18" charset="0"/>
                <a:cs typeface="Times New Roman" pitchFamily="18" charset="0"/>
              </a:rPr>
              <a:t>and drawing inferences about a </a:t>
            </a:r>
            <a:r>
              <a:rPr lang="en-IN" sz="1900" dirty="0" smtClean="0">
                <a:latin typeface="Times New Roman" pitchFamily="18" charset="0"/>
                <a:cs typeface="Times New Roman" pitchFamily="18" charset="0"/>
              </a:rPr>
              <a:t>computation</a:t>
            </a:r>
          </a:p>
          <a:p>
            <a:pPr algn="just">
              <a:lnSpc>
                <a:spcPct val="150000"/>
              </a:lnSpc>
              <a:buFont typeface="Wingdings" pitchFamily="2" charset="2"/>
              <a:buChar char="§"/>
            </a:pPr>
            <a:r>
              <a:rPr lang="en-IN" sz="1900" b="1" dirty="0">
                <a:latin typeface="Times New Roman" pitchFamily="18" charset="0"/>
                <a:cs typeface="Times New Roman" pitchFamily="18" charset="0"/>
              </a:rPr>
              <a:t>The knowledge of the causal precedence relation among the events of processes helps solve a variety of problems in distributed </a:t>
            </a:r>
            <a:r>
              <a:rPr lang="en-IN" sz="1900" b="1" dirty="0" smtClean="0">
                <a:latin typeface="Times New Roman" pitchFamily="18" charset="0"/>
                <a:cs typeface="Times New Roman" pitchFamily="18" charset="0"/>
              </a:rPr>
              <a:t>systems</a:t>
            </a:r>
          </a:p>
        </p:txBody>
      </p:sp>
    </p:spTree>
    <p:extLst>
      <p:ext uri="{BB962C8B-B14F-4D97-AF65-F5344CB8AC3E}">
        <p14:creationId xmlns="" xmlns:p14="http://schemas.microsoft.com/office/powerpoint/2010/main" val="3307087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chemeClr val="accent2">
                    <a:lumMod val="75000"/>
                  </a:schemeClr>
                </a:solidFill>
              </a:rPr>
              <a:t>Logical time</a:t>
            </a:r>
          </a:p>
        </p:txBody>
      </p:sp>
      <p:sp>
        <p:nvSpPr>
          <p:cNvPr id="3" name="Content Placeholder 2"/>
          <p:cNvSpPr>
            <a:spLocks noGrp="1"/>
          </p:cNvSpPr>
          <p:nvPr>
            <p:ph idx="1"/>
          </p:nvPr>
        </p:nvSpPr>
        <p:spPr>
          <a:xfrm>
            <a:off x="304800" y="914400"/>
            <a:ext cx="8610600" cy="5638800"/>
          </a:xfrm>
        </p:spPr>
        <p:txBody>
          <a:bodyPr>
            <a:noAutofit/>
          </a:bodyPr>
          <a:lstStyle/>
          <a:p>
            <a:pPr algn="just">
              <a:lnSpc>
                <a:spcPct val="150000"/>
              </a:lnSpc>
              <a:buFont typeface="Wingdings" pitchFamily="2" charset="2"/>
              <a:buChar char="§"/>
            </a:pPr>
            <a:r>
              <a:rPr lang="en-IN" sz="2000" b="1" dirty="0" smtClean="0">
                <a:latin typeface="Times New Roman" pitchFamily="18" charset="0"/>
                <a:cs typeface="Times New Roman" pitchFamily="18" charset="0"/>
              </a:rPr>
              <a:t>Logic time representation</a:t>
            </a:r>
          </a:p>
          <a:p>
            <a:pPr lvl="1" algn="just">
              <a:lnSpc>
                <a:spcPct val="150000"/>
              </a:lnSpc>
              <a:buFont typeface="Wingdings" pitchFamily="2" charset="2"/>
              <a:buChar char="§"/>
            </a:pPr>
            <a:r>
              <a:rPr lang="en-IN" sz="1600" b="1" dirty="0" smtClean="0">
                <a:latin typeface="Times New Roman" pitchFamily="18" charset="0"/>
                <a:cs typeface="Times New Roman" pitchFamily="18" charset="0"/>
              </a:rPr>
              <a:t>SCALAR TIME</a:t>
            </a:r>
          </a:p>
          <a:p>
            <a:pPr lvl="1" algn="just">
              <a:lnSpc>
                <a:spcPct val="150000"/>
              </a:lnSpc>
              <a:buFont typeface="Wingdings" pitchFamily="2" charset="2"/>
              <a:buChar char="§"/>
            </a:pPr>
            <a:r>
              <a:rPr lang="en-IN" sz="1600" b="1" dirty="0" smtClean="0">
                <a:latin typeface="Times New Roman" pitchFamily="18" charset="0"/>
                <a:cs typeface="Times New Roman" pitchFamily="18" charset="0"/>
              </a:rPr>
              <a:t>VECTOR TIME</a:t>
            </a:r>
          </a:p>
          <a:p>
            <a:pPr lvl="1" algn="just">
              <a:lnSpc>
                <a:spcPct val="150000"/>
              </a:lnSpc>
              <a:buFont typeface="Wingdings" pitchFamily="2" charset="2"/>
              <a:buChar char="§"/>
            </a:pPr>
            <a:r>
              <a:rPr lang="en-IN" sz="1600" b="1" dirty="0" smtClean="0">
                <a:latin typeface="Times New Roman" pitchFamily="18" charset="0"/>
                <a:cs typeface="Times New Roman" pitchFamily="18" charset="0"/>
              </a:rPr>
              <a:t>MATRIX TIME</a:t>
            </a:r>
          </a:p>
          <a:p>
            <a:pPr lvl="1" algn="just">
              <a:lnSpc>
                <a:spcPct val="150000"/>
              </a:lnSpc>
              <a:buFont typeface="Wingdings" pitchFamily="2" charset="2"/>
              <a:buChar char="§"/>
            </a:pPr>
            <a:endParaRPr lang="en-IN" sz="1600" b="1" dirty="0" smtClean="0">
              <a:latin typeface="Times New Roman" pitchFamily="18" charset="0"/>
              <a:cs typeface="Times New Roman" pitchFamily="18" charset="0"/>
            </a:endParaRPr>
          </a:p>
          <a:p>
            <a:pPr lvl="1" algn="just">
              <a:lnSpc>
                <a:spcPct val="150000"/>
              </a:lnSpc>
              <a:buFont typeface="Wingdings" pitchFamily="2" charset="2"/>
              <a:buChar char="§"/>
            </a:pPr>
            <a:endParaRPr lang="en-IN" sz="1600" b="1" dirty="0" smtClean="0">
              <a:latin typeface="Times New Roman" pitchFamily="18" charset="0"/>
              <a:cs typeface="Times New Roman" pitchFamily="18" charset="0"/>
            </a:endParaRPr>
          </a:p>
          <a:p>
            <a:pPr lvl="1" algn="just">
              <a:lnSpc>
                <a:spcPct val="150000"/>
              </a:lnSpc>
              <a:buNone/>
            </a:pPr>
            <a:r>
              <a:rPr lang="en-IN" sz="1600" b="1" dirty="0" smtClean="0">
                <a:latin typeface="Times New Roman" pitchFamily="18" charset="0"/>
                <a:cs typeface="Times New Roman" pitchFamily="18" charset="0"/>
              </a:rPr>
              <a:t>BASED ON TIMESTAMP</a:t>
            </a:r>
          </a:p>
        </p:txBody>
      </p:sp>
    </p:spTree>
    <p:extLst>
      <p:ext uri="{BB962C8B-B14F-4D97-AF65-F5344CB8AC3E}">
        <p14:creationId xmlns="" xmlns:p14="http://schemas.microsoft.com/office/powerpoint/2010/main" val="3307087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Logical time</a:t>
            </a:r>
          </a:p>
        </p:txBody>
      </p:sp>
      <p:sp>
        <p:nvSpPr>
          <p:cNvPr id="3" name="Content Placeholder 2"/>
          <p:cNvSpPr>
            <a:spLocks noGrp="1"/>
          </p:cNvSpPr>
          <p:nvPr>
            <p:ph idx="1"/>
          </p:nvPr>
        </p:nvSpPr>
        <p:spPr>
          <a:xfrm>
            <a:off x="381000" y="914400"/>
            <a:ext cx="8534400" cy="4953000"/>
          </a:xfrm>
        </p:spPr>
        <p:txBody>
          <a:bodyPr>
            <a:noAutofit/>
          </a:bodyPr>
          <a:lstStyle/>
          <a:p>
            <a:pPr algn="just">
              <a:buFont typeface="Wingdings" pitchFamily="2" charset="2"/>
              <a:buChar char="§"/>
            </a:pPr>
            <a:r>
              <a:rPr lang="en-IN" sz="2000" dirty="0" smtClean="0"/>
              <a:t>Examples </a:t>
            </a:r>
            <a:r>
              <a:rPr lang="en-IN" sz="2000" dirty="0"/>
              <a:t>of some of these problems is as follows</a:t>
            </a:r>
            <a:r>
              <a:rPr lang="en-IN" sz="2000" dirty="0" smtClean="0"/>
              <a:t>: </a:t>
            </a:r>
          </a:p>
          <a:p>
            <a:pPr marL="0" indent="0" algn="just">
              <a:buNone/>
            </a:pPr>
            <a:r>
              <a:rPr lang="en-IN" sz="2000" b="1" dirty="0" smtClean="0"/>
              <a:t>Distributed </a:t>
            </a:r>
            <a:r>
              <a:rPr lang="en-IN" sz="2000" b="1" dirty="0"/>
              <a:t>algorithms </a:t>
            </a:r>
            <a:r>
              <a:rPr lang="en-IN" sz="2000" b="1" dirty="0" smtClean="0"/>
              <a:t>design</a:t>
            </a:r>
          </a:p>
          <a:p>
            <a:pPr marL="0" indent="0" algn="just">
              <a:buNone/>
            </a:pPr>
            <a:r>
              <a:rPr lang="en-IN" sz="2000" b="1" dirty="0"/>
              <a:t>Tracking of dependent </a:t>
            </a:r>
            <a:r>
              <a:rPr lang="en-IN" sz="2000" b="1" dirty="0" smtClean="0"/>
              <a:t>events</a:t>
            </a:r>
          </a:p>
          <a:p>
            <a:pPr marL="0" indent="0" algn="just">
              <a:buNone/>
            </a:pPr>
            <a:r>
              <a:rPr lang="en-IN" sz="2000" b="1" dirty="0"/>
              <a:t>Knowledge about the </a:t>
            </a:r>
            <a:r>
              <a:rPr lang="en-IN" sz="2000" b="1" dirty="0" smtClean="0"/>
              <a:t>progress</a:t>
            </a:r>
          </a:p>
          <a:p>
            <a:pPr marL="0" indent="0" algn="just">
              <a:buNone/>
            </a:pPr>
            <a:endParaRPr lang="en-IN" sz="2000" dirty="0" smtClean="0"/>
          </a:p>
          <a:p>
            <a:pPr algn="just">
              <a:buFont typeface="Wingdings" pitchFamily="2" charset="2"/>
              <a:buChar char="§"/>
            </a:pPr>
            <a:r>
              <a:rPr lang="en-IN" sz="2000" dirty="0"/>
              <a:t>The concept of causality is widely used by human beings, often unconsciously, in the planning, scheduling, and </a:t>
            </a:r>
            <a:r>
              <a:rPr lang="en-IN" sz="2000" dirty="0" smtClean="0"/>
              <a:t>execution</a:t>
            </a:r>
          </a:p>
          <a:p>
            <a:pPr algn="just">
              <a:buFont typeface="Wingdings" pitchFamily="2" charset="2"/>
              <a:buChar char="§"/>
            </a:pPr>
            <a:endParaRPr lang="en-IN" sz="800" dirty="0" smtClean="0"/>
          </a:p>
          <a:p>
            <a:pPr algn="just">
              <a:buFont typeface="Wingdings" pitchFamily="2" charset="2"/>
              <a:buChar char="§"/>
            </a:pPr>
            <a:r>
              <a:rPr lang="en-IN" sz="2000" dirty="0"/>
              <a:t>In day-to-day life, the global time to deduce causality relation is obtained from loosely synchronized clocks (i.e., wrist watches, wall clocks). </a:t>
            </a:r>
            <a:endParaRPr lang="en-IN" sz="2000" dirty="0" smtClean="0"/>
          </a:p>
          <a:p>
            <a:pPr algn="just">
              <a:buFont typeface="Wingdings" pitchFamily="2" charset="2"/>
              <a:buChar char="§"/>
            </a:pPr>
            <a:endParaRPr lang="en-IN" sz="800" dirty="0" smtClean="0"/>
          </a:p>
          <a:p>
            <a:pPr algn="just">
              <a:buFont typeface="Wingdings" pitchFamily="2" charset="2"/>
              <a:buChar char="§"/>
            </a:pPr>
            <a:r>
              <a:rPr lang="en-IN" sz="2000" dirty="0" smtClean="0"/>
              <a:t>However</a:t>
            </a:r>
            <a:r>
              <a:rPr lang="en-IN" sz="2000" dirty="0"/>
              <a:t>, in distributed computing systems, the rate of occurrence of events is several magnitudes higher and the event execution time is several magnitudes smaller. </a:t>
            </a:r>
            <a:endParaRPr lang="en-IN" sz="2000" dirty="0" smtClean="0"/>
          </a:p>
          <a:p>
            <a:pPr algn="just">
              <a:buFont typeface="Wingdings" pitchFamily="2" charset="2"/>
              <a:buChar char="§"/>
            </a:pPr>
            <a:endParaRPr lang="en-IN" sz="800" dirty="0" smtClean="0"/>
          </a:p>
          <a:p>
            <a:pPr algn="just">
              <a:buFont typeface="Wingdings" pitchFamily="2" charset="2"/>
              <a:buChar char="§"/>
            </a:pPr>
            <a:r>
              <a:rPr lang="en-IN" sz="2000" dirty="0" smtClean="0"/>
              <a:t>Consequently</a:t>
            </a:r>
            <a:r>
              <a:rPr lang="en-IN" sz="2000" dirty="0"/>
              <a:t>, if the physical clocks are not precisely synchronized, the causality relation between events may not be accurately captured</a:t>
            </a:r>
            <a:endParaRPr lang="en-IN" sz="2000" dirty="0" smtClean="0"/>
          </a:p>
          <a:p>
            <a:pPr marL="0" indent="0" algn="just">
              <a:buNone/>
            </a:pPr>
            <a:endParaRPr lang="en-IN" sz="2000" dirty="0"/>
          </a:p>
        </p:txBody>
      </p:sp>
    </p:spTree>
    <p:extLst>
      <p:ext uri="{BB962C8B-B14F-4D97-AF65-F5344CB8AC3E}">
        <p14:creationId xmlns="" xmlns:p14="http://schemas.microsoft.com/office/powerpoint/2010/main" val="2803061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Logical time</a:t>
            </a:r>
          </a:p>
        </p:txBody>
      </p:sp>
      <p:sp>
        <p:nvSpPr>
          <p:cNvPr id="3" name="Content Placeholder 2"/>
          <p:cNvSpPr>
            <a:spLocks noGrp="1"/>
          </p:cNvSpPr>
          <p:nvPr>
            <p:ph idx="1"/>
          </p:nvPr>
        </p:nvSpPr>
        <p:spPr>
          <a:xfrm>
            <a:off x="381000" y="762000"/>
            <a:ext cx="8534400" cy="5715000"/>
          </a:xfrm>
        </p:spPr>
        <p:txBody>
          <a:bodyPr>
            <a:noAutofit/>
          </a:bodyPr>
          <a:lstStyle/>
          <a:p>
            <a:pPr algn="just">
              <a:buFont typeface="Wingdings" pitchFamily="2" charset="2"/>
              <a:buChar char="§"/>
            </a:pPr>
            <a:r>
              <a:rPr lang="en-IN" sz="2000" dirty="0"/>
              <a:t>Network Time </a:t>
            </a:r>
            <a:r>
              <a:rPr lang="en-IN" sz="2000" dirty="0" smtClean="0"/>
              <a:t>Protocols which </a:t>
            </a:r>
            <a:r>
              <a:rPr lang="en-IN" sz="2000" dirty="0"/>
              <a:t>can maintain time accurate to a few tens of milliseconds on the Internet, are not adequate to capture the causality relation in distributed systems. </a:t>
            </a:r>
            <a:endParaRPr lang="en-IN" sz="2000" dirty="0" smtClean="0"/>
          </a:p>
          <a:p>
            <a:pPr algn="just">
              <a:buFont typeface="Wingdings" pitchFamily="2" charset="2"/>
              <a:buChar char="§"/>
            </a:pPr>
            <a:endParaRPr lang="en-IN" sz="800" dirty="0" smtClean="0"/>
          </a:p>
          <a:p>
            <a:pPr algn="just">
              <a:buFont typeface="Wingdings" pitchFamily="2" charset="2"/>
              <a:buChar char="§"/>
            </a:pPr>
            <a:r>
              <a:rPr lang="en-IN" sz="2000" dirty="0" smtClean="0"/>
              <a:t>However</a:t>
            </a:r>
            <a:r>
              <a:rPr lang="en-IN" sz="2000" dirty="0"/>
              <a:t>, in a distributed computation, generally the progress is made in spurts and the interaction between processes occurs in </a:t>
            </a:r>
            <a:r>
              <a:rPr lang="en-IN" sz="2000" dirty="0" smtClean="0"/>
              <a:t>spurts</a:t>
            </a:r>
          </a:p>
          <a:p>
            <a:pPr algn="just">
              <a:buFont typeface="Wingdings" pitchFamily="2" charset="2"/>
              <a:buChar char="§"/>
            </a:pPr>
            <a:endParaRPr lang="en-IN" sz="800" dirty="0" smtClean="0"/>
          </a:p>
          <a:p>
            <a:pPr algn="just">
              <a:buFont typeface="Wingdings" pitchFamily="2" charset="2"/>
              <a:buChar char="§"/>
            </a:pPr>
            <a:r>
              <a:rPr lang="en-IN" sz="2000" dirty="0"/>
              <a:t>In a </a:t>
            </a:r>
            <a:r>
              <a:rPr lang="en-IN" sz="2000" u="sng" dirty="0"/>
              <a:t>system of logical clocks, every process has a </a:t>
            </a:r>
            <a:r>
              <a:rPr lang="en-IN" sz="2000" b="1" u="sng" dirty="0"/>
              <a:t>logical clock that is advanced using a set of rules. </a:t>
            </a:r>
            <a:endParaRPr lang="en-IN" sz="2000" b="1" u="sng" dirty="0" smtClean="0"/>
          </a:p>
          <a:p>
            <a:pPr algn="just">
              <a:buFont typeface="Wingdings" pitchFamily="2" charset="2"/>
              <a:buChar char="§"/>
            </a:pPr>
            <a:endParaRPr lang="en-IN" sz="800" dirty="0" smtClean="0"/>
          </a:p>
          <a:p>
            <a:pPr algn="just">
              <a:buFont typeface="Wingdings" pitchFamily="2" charset="2"/>
              <a:buChar char="§"/>
            </a:pPr>
            <a:r>
              <a:rPr lang="en-IN" sz="2000" dirty="0" smtClean="0"/>
              <a:t>Every </a:t>
            </a:r>
            <a:r>
              <a:rPr lang="en-IN" sz="2000" dirty="0"/>
              <a:t>event is assigned a </a:t>
            </a:r>
            <a:r>
              <a:rPr lang="en-IN" sz="2000" b="1" dirty="0">
                <a:solidFill>
                  <a:srgbClr val="FF0000"/>
                </a:solidFill>
              </a:rPr>
              <a:t>timestamp</a:t>
            </a:r>
            <a:r>
              <a:rPr lang="en-IN" sz="2000" dirty="0"/>
              <a:t> and the </a:t>
            </a:r>
            <a:r>
              <a:rPr lang="en-IN" sz="2000" u="sng" dirty="0"/>
              <a:t>causality relation between events can be generally inferred from their timestamps</a:t>
            </a:r>
            <a:r>
              <a:rPr lang="en-IN" sz="2000" dirty="0"/>
              <a:t>. </a:t>
            </a:r>
            <a:endParaRPr lang="en-IN" sz="2000" dirty="0" smtClean="0"/>
          </a:p>
          <a:p>
            <a:pPr algn="just">
              <a:buFont typeface="Wingdings" pitchFamily="2" charset="2"/>
              <a:buChar char="§"/>
            </a:pPr>
            <a:endParaRPr lang="en-IN" sz="2000" dirty="0" smtClean="0"/>
          </a:p>
          <a:p>
            <a:pPr algn="just">
              <a:buFont typeface="Wingdings" pitchFamily="2" charset="2"/>
              <a:buChar char="§"/>
            </a:pPr>
            <a:r>
              <a:rPr lang="en-IN" sz="2000" dirty="0" smtClean="0"/>
              <a:t>The </a:t>
            </a:r>
            <a:r>
              <a:rPr lang="en-IN" sz="2000" u="sng" dirty="0"/>
              <a:t>timestamps assigned to events obey the fundamental monotonicity property</a:t>
            </a:r>
            <a:r>
              <a:rPr lang="en-IN" sz="2000" dirty="0"/>
              <a:t>; </a:t>
            </a:r>
            <a:endParaRPr lang="en-IN" sz="2000" dirty="0" smtClean="0"/>
          </a:p>
          <a:p>
            <a:pPr algn="just">
              <a:buFont typeface="Wingdings" pitchFamily="2" charset="2"/>
              <a:buChar char="§"/>
            </a:pPr>
            <a:endParaRPr lang="en-IN" sz="2000" dirty="0" smtClean="0"/>
          </a:p>
          <a:p>
            <a:pPr algn="just">
              <a:buFont typeface="Wingdings" pitchFamily="2" charset="2"/>
              <a:buChar char="§"/>
            </a:pPr>
            <a:r>
              <a:rPr lang="en-IN" sz="2000" b="1" dirty="0" smtClean="0">
                <a:solidFill>
                  <a:srgbClr val="FF0000"/>
                </a:solidFill>
              </a:rPr>
              <a:t>that </a:t>
            </a:r>
            <a:r>
              <a:rPr lang="en-IN" sz="2000" b="1" dirty="0">
                <a:solidFill>
                  <a:srgbClr val="FF0000"/>
                </a:solidFill>
              </a:rPr>
              <a:t>is, if an event a causally affects an event b, then the timestamp of a is smaller than the timestamp of b.</a:t>
            </a:r>
          </a:p>
        </p:txBody>
      </p:sp>
    </p:spTree>
    <p:extLst>
      <p:ext uri="{BB962C8B-B14F-4D97-AF65-F5344CB8AC3E}">
        <p14:creationId xmlns="" xmlns:p14="http://schemas.microsoft.com/office/powerpoint/2010/main" val="1967329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A framework for a system of logical clocks</a:t>
            </a:r>
          </a:p>
        </p:txBody>
      </p:sp>
      <p:sp>
        <p:nvSpPr>
          <p:cNvPr id="3" name="Content Placeholder 2"/>
          <p:cNvSpPr>
            <a:spLocks noGrp="1"/>
          </p:cNvSpPr>
          <p:nvPr>
            <p:ph idx="1"/>
          </p:nvPr>
        </p:nvSpPr>
        <p:spPr>
          <a:xfrm>
            <a:off x="381000" y="1371600"/>
            <a:ext cx="8534400" cy="4648200"/>
          </a:xfrm>
        </p:spPr>
        <p:txBody>
          <a:bodyPr>
            <a:noAutofit/>
          </a:bodyPr>
          <a:lstStyle/>
          <a:p>
            <a:pPr marL="0" indent="0" algn="just">
              <a:buNone/>
            </a:pPr>
            <a:r>
              <a:rPr lang="en-IN" sz="2000" b="1" dirty="0" smtClean="0"/>
              <a:t>Definition :</a:t>
            </a:r>
          </a:p>
          <a:p>
            <a:pPr marL="0" indent="0" algn="just">
              <a:buNone/>
            </a:pPr>
            <a:r>
              <a:rPr lang="en-IN" sz="2000" dirty="0"/>
              <a:t>A system of logical clocks consists of </a:t>
            </a:r>
            <a:r>
              <a:rPr lang="en-IN" sz="2000" b="1" dirty="0">
                <a:solidFill>
                  <a:srgbClr val="FF0000"/>
                </a:solidFill>
              </a:rPr>
              <a:t>a time domain T</a:t>
            </a:r>
            <a:r>
              <a:rPr lang="en-IN" sz="2000" dirty="0"/>
              <a:t> and a </a:t>
            </a:r>
            <a:r>
              <a:rPr lang="en-IN" sz="2000" b="1" dirty="0">
                <a:solidFill>
                  <a:srgbClr val="FF0000"/>
                </a:solidFill>
              </a:rPr>
              <a:t>logical clock C </a:t>
            </a:r>
            <a:r>
              <a:rPr lang="en-IN" sz="2000" dirty="0" smtClean="0"/>
              <a:t>. </a:t>
            </a:r>
          </a:p>
          <a:p>
            <a:pPr marL="0" indent="0" algn="just">
              <a:buNone/>
            </a:pPr>
            <a:endParaRPr lang="en-IN" sz="2000" dirty="0" smtClean="0"/>
          </a:p>
          <a:p>
            <a:pPr marL="0" indent="0" algn="just">
              <a:buNone/>
            </a:pPr>
            <a:r>
              <a:rPr lang="en-IN" sz="2000" u="sng" dirty="0" smtClean="0"/>
              <a:t>Elements </a:t>
            </a:r>
            <a:r>
              <a:rPr lang="en-IN" sz="2000" u="sng" dirty="0"/>
              <a:t>of T form a partially </a:t>
            </a:r>
            <a:r>
              <a:rPr lang="en-IN" sz="2000" b="1" u="sng" dirty="0"/>
              <a:t>ordered set </a:t>
            </a:r>
            <a:r>
              <a:rPr lang="en-IN" sz="2000" u="sng" dirty="0"/>
              <a:t>over </a:t>
            </a:r>
            <a:r>
              <a:rPr lang="en-IN" sz="2000" b="1" dirty="0"/>
              <a:t>a relation </a:t>
            </a:r>
            <a:r>
              <a:rPr lang="en-IN" sz="2000" b="1" dirty="0" smtClean="0"/>
              <a:t> </a:t>
            </a:r>
            <a:r>
              <a:rPr lang="en-IN" sz="2000" b="1" dirty="0" smtClean="0">
                <a:solidFill>
                  <a:srgbClr val="FF0000"/>
                </a:solidFill>
              </a:rPr>
              <a:t>&lt;</a:t>
            </a:r>
          </a:p>
          <a:p>
            <a:pPr marL="0" indent="0" algn="just">
              <a:buNone/>
            </a:pPr>
            <a:endParaRPr lang="en-IN" sz="2000" dirty="0" smtClean="0"/>
          </a:p>
          <a:p>
            <a:pPr marL="0" indent="0" algn="just">
              <a:buNone/>
            </a:pPr>
            <a:r>
              <a:rPr lang="en-IN" sz="2000" dirty="0"/>
              <a:t>This </a:t>
            </a:r>
            <a:r>
              <a:rPr lang="en-IN" sz="2000" dirty="0" smtClean="0"/>
              <a:t>relation &lt; </a:t>
            </a:r>
            <a:r>
              <a:rPr lang="en-IN" sz="2000" dirty="0"/>
              <a:t>is usually called </a:t>
            </a:r>
            <a:r>
              <a:rPr lang="en-IN" sz="2000" u="sng" dirty="0"/>
              <a:t>the happened before or causal precedence</a:t>
            </a:r>
            <a:r>
              <a:rPr lang="en-IN" sz="2000" u="sng" dirty="0" smtClean="0"/>
              <a:t>.</a:t>
            </a:r>
          </a:p>
          <a:p>
            <a:pPr marL="0" indent="0" algn="just">
              <a:buNone/>
            </a:pPr>
            <a:endParaRPr lang="en-IN" sz="2000" dirty="0"/>
          </a:p>
          <a:p>
            <a:pPr marL="0" indent="0" algn="just">
              <a:buNone/>
            </a:pPr>
            <a:r>
              <a:rPr lang="en-IN" sz="2000" dirty="0" smtClean="0"/>
              <a:t> </a:t>
            </a:r>
            <a:r>
              <a:rPr lang="en-IN" sz="2000" dirty="0"/>
              <a:t>Intuitively, this relation is analogous to the earlier than relation provided by the physical time. </a:t>
            </a:r>
            <a:endParaRPr lang="en-IN" sz="2000" dirty="0" smtClean="0"/>
          </a:p>
          <a:p>
            <a:pPr marL="0" indent="0" algn="just">
              <a:buNone/>
            </a:pPr>
            <a:endParaRPr lang="en-IN" sz="2000" dirty="0"/>
          </a:p>
          <a:p>
            <a:pPr marL="0" indent="0" algn="just">
              <a:buNone/>
            </a:pPr>
            <a:r>
              <a:rPr lang="en-IN" sz="2000" dirty="0" smtClean="0"/>
              <a:t>The </a:t>
            </a:r>
            <a:r>
              <a:rPr lang="en-IN" sz="2000" b="1" dirty="0">
                <a:solidFill>
                  <a:srgbClr val="FF0000"/>
                </a:solidFill>
              </a:rPr>
              <a:t>logical clock C </a:t>
            </a:r>
            <a:r>
              <a:rPr lang="en-IN" sz="2000" dirty="0"/>
              <a:t>is a function that </a:t>
            </a:r>
            <a:r>
              <a:rPr lang="en-IN" sz="2000" b="1" dirty="0">
                <a:solidFill>
                  <a:srgbClr val="FF0000"/>
                </a:solidFill>
              </a:rPr>
              <a:t>maps an event e </a:t>
            </a:r>
            <a:r>
              <a:rPr lang="en-IN" sz="2000" dirty="0"/>
              <a:t>in a distributed system to an element in the time domain T, denoted as </a:t>
            </a:r>
            <a:r>
              <a:rPr lang="en-IN" sz="2000" b="1" dirty="0"/>
              <a:t>C(e) </a:t>
            </a:r>
            <a:r>
              <a:rPr lang="en-IN" sz="2000" dirty="0"/>
              <a:t>and called the </a:t>
            </a:r>
            <a:r>
              <a:rPr lang="en-IN" sz="2000" b="1" dirty="0"/>
              <a:t>timestamp of e</a:t>
            </a:r>
            <a:r>
              <a:rPr lang="en-IN" sz="2000" dirty="0"/>
              <a:t>, and is defined as follows:</a:t>
            </a:r>
            <a:endParaRPr lang="en-IN" sz="2000" b="1" dirty="0"/>
          </a:p>
        </p:txBody>
      </p:sp>
    </p:spTree>
    <p:extLst>
      <p:ext uri="{BB962C8B-B14F-4D97-AF65-F5344CB8AC3E}">
        <p14:creationId xmlns="" xmlns:p14="http://schemas.microsoft.com/office/powerpoint/2010/main" val="179355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A framework for a system of logical clocks</a:t>
            </a:r>
          </a:p>
        </p:txBody>
      </p:sp>
      <p:pic>
        <p:nvPicPr>
          <p:cNvPr id="1026"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6569" y="1219200"/>
            <a:ext cx="8911231" cy="4419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04728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Implementing logical clocks</a:t>
            </a:r>
          </a:p>
        </p:txBody>
      </p:sp>
      <p:sp>
        <p:nvSpPr>
          <p:cNvPr id="3" name="Content Placeholder 2"/>
          <p:cNvSpPr>
            <a:spLocks noGrp="1"/>
          </p:cNvSpPr>
          <p:nvPr>
            <p:ph idx="1"/>
          </p:nvPr>
        </p:nvSpPr>
        <p:spPr>
          <a:xfrm>
            <a:off x="381000" y="1066800"/>
            <a:ext cx="8534400" cy="4648200"/>
          </a:xfrm>
        </p:spPr>
        <p:txBody>
          <a:bodyPr>
            <a:noAutofit/>
          </a:bodyPr>
          <a:lstStyle/>
          <a:p>
            <a:pPr marL="0" indent="0" algn="just">
              <a:buNone/>
            </a:pPr>
            <a:r>
              <a:rPr lang="en-IN" sz="2000" dirty="0"/>
              <a:t>Implementation of logical clocks requires addressing two issues </a:t>
            </a:r>
            <a:endParaRPr lang="en-IN" sz="2000" dirty="0" smtClean="0"/>
          </a:p>
          <a:p>
            <a:pPr marL="0" indent="0" algn="just">
              <a:buNone/>
            </a:pPr>
            <a:endParaRPr lang="en-IN" sz="800" dirty="0"/>
          </a:p>
          <a:p>
            <a:pPr marL="457200" indent="-457200" algn="just">
              <a:buAutoNum type="arabicPeriod"/>
            </a:pPr>
            <a:r>
              <a:rPr lang="en-IN" sz="2000" dirty="0" smtClean="0"/>
              <a:t>Data </a:t>
            </a:r>
            <a:r>
              <a:rPr lang="en-IN" sz="2000" dirty="0"/>
              <a:t>structures local to every process to represent logical time </a:t>
            </a:r>
            <a:endParaRPr lang="en-IN" sz="2000" dirty="0" smtClean="0"/>
          </a:p>
          <a:p>
            <a:pPr marL="457200" indent="-457200" algn="just">
              <a:buAutoNum type="arabicPeriod"/>
            </a:pPr>
            <a:r>
              <a:rPr lang="en-IN" sz="2000" dirty="0" smtClean="0"/>
              <a:t>Protocol </a:t>
            </a:r>
            <a:r>
              <a:rPr lang="en-IN" sz="2000" dirty="0"/>
              <a:t>(set of rules) to update the data structures to ensure the consistency condition</a:t>
            </a:r>
            <a:r>
              <a:rPr lang="en-IN" sz="2000" dirty="0" smtClean="0"/>
              <a:t>.</a:t>
            </a:r>
          </a:p>
          <a:p>
            <a:pPr marL="0" indent="0" algn="just">
              <a:buNone/>
            </a:pPr>
            <a:endParaRPr lang="en-IN" sz="2000" b="1" dirty="0"/>
          </a:p>
          <a:p>
            <a:pPr marL="0" indent="0" algn="just">
              <a:buNone/>
            </a:pPr>
            <a:endParaRPr lang="en-IN" sz="2000" b="1" dirty="0"/>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57200" y="2895600"/>
            <a:ext cx="8305800" cy="3962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427477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sp>
        <p:nvSpPr>
          <p:cNvPr id="3" name="Content Placeholder 2"/>
          <p:cNvSpPr>
            <a:spLocks noGrp="1"/>
          </p:cNvSpPr>
          <p:nvPr>
            <p:ph idx="1"/>
          </p:nvPr>
        </p:nvSpPr>
        <p:spPr>
          <a:xfrm>
            <a:off x="381000" y="762000"/>
            <a:ext cx="8534400" cy="4953000"/>
          </a:xfrm>
        </p:spPr>
        <p:txBody>
          <a:bodyPr>
            <a:noAutofit/>
          </a:bodyPr>
          <a:lstStyle/>
          <a:p>
            <a:pPr marL="0" indent="0" algn="just">
              <a:buNone/>
            </a:pPr>
            <a:endParaRPr lang="en-IN" sz="2000" dirty="0" smtClean="0"/>
          </a:p>
          <a:p>
            <a:pPr marL="0" indent="0" algn="just">
              <a:buNone/>
            </a:pPr>
            <a:r>
              <a:rPr lang="en-IN" sz="2000" dirty="0" smtClean="0"/>
              <a:t>The </a:t>
            </a:r>
            <a:r>
              <a:rPr lang="en-IN" sz="2000" dirty="0"/>
              <a:t>scalar time representation was proposed by </a:t>
            </a:r>
            <a:r>
              <a:rPr lang="en-IN" sz="2000" dirty="0" err="1"/>
              <a:t>Lamport</a:t>
            </a:r>
            <a:r>
              <a:rPr lang="en-IN" sz="2000" dirty="0"/>
              <a:t> in 1978 </a:t>
            </a:r>
            <a:r>
              <a:rPr lang="en-IN" sz="2000" dirty="0" smtClean="0"/>
              <a:t>as </a:t>
            </a:r>
            <a:r>
              <a:rPr lang="en-IN" sz="2000" dirty="0"/>
              <a:t>an attempt </a:t>
            </a:r>
            <a:r>
              <a:rPr lang="en-IN" sz="2000" b="1" dirty="0"/>
              <a:t>to totally order events in a distributed </a:t>
            </a:r>
            <a:r>
              <a:rPr lang="en-IN" sz="2000" b="1" dirty="0" smtClean="0"/>
              <a:t>system</a:t>
            </a:r>
          </a:p>
          <a:p>
            <a:pPr marL="0" indent="0" algn="just">
              <a:buNone/>
            </a:pPr>
            <a:endParaRPr lang="en-IN" sz="2000" b="1" dirty="0"/>
          </a:p>
          <a:p>
            <a:pPr marL="0" indent="0" algn="just">
              <a:buNone/>
            </a:pPr>
            <a:r>
              <a:rPr lang="en-IN" sz="2000" b="1" dirty="0"/>
              <a:t>Time domain </a:t>
            </a:r>
            <a:r>
              <a:rPr lang="en-IN" sz="2000" dirty="0"/>
              <a:t>in this representation is the </a:t>
            </a:r>
            <a:r>
              <a:rPr lang="en-IN" sz="2000" u="sng" dirty="0"/>
              <a:t>set of non-negative integers</a:t>
            </a:r>
            <a:r>
              <a:rPr lang="en-IN" sz="2000" dirty="0"/>
              <a:t>. </a:t>
            </a:r>
            <a:endParaRPr lang="en-IN" sz="2000" dirty="0" smtClean="0"/>
          </a:p>
          <a:p>
            <a:pPr marL="0" indent="0" algn="just">
              <a:buNone/>
            </a:pPr>
            <a:endParaRPr lang="en-IN" sz="2000" dirty="0"/>
          </a:p>
          <a:p>
            <a:pPr marL="0" indent="0" algn="just">
              <a:buNone/>
            </a:pPr>
            <a:r>
              <a:rPr lang="en-IN" sz="2000" dirty="0" smtClean="0"/>
              <a:t>The </a:t>
            </a:r>
            <a:r>
              <a:rPr lang="en-IN" sz="2000" u="sng" dirty="0"/>
              <a:t>logical local clock of a process </a:t>
            </a:r>
            <a:r>
              <a:rPr lang="en-IN" sz="2000" b="1" u="sng" dirty="0"/>
              <a:t>p</a:t>
            </a:r>
            <a:r>
              <a:rPr lang="en-IN" sz="2000" b="1" u="sng" baseline="-25000" dirty="0"/>
              <a:t>i</a:t>
            </a:r>
            <a:r>
              <a:rPr lang="en-IN" sz="2000" u="sng" dirty="0"/>
              <a:t> and its local view of the global time are squashed into one integer variable </a:t>
            </a:r>
            <a:r>
              <a:rPr lang="en-IN" sz="2400" b="1" u="sng" dirty="0" err="1"/>
              <a:t>C</a:t>
            </a:r>
            <a:r>
              <a:rPr lang="en-IN" sz="2400" b="1" u="sng" baseline="-25000" dirty="0" err="1"/>
              <a:t>i</a:t>
            </a:r>
            <a:r>
              <a:rPr lang="en-IN" sz="2400" b="1" u="sng" dirty="0" smtClean="0"/>
              <a:t>.</a:t>
            </a:r>
          </a:p>
          <a:p>
            <a:pPr marL="0" indent="0" algn="just">
              <a:buNone/>
            </a:pPr>
            <a:endParaRPr lang="en-IN" sz="2400" b="1" dirty="0"/>
          </a:p>
          <a:p>
            <a:pPr marL="0" indent="0" algn="just">
              <a:buNone/>
            </a:pPr>
            <a:r>
              <a:rPr lang="en-IN" sz="2400" dirty="0"/>
              <a:t>Rules R1 and R2 to update the clocks are as follows</a:t>
            </a:r>
            <a:r>
              <a:rPr lang="en-IN" sz="2400" dirty="0" smtClean="0"/>
              <a:t>:</a:t>
            </a:r>
          </a:p>
          <a:p>
            <a:pPr marL="0" indent="0" algn="just">
              <a:buNone/>
            </a:pPr>
            <a:endParaRPr lang="en-IN" sz="2400" b="1" dirty="0"/>
          </a:p>
          <a:p>
            <a:pPr marL="0" indent="0" algn="just">
              <a:buNone/>
            </a:pPr>
            <a:endParaRPr lang="en-IN" sz="2400" b="1" dirty="0"/>
          </a:p>
        </p:txBody>
      </p:sp>
    </p:spTree>
    <p:extLst>
      <p:ext uri="{BB962C8B-B14F-4D97-AF65-F5344CB8AC3E}">
        <p14:creationId xmlns="" xmlns:p14="http://schemas.microsoft.com/office/powerpoint/2010/main" val="18127308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pic>
        <p:nvPicPr>
          <p:cNvPr id="3074"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1066800"/>
            <a:ext cx="8305800" cy="5486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0374746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8" name="Picture 4" descr="C:\Users\Jithin S\Downloads\Screenshot_20251214-131516_YouTube.jpg"/>
          <p:cNvPicPr>
            <a:picLocks noGrp="1" noChangeAspect="1" noChangeArrowheads="1"/>
          </p:cNvPicPr>
          <p:nvPr>
            <p:ph idx="1"/>
          </p:nvPr>
        </p:nvPicPr>
        <p:blipFill>
          <a:blip r:embed="rId2" cstate="print"/>
          <a:srcRect/>
          <a:stretch>
            <a:fillRect/>
          </a:stretch>
        </p:blipFill>
        <p:spPr bwMode="auto">
          <a:xfrm>
            <a:off x="457200" y="1777411"/>
            <a:ext cx="8229600" cy="417154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sp>
        <p:nvSpPr>
          <p:cNvPr id="3" name="Content Placeholder 2"/>
          <p:cNvSpPr>
            <a:spLocks noGrp="1"/>
          </p:cNvSpPr>
          <p:nvPr>
            <p:ph idx="1"/>
          </p:nvPr>
        </p:nvSpPr>
        <p:spPr>
          <a:xfrm>
            <a:off x="381000" y="762000"/>
            <a:ext cx="8534400" cy="4953000"/>
          </a:xfrm>
        </p:spPr>
        <p:txBody>
          <a:bodyPr>
            <a:noAutofit/>
          </a:bodyPr>
          <a:lstStyle/>
          <a:p>
            <a:pPr marL="0" indent="0" algn="just">
              <a:buNone/>
            </a:pPr>
            <a:endParaRPr lang="en-IN" sz="2000" b="1" dirty="0" smtClean="0"/>
          </a:p>
          <a:p>
            <a:pPr marL="0" indent="0" algn="just">
              <a:buNone/>
            </a:pPr>
            <a:r>
              <a:rPr lang="en-IN" sz="2000" b="1" dirty="0" smtClean="0"/>
              <a:t>Basic properties</a:t>
            </a:r>
          </a:p>
          <a:p>
            <a:pPr marL="457200" indent="-457200" algn="just">
              <a:buAutoNum type="arabicPeriod"/>
            </a:pPr>
            <a:r>
              <a:rPr lang="en-IN" sz="2000" b="1" dirty="0" smtClean="0"/>
              <a:t>Consistency property</a:t>
            </a:r>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r>
              <a:rPr lang="en-IN" sz="2000" b="1" dirty="0" smtClean="0"/>
              <a:t>2. </a:t>
            </a:r>
            <a:r>
              <a:rPr lang="en-IN" sz="2000" b="1" dirty="0"/>
              <a:t>Total </a:t>
            </a:r>
            <a:r>
              <a:rPr lang="en-IN" sz="2000" b="1" dirty="0" smtClean="0"/>
              <a:t>Ordering</a:t>
            </a:r>
          </a:p>
          <a:p>
            <a:pPr algn="just">
              <a:buFont typeface="Wingdings" pitchFamily="2" charset="2"/>
              <a:buChar char="§"/>
            </a:pPr>
            <a:r>
              <a:rPr lang="en-IN" sz="2000" dirty="0"/>
              <a:t>Scalar clocks can be used to totally order events in a distributed </a:t>
            </a:r>
            <a:r>
              <a:rPr lang="en-IN" sz="2000" dirty="0" smtClean="0"/>
              <a:t>system</a:t>
            </a:r>
          </a:p>
          <a:p>
            <a:pPr algn="just">
              <a:buFont typeface="Wingdings" pitchFamily="2" charset="2"/>
              <a:buChar char="§"/>
            </a:pPr>
            <a:endParaRPr lang="en-IN" sz="2000" b="1" dirty="0"/>
          </a:p>
          <a:p>
            <a:pPr algn="just">
              <a:buFont typeface="Wingdings" pitchFamily="2" charset="2"/>
              <a:buChar char="§"/>
            </a:pPr>
            <a:r>
              <a:rPr lang="en-IN" sz="2000" dirty="0"/>
              <a:t>The main problem in totally ordering events is that two or more events at different processes may have an </a:t>
            </a:r>
            <a:r>
              <a:rPr lang="en-IN" sz="2000" b="1" dirty="0">
                <a:solidFill>
                  <a:srgbClr val="FF0000"/>
                </a:solidFill>
              </a:rPr>
              <a:t>identical timestamp</a:t>
            </a:r>
            <a:r>
              <a:rPr lang="en-IN" sz="2000" dirty="0" smtClean="0"/>
              <a:t>.</a:t>
            </a:r>
          </a:p>
          <a:p>
            <a:pPr marL="0" indent="0" algn="just">
              <a:buNone/>
            </a:pPr>
            <a:endParaRPr lang="en-IN" sz="2000" b="1" dirty="0"/>
          </a:p>
        </p:txBody>
      </p:sp>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97325" y="1981200"/>
            <a:ext cx="8041875" cy="121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244527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sp>
        <p:nvSpPr>
          <p:cNvPr id="3" name="Content Placeholder 2"/>
          <p:cNvSpPr>
            <a:spLocks noGrp="1"/>
          </p:cNvSpPr>
          <p:nvPr>
            <p:ph idx="1"/>
          </p:nvPr>
        </p:nvSpPr>
        <p:spPr>
          <a:xfrm>
            <a:off x="381000" y="1143000"/>
            <a:ext cx="8534400" cy="5029200"/>
          </a:xfrm>
        </p:spPr>
        <p:txBody>
          <a:bodyPr>
            <a:noAutofit/>
          </a:bodyPr>
          <a:lstStyle/>
          <a:p>
            <a:pPr algn="just">
              <a:buFont typeface="Wingdings" pitchFamily="2" charset="2"/>
              <a:buChar char="§"/>
            </a:pPr>
            <a:r>
              <a:rPr lang="en-IN" sz="2000" dirty="0" smtClean="0"/>
              <a:t>for </a:t>
            </a:r>
            <a:r>
              <a:rPr lang="en-IN" sz="2000" dirty="0"/>
              <a:t>two </a:t>
            </a:r>
            <a:r>
              <a:rPr lang="en-IN" sz="2000" dirty="0" smtClean="0"/>
              <a:t>events</a:t>
            </a:r>
          </a:p>
          <a:p>
            <a:pPr algn="just">
              <a:buFont typeface="Wingdings" pitchFamily="2" charset="2"/>
              <a:buChar char="§"/>
            </a:pPr>
            <a:endParaRPr lang="en-IN" sz="2000" dirty="0"/>
          </a:p>
          <a:p>
            <a:pPr algn="just">
              <a:buFont typeface="Wingdings" pitchFamily="2" charset="2"/>
              <a:buChar char="§"/>
            </a:pPr>
            <a:endParaRPr lang="en-IN" sz="2000" dirty="0" smtClean="0"/>
          </a:p>
          <a:p>
            <a:pPr algn="just">
              <a:buFont typeface="Wingdings" pitchFamily="2" charset="2"/>
              <a:buChar char="§"/>
            </a:pPr>
            <a:r>
              <a:rPr lang="en-IN" sz="2000" dirty="0"/>
              <a:t>a </a:t>
            </a:r>
            <a:r>
              <a:rPr lang="en-IN" sz="2000" b="1" dirty="0">
                <a:solidFill>
                  <a:srgbClr val="FF0000"/>
                </a:solidFill>
              </a:rPr>
              <a:t>tie-breaking</a:t>
            </a:r>
            <a:r>
              <a:rPr lang="en-IN" sz="2000" dirty="0"/>
              <a:t> mechanism is needed to order such </a:t>
            </a:r>
            <a:r>
              <a:rPr lang="en-IN" sz="2000" dirty="0" smtClean="0"/>
              <a:t>events</a:t>
            </a:r>
          </a:p>
          <a:p>
            <a:pPr algn="just">
              <a:buFont typeface="Wingdings" pitchFamily="2" charset="2"/>
              <a:buChar char="§"/>
            </a:pPr>
            <a:endParaRPr lang="en-IN" sz="2000" dirty="0" smtClean="0"/>
          </a:p>
          <a:p>
            <a:pPr algn="just">
              <a:buNone/>
            </a:pPr>
            <a:r>
              <a:rPr lang="en-IN" sz="2000" b="1" u="sng" dirty="0" smtClean="0"/>
              <a:t>A </a:t>
            </a:r>
            <a:r>
              <a:rPr lang="en-IN" sz="2000" b="1" u="sng" dirty="0"/>
              <a:t>tie is broken as </a:t>
            </a:r>
            <a:r>
              <a:rPr lang="en-IN" sz="2000" b="1" u="sng" dirty="0" smtClean="0"/>
              <a:t>follows: </a:t>
            </a:r>
          </a:p>
          <a:p>
            <a:pPr algn="just">
              <a:buFont typeface="Wingdings" pitchFamily="2" charset="2"/>
              <a:buChar char="§"/>
            </a:pPr>
            <a:endParaRPr lang="en-IN" sz="2000" dirty="0" smtClean="0"/>
          </a:p>
          <a:p>
            <a:pPr algn="just">
              <a:buFont typeface="Wingdings" pitchFamily="2" charset="2"/>
              <a:buChar char="§"/>
            </a:pPr>
            <a:r>
              <a:rPr lang="en-IN" sz="2000" dirty="0"/>
              <a:t>process identifiers are linearly ordered and a tie among events with identical scalar timestamp is broken on the basis of their process </a:t>
            </a:r>
            <a:r>
              <a:rPr lang="en-IN" sz="2000" dirty="0" smtClean="0"/>
              <a:t>identifiers.</a:t>
            </a:r>
          </a:p>
          <a:p>
            <a:pPr algn="just">
              <a:buFont typeface="Wingdings" pitchFamily="2" charset="2"/>
              <a:buChar char="§"/>
            </a:pPr>
            <a:endParaRPr lang="en-IN" sz="2000" dirty="0"/>
          </a:p>
          <a:p>
            <a:pPr algn="just">
              <a:buFont typeface="Wingdings" pitchFamily="2" charset="2"/>
              <a:buChar char="§"/>
            </a:pPr>
            <a:r>
              <a:rPr lang="en-IN" sz="2000" u="sng" dirty="0"/>
              <a:t>The lower the process identifier in the ranking, the </a:t>
            </a:r>
            <a:r>
              <a:rPr lang="en-IN" sz="2000" b="1" u="sng" dirty="0"/>
              <a:t>higher the priority</a:t>
            </a:r>
            <a:r>
              <a:rPr lang="en-IN" sz="2000" u="sng" dirty="0"/>
              <a:t>. </a:t>
            </a:r>
            <a:endParaRPr lang="en-IN" sz="2000" u="sng" dirty="0" smtClean="0"/>
          </a:p>
          <a:p>
            <a:pPr algn="just">
              <a:buFont typeface="Wingdings" pitchFamily="2" charset="2"/>
              <a:buChar char="§"/>
            </a:pPr>
            <a:endParaRPr lang="en-IN" sz="2000" dirty="0" smtClean="0"/>
          </a:p>
          <a:p>
            <a:pPr algn="just">
              <a:buFont typeface="Wingdings" pitchFamily="2" charset="2"/>
              <a:buChar char="§"/>
            </a:pPr>
            <a:r>
              <a:rPr lang="en-IN" sz="2000" dirty="0" smtClean="0"/>
              <a:t>The </a:t>
            </a:r>
            <a:r>
              <a:rPr lang="en-IN" sz="2000" b="1" dirty="0"/>
              <a:t>timestamp</a:t>
            </a:r>
            <a:r>
              <a:rPr lang="en-IN" sz="2000" dirty="0"/>
              <a:t> of an event is denoted by a </a:t>
            </a:r>
            <a:r>
              <a:rPr lang="en-IN" sz="2000" b="1" dirty="0">
                <a:solidFill>
                  <a:srgbClr val="FF0000"/>
                </a:solidFill>
              </a:rPr>
              <a:t>tuple (t, i) </a:t>
            </a:r>
            <a:r>
              <a:rPr lang="en-IN" sz="2000" dirty="0"/>
              <a:t>where t is its time of occurrence and i is the identity of the process where it occurred.</a:t>
            </a:r>
            <a:endParaRPr lang="en-IN" sz="2000" dirty="0" smtClean="0"/>
          </a:p>
          <a:p>
            <a:pPr algn="just">
              <a:buFont typeface="Wingdings" pitchFamily="2" charset="2"/>
              <a:buChar char="§"/>
            </a:pPr>
            <a:endParaRPr lang="en-IN" sz="2000" dirty="0"/>
          </a:p>
          <a:p>
            <a:pPr algn="just">
              <a:buFont typeface="Wingdings" pitchFamily="2" charset="2"/>
              <a:buChar char="§"/>
            </a:pPr>
            <a:endParaRPr lang="en-IN" sz="2000" dirty="0" smtClean="0"/>
          </a:p>
          <a:p>
            <a:pPr algn="just">
              <a:buFont typeface="Wingdings" pitchFamily="2" charset="2"/>
              <a:buChar char="§"/>
            </a:pPr>
            <a:endParaRPr lang="en-IN" sz="2000" dirty="0"/>
          </a:p>
          <a:p>
            <a:pPr algn="just">
              <a:buFont typeface="Wingdings" pitchFamily="2" charset="2"/>
              <a:buChar char="§"/>
            </a:pPr>
            <a:endParaRPr lang="en-IN" sz="2000" dirty="0" smtClean="0"/>
          </a:p>
          <a:p>
            <a:pPr algn="just">
              <a:buFont typeface="Wingdings" pitchFamily="2" charset="2"/>
              <a:buChar char="§"/>
            </a:pPr>
            <a:endParaRPr lang="en-IN" sz="2000" b="1" dirty="0"/>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47800" y="1600200"/>
            <a:ext cx="46482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6360259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sp>
        <p:nvSpPr>
          <p:cNvPr id="3" name="Content Placeholder 2"/>
          <p:cNvSpPr>
            <a:spLocks noGrp="1"/>
          </p:cNvSpPr>
          <p:nvPr>
            <p:ph idx="1"/>
          </p:nvPr>
        </p:nvSpPr>
        <p:spPr>
          <a:xfrm>
            <a:off x="381000" y="1143000"/>
            <a:ext cx="8534400" cy="5029200"/>
          </a:xfrm>
        </p:spPr>
        <p:txBody>
          <a:bodyPr>
            <a:noAutofit/>
          </a:bodyPr>
          <a:lstStyle/>
          <a:p>
            <a:pPr algn="just">
              <a:buFont typeface="Wingdings" pitchFamily="2" charset="2"/>
              <a:buChar char="§"/>
            </a:pPr>
            <a:r>
              <a:rPr lang="en-IN" sz="2000" dirty="0" smtClean="0">
                <a:latin typeface="Times New Roman" pitchFamily="18" charset="0"/>
                <a:cs typeface="Times New Roman" pitchFamily="18" charset="0"/>
              </a:rPr>
              <a:t>The total </a:t>
            </a:r>
            <a:r>
              <a:rPr lang="en-IN" sz="2000" b="1" dirty="0" smtClean="0">
                <a:latin typeface="Times New Roman" pitchFamily="18" charset="0"/>
                <a:cs typeface="Times New Roman" pitchFamily="18" charset="0"/>
              </a:rPr>
              <a:t>order relation </a:t>
            </a:r>
            <a:r>
              <a:rPr lang="en-IN" sz="2800" b="1" dirty="0" smtClean="0">
                <a:solidFill>
                  <a:srgbClr val="FF0000"/>
                </a:solidFill>
                <a:latin typeface="Times New Roman" pitchFamily="18" charset="0"/>
                <a:cs typeface="Times New Roman" pitchFamily="18" charset="0"/>
              </a:rPr>
              <a:t>&lt;</a:t>
            </a:r>
            <a:r>
              <a:rPr lang="en-IN" sz="2000" dirty="0" smtClean="0">
                <a:latin typeface="Times New Roman" pitchFamily="18" charset="0"/>
                <a:cs typeface="Times New Roman" pitchFamily="18" charset="0"/>
              </a:rPr>
              <a:t> on 2 events X and Y with time stamps (</a:t>
            </a:r>
            <a:r>
              <a:rPr lang="en-IN" sz="2000" dirty="0" err="1" smtClean="0">
                <a:latin typeface="Times New Roman" pitchFamily="18" charset="0"/>
                <a:cs typeface="Times New Roman" pitchFamily="18" charset="0"/>
              </a:rPr>
              <a:t>h,i</a:t>
            </a:r>
            <a:r>
              <a:rPr lang="en-IN" sz="2000" dirty="0" smtClean="0">
                <a:latin typeface="Times New Roman" pitchFamily="18" charset="0"/>
                <a:cs typeface="Times New Roman" pitchFamily="18" charset="0"/>
              </a:rPr>
              <a:t>) and (</a:t>
            </a:r>
            <a:r>
              <a:rPr lang="en-IN" sz="2000" dirty="0" err="1" smtClean="0">
                <a:latin typeface="Times New Roman" pitchFamily="18" charset="0"/>
                <a:cs typeface="Times New Roman" pitchFamily="18" charset="0"/>
              </a:rPr>
              <a:t>k,J</a:t>
            </a:r>
            <a:r>
              <a:rPr lang="en-IN" sz="2000" dirty="0" smtClean="0">
                <a:latin typeface="Times New Roman" pitchFamily="18" charset="0"/>
                <a:cs typeface="Times New Roman" pitchFamily="18" charset="0"/>
              </a:rPr>
              <a:t>) is defined as:</a:t>
            </a:r>
          </a:p>
          <a:p>
            <a:pPr algn="just">
              <a:buNone/>
            </a:pPr>
            <a:r>
              <a:rPr lang="en-IN" sz="2000" dirty="0" smtClean="0">
                <a:solidFill>
                  <a:srgbClr val="FF0000"/>
                </a:solidFill>
                <a:latin typeface="Times New Roman" pitchFamily="18" charset="0"/>
                <a:cs typeface="Times New Roman" pitchFamily="18" charset="0"/>
              </a:rPr>
              <a:t>	 		</a:t>
            </a:r>
            <a:r>
              <a:rPr lang="en-IN" sz="2800" b="1" dirty="0" smtClean="0">
                <a:solidFill>
                  <a:srgbClr val="FF0000"/>
                </a:solidFill>
                <a:latin typeface="Times New Roman" pitchFamily="18" charset="0"/>
                <a:cs typeface="Times New Roman" pitchFamily="18" charset="0"/>
              </a:rPr>
              <a:t>x &lt; y </a:t>
            </a:r>
            <a:r>
              <a:rPr lang="en-IN" sz="2800" b="1" dirty="0" smtClean="0">
                <a:solidFill>
                  <a:srgbClr val="FF0000"/>
                </a:solidFill>
                <a:latin typeface="Times New Roman" pitchFamily="18" charset="0"/>
                <a:cs typeface="Times New Roman" pitchFamily="18" charset="0"/>
                <a:sym typeface="Wingdings" pitchFamily="2" charset="2"/>
              </a:rPr>
              <a:t> (h &lt; k or (h = k and </a:t>
            </a:r>
            <a:r>
              <a:rPr lang="en-IN" sz="2800" b="1" dirty="0" err="1" smtClean="0">
                <a:solidFill>
                  <a:srgbClr val="FF0000"/>
                </a:solidFill>
                <a:latin typeface="Times New Roman" pitchFamily="18" charset="0"/>
                <a:cs typeface="Times New Roman" pitchFamily="18" charset="0"/>
                <a:sym typeface="Wingdings" pitchFamily="2" charset="2"/>
              </a:rPr>
              <a:t>i</a:t>
            </a:r>
            <a:r>
              <a:rPr lang="en-IN" sz="2800" b="1" dirty="0" smtClean="0">
                <a:solidFill>
                  <a:srgbClr val="FF0000"/>
                </a:solidFill>
                <a:latin typeface="Times New Roman" pitchFamily="18" charset="0"/>
                <a:cs typeface="Times New Roman" pitchFamily="18" charset="0"/>
                <a:sym typeface="Wingdings" pitchFamily="2" charset="2"/>
              </a:rPr>
              <a:t>&lt;j)</a:t>
            </a:r>
          </a:p>
          <a:p>
            <a:pPr algn="just">
              <a:buFont typeface="Wingdings" pitchFamily="2" charset="2"/>
              <a:buChar char="§"/>
            </a:pPr>
            <a:endParaRPr lang="en-IN" b="1" dirty="0" smtClean="0">
              <a:solidFill>
                <a:srgbClr val="FF0000"/>
              </a:solidFill>
              <a:latin typeface="Times New Roman" pitchFamily="18" charset="0"/>
              <a:cs typeface="Times New Roman" pitchFamily="18" charset="0"/>
              <a:sym typeface="Wingdings" pitchFamily="2" charset="2"/>
            </a:endParaRPr>
          </a:p>
          <a:p>
            <a:pPr algn="just">
              <a:buFont typeface="Wingdings" pitchFamily="2" charset="2"/>
              <a:buChar char="§"/>
            </a:pPr>
            <a:endParaRPr lang="en-IN" b="1" dirty="0" smtClean="0">
              <a:solidFill>
                <a:srgbClr val="FF0000"/>
              </a:solidFill>
              <a:latin typeface="Times New Roman" pitchFamily="18" charset="0"/>
              <a:cs typeface="Times New Roman" pitchFamily="18" charset="0"/>
              <a:sym typeface="Wingdings" pitchFamily="2" charset="2"/>
            </a:endParaRPr>
          </a:p>
          <a:p>
            <a:pPr algn="just">
              <a:buFont typeface="Wingdings" pitchFamily="2" charset="2"/>
              <a:buChar char="§"/>
            </a:pPr>
            <a:endParaRPr lang="en-IN" b="1" dirty="0" smtClean="0">
              <a:solidFill>
                <a:srgbClr val="FF0000"/>
              </a:solidFill>
              <a:latin typeface="Times New Roman" pitchFamily="18" charset="0"/>
              <a:cs typeface="Times New Roman" pitchFamily="18" charset="0"/>
              <a:sym typeface="Wingdings" pitchFamily="2" charset="2"/>
            </a:endParaRPr>
          </a:p>
          <a:p>
            <a:pPr algn="just">
              <a:buFont typeface="Wingdings" pitchFamily="2" charset="2"/>
              <a:buChar char="§"/>
            </a:pPr>
            <a:r>
              <a:rPr lang="en-IN" sz="2000" b="1" dirty="0" smtClean="0">
                <a:latin typeface="Times New Roman" pitchFamily="18" charset="0"/>
                <a:cs typeface="Times New Roman" pitchFamily="18" charset="0"/>
                <a:sym typeface="Wingdings" pitchFamily="2" charset="2"/>
              </a:rPr>
              <a:t>Considering </a:t>
            </a:r>
            <a:r>
              <a:rPr lang="en-IN" sz="2000" b="1" u="sng" dirty="0" smtClean="0">
                <a:latin typeface="Times New Roman" pitchFamily="18" charset="0"/>
                <a:cs typeface="Times New Roman" pitchFamily="18" charset="0"/>
                <a:sym typeface="Wingdings" pitchFamily="2" charset="2"/>
              </a:rPr>
              <a:t>if processes are independent</a:t>
            </a:r>
          </a:p>
          <a:p>
            <a:pPr algn="just">
              <a:buFont typeface="Wingdings" pitchFamily="2" charset="2"/>
              <a:buChar char="§"/>
            </a:pPr>
            <a:endParaRPr lang="en-IN" sz="2000" b="1" dirty="0" smtClean="0">
              <a:solidFill>
                <a:srgbClr val="FF0000"/>
              </a:solidFill>
              <a:latin typeface="Times New Roman" pitchFamily="18" charset="0"/>
              <a:cs typeface="Times New Roman" pitchFamily="18" charset="0"/>
              <a:sym typeface="Wingdings" pitchFamily="2" charset="2"/>
            </a:endParaRPr>
          </a:p>
          <a:p>
            <a:pPr lvl="3" algn="just">
              <a:buNone/>
            </a:pPr>
            <a:r>
              <a:rPr lang="en-IN" sz="2800" b="1" dirty="0" smtClean="0">
                <a:solidFill>
                  <a:srgbClr val="FF0000"/>
                </a:solidFill>
                <a:latin typeface="Times New Roman" pitchFamily="18" charset="0"/>
                <a:cs typeface="Times New Roman" pitchFamily="18" charset="0"/>
              </a:rPr>
              <a:t>    x &lt; y </a:t>
            </a:r>
            <a:r>
              <a:rPr lang="en-IN" sz="2800" b="1" dirty="0" smtClean="0">
                <a:solidFill>
                  <a:srgbClr val="FF0000"/>
                </a:solidFill>
                <a:latin typeface="Times New Roman" pitchFamily="18" charset="0"/>
                <a:cs typeface="Times New Roman" pitchFamily="18" charset="0"/>
                <a:sym typeface="Wingdings" pitchFamily="2" charset="2"/>
              </a:rPr>
              <a:t> (x -&gt; y) or (x || y)</a:t>
            </a:r>
          </a:p>
          <a:p>
            <a:pPr algn="just">
              <a:buFont typeface="Wingdings" pitchFamily="2" charset="2"/>
              <a:buChar char="§"/>
            </a:pPr>
            <a:endParaRPr lang="en-IN" sz="2000" b="1" dirty="0" smtClean="0">
              <a:solidFill>
                <a:srgbClr val="FF0000"/>
              </a:solidFill>
              <a:latin typeface="Times New Roman" pitchFamily="18" charset="0"/>
              <a:cs typeface="Times New Roman" pitchFamily="18" charset="0"/>
              <a:sym typeface="Wingdings" pitchFamily="2" charset="2"/>
            </a:endParaRPr>
          </a:p>
          <a:p>
            <a:pPr algn="just">
              <a:buFont typeface="Wingdings" pitchFamily="2" charset="2"/>
              <a:buChar char="§"/>
            </a:pPr>
            <a:endParaRPr lang="en-IN" sz="2000" dirty="0" smtClean="0">
              <a:solidFill>
                <a:srgbClr val="FF0000"/>
              </a:solidFill>
              <a:latin typeface="Times New Roman" pitchFamily="18" charset="0"/>
              <a:cs typeface="Times New Roman" pitchFamily="18" charset="0"/>
              <a:sym typeface="Wingdings" pitchFamily="2" charset="2"/>
            </a:endParaRPr>
          </a:p>
          <a:p>
            <a:pPr algn="just">
              <a:buFont typeface="Wingdings" pitchFamily="2" charset="2"/>
              <a:buChar char="§"/>
            </a:pPr>
            <a:endParaRPr lang="en-IN" sz="2000" dirty="0" smtClean="0">
              <a:solidFill>
                <a:srgbClr val="FF0000"/>
              </a:solidFill>
              <a:latin typeface="Times New Roman" pitchFamily="18" charset="0"/>
              <a:cs typeface="Times New Roman" pitchFamily="18" charset="0"/>
            </a:endParaRPr>
          </a:p>
          <a:p>
            <a:pPr algn="just">
              <a:buFont typeface="Wingdings" pitchFamily="2" charset="2"/>
              <a:buChar char="§"/>
            </a:pPr>
            <a:endParaRPr lang="en-IN" sz="2000" dirty="0" smtClean="0">
              <a:latin typeface="Times New Roman" pitchFamily="18" charset="0"/>
              <a:cs typeface="Times New Roman" pitchFamily="18" charset="0"/>
            </a:endParaRPr>
          </a:p>
          <a:p>
            <a:pPr algn="just">
              <a:buFont typeface="Wingdings" pitchFamily="2" charset="2"/>
              <a:buChar char="§"/>
            </a:pPr>
            <a:endParaRPr lang="en-IN" sz="2000" dirty="0" smtClean="0">
              <a:latin typeface="Times New Roman" pitchFamily="18" charset="0"/>
              <a:cs typeface="Times New Roman" pitchFamily="18" charset="0"/>
            </a:endParaRP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endParaRPr lang="en-IN" sz="2000" dirty="0" smtClean="0">
              <a:latin typeface="Times New Roman" pitchFamily="18" charset="0"/>
              <a:cs typeface="Times New Roman" pitchFamily="18" charset="0"/>
            </a:endParaRP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endParaRPr lang="en-IN" sz="2000" dirty="0" smtClean="0">
              <a:latin typeface="Times New Roman" pitchFamily="18" charset="0"/>
              <a:cs typeface="Times New Roman" pitchFamily="18" charset="0"/>
            </a:endParaRPr>
          </a:p>
          <a:p>
            <a:pPr algn="just">
              <a:buFont typeface="Wingdings" pitchFamily="2" charset="2"/>
              <a:buChar char="§"/>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6360259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a:solidFill>
                  <a:srgbClr val="002060"/>
                </a:solidFill>
              </a:rPr>
              <a:t>Scalar </a:t>
            </a:r>
            <a:r>
              <a:rPr lang="en-IN" sz="3600" b="1" dirty="0" smtClean="0">
                <a:solidFill>
                  <a:srgbClr val="002060"/>
                </a:solidFill>
              </a:rPr>
              <a:t>Time</a:t>
            </a:r>
            <a:endParaRPr lang="en-IN" sz="3600" b="1" dirty="0">
              <a:solidFill>
                <a:srgbClr val="002060"/>
              </a:solidFill>
            </a:endParaRPr>
          </a:p>
        </p:txBody>
      </p:sp>
      <p:sp>
        <p:nvSpPr>
          <p:cNvPr id="3" name="Content Placeholder 2"/>
          <p:cNvSpPr>
            <a:spLocks noGrp="1"/>
          </p:cNvSpPr>
          <p:nvPr>
            <p:ph idx="1"/>
          </p:nvPr>
        </p:nvSpPr>
        <p:spPr>
          <a:xfrm>
            <a:off x="381000" y="1371600"/>
            <a:ext cx="8534400" cy="4343400"/>
          </a:xfrm>
        </p:spPr>
        <p:txBody>
          <a:bodyPr>
            <a:noAutofit/>
          </a:bodyPr>
          <a:lstStyle/>
          <a:p>
            <a:pPr marL="0" indent="0" algn="just">
              <a:buNone/>
            </a:pPr>
            <a:r>
              <a:rPr lang="en-IN" sz="2000" b="1" dirty="0" smtClean="0"/>
              <a:t>3. </a:t>
            </a:r>
            <a:r>
              <a:rPr lang="en-IN" sz="2000" b="1" dirty="0"/>
              <a:t>Event </a:t>
            </a:r>
            <a:r>
              <a:rPr lang="en-IN" sz="2000" b="1" dirty="0" smtClean="0"/>
              <a:t>counting</a:t>
            </a:r>
          </a:p>
          <a:p>
            <a:pPr algn="just">
              <a:buFont typeface="Wingdings" pitchFamily="2" charset="2"/>
              <a:buChar char="§"/>
            </a:pPr>
            <a:r>
              <a:rPr lang="en-IN" sz="2000" dirty="0" smtClean="0"/>
              <a:t>By referring to “d” events can be counted , as its incremental with every instances </a:t>
            </a:r>
          </a:p>
          <a:p>
            <a:pPr algn="just">
              <a:buFont typeface="Wingdings" pitchFamily="2" charset="2"/>
              <a:buChar char="§"/>
            </a:pPr>
            <a:r>
              <a:rPr lang="en-IN" sz="2000" dirty="0" err="1" smtClean="0"/>
              <a:t>ie</a:t>
            </a:r>
            <a:r>
              <a:rPr lang="en-IN" sz="2000" dirty="0" smtClean="0"/>
              <a:t>, </a:t>
            </a:r>
            <a:r>
              <a:rPr lang="en-IN" sz="2000" b="1" dirty="0" smtClean="0"/>
              <a:t>by seeing an event count (h),  we can understand how many events already completed before (h-1)</a:t>
            </a:r>
          </a:p>
          <a:p>
            <a:pPr marL="0" indent="0" algn="just">
              <a:buNone/>
            </a:pPr>
            <a:endParaRPr lang="en-IN" sz="2000" b="1" dirty="0" smtClean="0"/>
          </a:p>
          <a:p>
            <a:pPr marL="0" indent="0" algn="just">
              <a:buNone/>
            </a:pPr>
            <a:endParaRPr lang="en-IN" sz="2000" b="1" dirty="0" smtClean="0"/>
          </a:p>
          <a:p>
            <a:pPr marL="0" indent="0" algn="just">
              <a:buNone/>
            </a:pPr>
            <a:r>
              <a:rPr lang="en-IN" sz="2000" b="1" dirty="0" smtClean="0"/>
              <a:t>4.</a:t>
            </a:r>
            <a:r>
              <a:rPr lang="en-IN" sz="2000" dirty="0"/>
              <a:t> </a:t>
            </a:r>
            <a:r>
              <a:rPr lang="en-IN" sz="2000" b="1" dirty="0"/>
              <a:t>No strong </a:t>
            </a:r>
            <a:r>
              <a:rPr lang="en-IN" sz="2000" b="1" dirty="0" smtClean="0"/>
              <a:t>consistency</a:t>
            </a:r>
          </a:p>
          <a:p>
            <a:pPr marL="0" indent="0" algn="just">
              <a:buNone/>
            </a:pPr>
            <a:r>
              <a:rPr lang="en-IN" sz="2000" dirty="0"/>
              <a:t>The system of scalar clocks is not strongly consistent; that is, for two </a:t>
            </a:r>
            <a:r>
              <a:rPr lang="en-IN" sz="2000" dirty="0" smtClean="0"/>
              <a:t>events </a:t>
            </a:r>
            <a:r>
              <a:rPr lang="en-IN" sz="2000" dirty="0" err="1" smtClean="0"/>
              <a:t>e</a:t>
            </a:r>
            <a:r>
              <a:rPr lang="en-IN" sz="2000" baseline="-25000" dirty="0" err="1" smtClean="0"/>
              <a:t>i</a:t>
            </a:r>
            <a:r>
              <a:rPr lang="en-IN" sz="2000" dirty="0" smtClean="0"/>
              <a:t> </a:t>
            </a:r>
            <a:r>
              <a:rPr lang="en-IN" sz="2000" dirty="0"/>
              <a:t>and </a:t>
            </a:r>
            <a:r>
              <a:rPr lang="en-IN" sz="2000" dirty="0" err="1" smtClean="0"/>
              <a:t>e</a:t>
            </a:r>
            <a:r>
              <a:rPr lang="en-IN" sz="2000" baseline="-25000" dirty="0" err="1" smtClean="0"/>
              <a:t>j</a:t>
            </a:r>
            <a:endParaRPr lang="en-IN" sz="2000" baseline="-25000" dirty="0" smtClean="0"/>
          </a:p>
          <a:p>
            <a:pPr marL="0" indent="0" algn="just">
              <a:buNone/>
            </a:pPr>
            <a:endParaRPr lang="en-IN" sz="2000" b="1" baseline="-25000" dirty="0"/>
          </a:p>
        </p:txBody>
      </p:sp>
      <p:pic>
        <p:nvPicPr>
          <p:cNvPr id="614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667000" y="5048250"/>
            <a:ext cx="3228975" cy="514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631541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smtClean="0">
                <a:solidFill>
                  <a:srgbClr val="002060"/>
                </a:solidFill>
              </a:rPr>
              <a:t>Vector Time</a:t>
            </a:r>
            <a:endParaRPr lang="en-IN" sz="3600" b="1" dirty="0">
              <a:solidFill>
                <a:srgbClr val="002060"/>
              </a:solidFill>
            </a:endParaRPr>
          </a:p>
        </p:txBody>
      </p:sp>
      <p:sp>
        <p:nvSpPr>
          <p:cNvPr id="3" name="Content Placeholder 2"/>
          <p:cNvSpPr>
            <a:spLocks noGrp="1"/>
          </p:cNvSpPr>
          <p:nvPr>
            <p:ph idx="1"/>
          </p:nvPr>
        </p:nvSpPr>
        <p:spPr>
          <a:xfrm>
            <a:off x="381000" y="762000"/>
            <a:ext cx="8534400" cy="5943600"/>
          </a:xfrm>
        </p:spPr>
        <p:txBody>
          <a:bodyPr>
            <a:noAutofit/>
          </a:bodyPr>
          <a:lstStyle/>
          <a:p>
            <a:pPr marL="0" indent="0" algn="just">
              <a:buNone/>
            </a:pPr>
            <a:endParaRPr lang="en-IN" sz="1900" dirty="0" smtClean="0"/>
          </a:p>
          <a:p>
            <a:pPr marL="0" indent="0" algn="just">
              <a:buNone/>
            </a:pPr>
            <a:endParaRPr lang="en-IN" sz="1900" dirty="0" smtClean="0"/>
          </a:p>
          <a:p>
            <a:pPr marL="0" indent="0" algn="just">
              <a:buNone/>
            </a:pPr>
            <a:r>
              <a:rPr lang="en-IN" sz="1900" dirty="0" smtClean="0"/>
              <a:t>The </a:t>
            </a:r>
            <a:r>
              <a:rPr lang="en-IN" sz="1900" dirty="0"/>
              <a:t>system of vector clocks was developed independently by </a:t>
            </a:r>
            <a:r>
              <a:rPr lang="en-IN" sz="1900" dirty="0" err="1"/>
              <a:t>Fidge</a:t>
            </a:r>
            <a:r>
              <a:rPr lang="en-IN" sz="1900" dirty="0"/>
              <a:t> </a:t>
            </a:r>
            <a:r>
              <a:rPr lang="en-IN" sz="1900" dirty="0" smtClean="0"/>
              <a:t>, </a:t>
            </a:r>
            <a:r>
              <a:rPr lang="en-IN" sz="1900" dirty="0" err="1"/>
              <a:t>Mattern</a:t>
            </a:r>
            <a:r>
              <a:rPr lang="en-IN" sz="1900" dirty="0"/>
              <a:t> </a:t>
            </a:r>
            <a:r>
              <a:rPr lang="en-IN" sz="1900" dirty="0" smtClean="0"/>
              <a:t>, </a:t>
            </a:r>
            <a:r>
              <a:rPr lang="en-IN" sz="1900" dirty="0"/>
              <a:t>and Schmuck </a:t>
            </a:r>
            <a:r>
              <a:rPr lang="en-IN" sz="1900" dirty="0" smtClean="0"/>
              <a:t>.</a:t>
            </a:r>
          </a:p>
          <a:p>
            <a:pPr marL="0" indent="0" algn="just">
              <a:buNone/>
            </a:pPr>
            <a:endParaRPr lang="en-IN" sz="1900" b="1" baseline="-25000" dirty="0"/>
          </a:p>
          <a:p>
            <a:pPr marL="0" indent="0" algn="just">
              <a:buNone/>
            </a:pPr>
            <a:r>
              <a:rPr lang="en-IN" sz="1900" dirty="0"/>
              <a:t>In the system of vector clocks, the </a:t>
            </a:r>
            <a:r>
              <a:rPr lang="en-IN" sz="1900" b="1" u="sng" dirty="0"/>
              <a:t>time domain </a:t>
            </a:r>
            <a:r>
              <a:rPr lang="en-IN" sz="1900" u="sng" dirty="0"/>
              <a:t>is represented by a </a:t>
            </a:r>
            <a:r>
              <a:rPr lang="en-IN" sz="1900" u="sng" dirty="0">
                <a:solidFill>
                  <a:srgbClr val="FF0000"/>
                </a:solidFill>
              </a:rPr>
              <a:t>set of n-dimensional non-negative integer vectors</a:t>
            </a:r>
            <a:r>
              <a:rPr lang="en-IN" sz="1900" u="sng" dirty="0" smtClean="0">
                <a:solidFill>
                  <a:srgbClr val="FF0000"/>
                </a:solidFill>
              </a:rPr>
              <a:t>.</a:t>
            </a:r>
          </a:p>
          <a:p>
            <a:pPr marL="0" indent="0" algn="just">
              <a:buNone/>
            </a:pPr>
            <a:endParaRPr lang="en-IN" sz="1900" b="1" baseline="-25000" dirty="0"/>
          </a:p>
          <a:p>
            <a:pPr marL="0" indent="0" algn="just">
              <a:buNone/>
            </a:pPr>
            <a:r>
              <a:rPr lang="en-IN" sz="1900" dirty="0"/>
              <a:t>A vector clock is </a:t>
            </a:r>
            <a:r>
              <a:rPr lang="en-IN" sz="1900" b="1" dirty="0"/>
              <a:t>a data structure used for determining the partial ordering of events in a distributed system and detecting causality </a:t>
            </a:r>
            <a:r>
              <a:rPr lang="en-IN" sz="1900" b="1" dirty="0" smtClean="0"/>
              <a:t>violations</a:t>
            </a:r>
          </a:p>
          <a:p>
            <a:pPr marL="0" indent="0" algn="just">
              <a:buNone/>
            </a:pPr>
            <a:endParaRPr lang="en-IN" sz="1900" b="1" baseline="-25000" dirty="0"/>
          </a:p>
          <a:p>
            <a:pPr marL="0" indent="0" algn="just">
              <a:buNone/>
            </a:pPr>
            <a:r>
              <a:rPr lang="en-IN" sz="1900" dirty="0"/>
              <a:t>Vector Clocks are </a:t>
            </a:r>
            <a:r>
              <a:rPr lang="en-IN" sz="1900" b="1" dirty="0"/>
              <a:t>used in a distributed systems to determine whether pairs of events are causally </a:t>
            </a:r>
            <a:r>
              <a:rPr lang="en-IN" sz="1900" b="1" dirty="0" smtClean="0"/>
              <a:t>related</a:t>
            </a:r>
          </a:p>
          <a:p>
            <a:pPr marL="0" indent="0" algn="just">
              <a:buNone/>
            </a:pPr>
            <a:endParaRPr lang="en-IN" sz="1900" b="1" baseline="-25000" dirty="0"/>
          </a:p>
          <a:p>
            <a:pPr marL="0" indent="0" algn="just">
              <a:buNone/>
            </a:pPr>
            <a:endParaRPr lang="en-IN" sz="1900" b="1" baseline="-25000" dirty="0"/>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5800" y="5181600"/>
            <a:ext cx="80010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7570007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smtClean="0">
                <a:solidFill>
                  <a:srgbClr val="002060"/>
                </a:solidFill>
              </a:rPr>
              <a:t>Vector Time</a:t>
            </a:r>
            <a:endParaRPr lang="en-IN" sz="3600" b="1" dirty="0">
              <a:solidFill>
                <a:srgbClr val="002060"/>
              </a:solidFill>
            </a:endParaRPr>
          </a:p>
        </p:txBody>
      </p:sp>
      <p:pic>
        <p:nvPicPr>
          <p:cNvPr id="2050"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 y="1447800"/>
            <a:ext cx="8763000" cy="4038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2368252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IN" sz="3600" b="1" dirty="0" smtClean="0">
                <a:solidFill>
                  <a:srgbClr val="002060"/>
                </a:solidFill>
              </a:rPr>
              <a:t>Vector Time</a:t>
            </a:r>
            <a:endParaRPr lang="en-IN" sz="3600" b="1" dirty="0">
              <a:solidFill>
                <a:srgbClr val="002060"/>
              </a:solidFill>
            </a:endParaRPr>
          </a:p>
        </p:txBody>
      </p:sp>
      <p:pic>
        <p:nvPicPr>
          <p:cNvPr id="3074"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5800" y="990600"/>
            <a:ext cx="7230717" cy="2209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3648075"/>
            <a:ext cx="8534400" cy="4401205"/>
          </a:xfrm>
          <a:prstGeom prst="rect">
            <a:avLst/>
          </a:prstGeom>
        </p:spPr>
        <p:txBody>
          <a:bodyPr wrap="square">
            <a:spAutoFit/>
          </a:bodyPr>
          <a:lstStyle/>
          <a:p>
            <a:pPr algn="just"/>
            <a:r>
              <a:rPr lang="en-IN" sz="2000" b="1" dirty="0"/>
              <a:t>Basic </a:t>
            </a:r>
            <a:r>
              <a:rPr lang="en-IN" sz="2000" b="1" dirty="0" smtClean="0"/>
              <a:t>properties</a:t>
            </a:r>
          </a:p>
          <a:p>
            <a:pPr algn="just"/>
            <a:endParaRPr lang="en-IN" sz="2000" b="1" dirty="0" smtClean="0"/>
          </a:p>
          <a:p>
            <a:pPr marL="342900" indent="-342900" algn="just">
              <a:buAutoNum type="arabicPeriod"/>
            </a:pPr>
            <a:r>
              <a:rPr lang="en-IN" sz="2000" b="1" dirty="0" smtClean="0"/>
              <a:t>Isomorphism</a:t>
            </a:r>
          </a:p>
          <a:p>
            <a:pPr algn="just"/>
            <a:endParaRPr lang="en-IN" sz="2000" dirty="0" smtClean="0"/>
          </a:p>
          <a:p>
            <a:pPr algn="just"/>
            <a:r>
              <a:rPr lang="en-IN" sz="2000" dirty="0"/>
              <a:t>relation “→” induces a partial order on the set of events that are produced by a distributed execution</a:t>
            </a:r>
            <a:r>
              <a:rPr lang="en-IN" sz="2000" dirty="0" smtClean="0"/>
              <a:t>.</a:t>
            </a:r>
          </a:p>
          <a:p>
            <a:pPr algn="just"/>
            <a:endParaRPr lang="en-IN" sz="2000" dirty="0"/>
          </a:p>
          <a:p>
            <a:pPr algn="just"/>
            <a:r>
              <a:rPr lang="en-IN" sz="2000" dirty="0" smtClean="0"/>
              <a:t> </a:t>
            </a:r>
            <a:r>
              <a:rPr lang="en-IN" sz="2000" dirty="0"/>
              <a:t>If events in a distributed system are </a:t>
            </a:r>
            <a:r>
              <a:rPr lang="en-IN" sz="2000" dirty="0" smtClean="0"/>
              <a:t>time stamped </a:t>
            </a:r>
            <a:r>
              <a:rPr lang="en-IN" sz="2000" dirty="0"/>
              <a:t>using a system of vector clocks, we have the following property.</a:t>
            </a:r>
            <a:endParaRPr lang="en-IN" sz="2000" b="1" dirty="0"/>
          </a:p>
          <a:p>
            <a:pPr algn="just"/>
            <a:endParaRPr lang="en-IN" sz="2000" b="1" dirty="0" smtClean="0"/>
          </a:p>
          <a:p>
            <a:pPr algn="just"/>
            <a:endParaRPr lang="en-IN" sz="2000" b="1" dirty="0"/>
          </a:p>
          <a:p>
            <a:pPr algn="just"/>
            <a:endParaRPr lang="en-IN" sz="2000" b="1" dirty="0" smtClean="0"/>
          </a:p>
          <a:p>
            <a:pPr algn="just"/>
            <a:endParaRPr lang="en-IN" sz="2000" b="1" dirty="0"/>
          </a:p>
          <a:p>
            <a:pPr algn="just"/>
            <a:endParaRPr lang="en-IN" sz="2000" b="1" dirty="0"/>
          </a:p>
        </p:txBody>
      </p:sp>
    </p:spTree>
    <p:extLst>
      <p:ext uri="{BB962C8B-B14F-4D97-AF65-F5344CB8AC3E}">
        <p14:creationId xmlns="" xmlns:p14="http://schemas.microsoft.com/office/powerpoint/2010/main" val="20168023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1143000"/>
          </a:xfrm>
        </p:spPr>
        <p:txBody>
          <a:bodyPr>
            <a:noAutofit/>
          </a:bodyPr>
          <a:lstStyle/>
          <a:p>
            <a:r>
              <a:rPr lang="en-IN" sz="3600" b="1" dirty="0" smtClean="0">
                <a:solidFill>
                  <a:srgbClr val="002060"/>
                </a:solidFill>
              </a:rPr>
              <a:t>Vector Time</a:t>
            </a:r>
            <a:endParaRPr lang="en-IN" sz="3600" b="1" dirty="0">
              <a:solidFill>
                <a:srgbClr val="002060"/>
              </a:solidFill>
            </a:endParaRPr>
          </a:p>
        </p:txBody>
      </p:sp>
      <p:pic>
        <p:nvPicPr>
          <p:cNvPr id="4098"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990600" y="1219200"/>
            <a:ext cx="7070377" cy="137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2875002"/>
            <a:ext cx="8305800" cy="2862322"/>
          </a:xfrm>
          <a:prstGeom prst="rect">
            <a:avLst/>
          </a:prstGeom>
        </p:spPr>
        <p:txBody>
          <a:bodyPr wrap="square">
            <a:spAutoFit/>
          </a:bodyPr>
          <a:lstStyle/>
          <a:p>
            <a:r>
              <a:rPr lang="en-IN" sz="2000" b="1" dirty="0" smtClean="0"/>
              <a:t>2. Strong consistency</a:t>
            </a:r>
          </a:p>
          <a:p>
            <a:endParaRPr lang="en-IN" sz="2000" dirty="0"/>
          </a:p>
          <a:p>
            <a:r>
              <a:rPr lang="en-IN" sz="2000" dirty="0"/>
              <a:t>The system of vector clocks is strongly consistent; thus, by examining the vector timestamp of two events, we can determine if the events are causally </a:t>
            </a:r>
            <a:r>
              <a:rPr lang="en-IN" sz="2000" dirty="0" smtClean="0"/>
              <a:t>related</a:t>
            </a:r>
          </a:p>
          <a:p>
            <a:endParaRPr lang="en-IN" sz="2000" dirty="0"/>
          </a:p>
          <a:p>
            <a:r>
              <a:rPr lang="en-IN" sz="2000" b="1" dirty="0"/>
              <a:t>3. Event </a:t>
            </a:r>
            <a:r>
              <a:rPr lang="en-IN" sz="2000" b="1" dirty="0" smtClean="0"/>
              <a:t>counting</a:t>
            </a:r>
          </a:p>
          <a:p>
            <a:endParaRPr lang="en-IN" sz="2000" b="1" dirty="0"/>
          </a:p>
          <a:p>
            <a:endParaRPr lang="en-IN" sz="2000" b="1" dirty="0"/>
          </a:p>
        </p:txBody>
      </p:sp>
      <p:pic>
        <p:nvPicPr>
          <p:cNvPr id="409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52450" y="5267325"/>
            <a:ext cx="8058150" cy="1057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0063678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1143000"/>
          </a:xfrm>
        </p:spPr>
        <p:txBody>
          <a:bodyPr>
            <a:noAutofit/>
          </a:bodyPr>
          <a:lstStyle/>
          <a:p>
            <a:r>
              <a:rPr lang="en-IN" sz="3600" b="1" dirty="0" smtClean="0">
                <a:solidFill>
                  <a:srgbClr val="002060"/>
                </a:solidFill>
              </a:rPr>
              <a:t>Vector Time</a:t>
            </a:r>
            <a:endParaRPr lang="en-IN" sz="3600" b="1" dirty="0">
              <a:solidFill>
                <a:srgbClr val="002060"/>
              </a:solidFill>
            </a:endParaRPr>
          </a:p>
        </p:txBody>
      </p:sp>
      <p:sp>
        <p:nvSpPr>
          <p:cNvPr id="4" name="Rectangle 3"/>
          <p:cNvSpPr/>
          <p:nvPr/>
        </p:nvSpPr>
        <p:spPr>
          <a:xfrm>
            <a:off x="228600" y="1143000"/>
            <a:ext cx="8305800" cy="3785652"/>
          </a:xfrm>
          <a:prstGeom prst="rect">
            <a:avLst/>
          </a:prstGeom>
        </p:spPr>
        <p:txBody>
          <a:bodyPr wrap="square">
            <a:spAutoFit/>
          </a:bodyPr>
          <a:lstStyle/>
          <a:p>
            <a:pPr algn="just"/>
            <a:r>
              <a:rPr lang="en-IN" sz="2000" dirty="0" smtClean="0"/>
              <a:t>Applications</a:t>
            </a:r>
          </a:p>
          <a:p>
            <a:pPr algn="just"/>
            <a:endParaRPr lang="en-IN" sz="2000" b="1" dirty="0"/>
          </a:p>
          <a:p>
            <a:pPr algn="just"/>
            <a:r>
              <a:rPr lang="en-IN" sz="2000" dirty="0"/>
              <a:t>Since vector time tracks causal dependencies exactly, it finds a wide variety of applications. </a:t>
            </a:r>
            <a:endParaRPr lang="en-IN" sz="2000" dirty="0" smtClean="0"/>
          </a:p>
          <a:p>
            <a:pPr algn="just"/>
            <a:endParaRPr lang="en-IN" sz="2000" dirty="0"/>
          </a:p>
          <a:p>
            <a:pPr marL="285750" indent="-285750" algn="just">
              <a:buFont typeface="Wingdings" pitchFamily="2" charset="2"/>
              <a:buChar char="§"/>
            </a:pPr>
            <a:r>
              <a:rPr lang="en-IN" sz="2000" dirty="0" smtClean="0"/>
              <a:t>distributed </a:t>
            </a:r>
            <a:r>
              <a:rPr lang="en-IN" sz="2000" dirty="0"/>
              <a:t>debugging, </a:t>
            </a:r>
            <a:endParaRPr lang="en-IN" sz="2000" dirty="0" smtClean="0"/>
          </a:p>
          <a:p>
            <a:pPr marL="285750" indent="-285750" algn="just">
              <a:buFont typeface="Wingdings" pitchFamily="2" charset="2"/>
              <a:buChar char="§"/>
            </a:pPr>
            <a:r>
              <a:rPr lang="en-IN" sz="2000" dirty="0" smtClean="0"/>
              <a:t>implementations </a:t>
            </a:r>
            <a:r>
              <a:rPr lang="en-IN" sz="2000" dirty="0"/>
              <a:t>of causal ordering communication </a:t>
            </a:r>
            <a:endParaRPr lang="en-IN" sz="2000" dirty="0" smtClean="0"/>
          </a:p>
          <a:p>
            <a:pPr marL="285750" indent="-285750" algn="just">
              <a:buFont typeface="Wingdings" pitchFamily="2" charset="2"/>
              <a:buChar char="§"/>
            </a:pPr>
            <a:r>
              <a:rPr lang="en-IN" sz="2000" dirty="0" smtClean="0"/>
              <a:t>causal </a:t>
            </a:r>
            <a:r>
              <a:rPr lang="en-IN" sz="2000" dirty="0"/>
              <a:t>distributed shared memory, </a:t>
            </a:r>
            <a:endParaRPr lang="en-IN" sz="2000" dirty="0" smtClean="0"/>
          </a:p>
          <a:p>
            <a:pPr marL="285750" indent="-285750" algn="just">
              <a:buFont typeface="Wingdings" pitchFamily="2" charset="2"/>
              <a:buChar char="§"/>
            </a:pPr>
            <a:r>
              <a:rPr lang="en-IN" sz="2000" dirty="0" smtClean="0"/>
              <a:t>establishment </a:t>
            </a:r>
            <a:r>
              <a:rPr lang="en-IN" sz="2000" dirty="0"/>
              <a:t>of global </a:t>
            </a:r>
            <a:r>
              <a:rPr lang="en-IN" sz="2000" dirty="0" smtClean="0"/>
              <a:t>breakpoints</a:t>
            </a:r>
          </a:p>
          <a:p>
            <a:pPr marL="285750" indent="-285750" algn="just">
              <a:buFont typeface="Wingdings" pitchFamily="2" charset="2"/>
              <a:buChar char="§"/>
            </a:pPr>
            <a:r>
              <a:rPr lang="en-IN" sz="2000" dirty="0" smtClean="0"/>
              <a:t>determining </a:t>
            </a:r>
            <a:r>
              <a:rPr lang="en-IN" sz="2000" dirty="0"/>
              <a:t>the consistency of checkpoints in optimistic </a:t>
            </a:r>
            <a:r>
              <a:rPr lang="en-IN" sz="2000" dirty="0" smtClean="0"/>
              <a:t>recovery</a:t>
            </a:r>
          </a:p>
          <a:p>
            <a:pPr marL="285750" indent="-285750" algn="just">
              <a:buFont typeface="Wingdings" pitchFamily="2" charset="2"/>
              <a:buChar char="§"/>
            </a:pPr>
            <a:endParaRPr lang="en-IN" sz="2000" b="1" dirty="0"/>
          </a:p>
          <a:p>
            <a:pPr algn="just"/>
            <a:endParaRPr lang="en-IN" sz="2000" b="1" dirty="0"/>
          </a:p>
        </p:txBody>
      </p:sp>
    </p:spTree>
    <p:extLst>
      <p:ext uri="{BB962C8B-B14F-4D97-AF65-F5344CB8AC3E}">
        <p14:creationId xmlns="" xmlns:p14="http://schemas.microsoft.com/office/powerpoint/2010/main" val="2597848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715436" cy="6643710"/>
          </a:xfrm>
        </p:spPr>
        <p:txBody>
          <a:bodyPr>
            <a:normAutofit/>
          </a:bodyPr>
          <a:lstStyle/>
          <a:p>
            <a:pPr marL="0" indent="0" algn="ctr">
              <a:buNone/>
            </a:pPr>
            <a:r>
              <a:rPr lang="en-US" sz="2400" b="1" dirty="0">
                <a:solidFill>
                  <a:schemeClr val="tx2"/>
                </a:solidFill>
              </a:rPr>
              <a:t>Leader election algorithm </a:t>
            </a:r>
          </a:p>
          <a:p>
            <a:pPr algn="just">
              <a:buFont typeface="Wingdings" pitchFamily="2" charset="2"/>
              <a:buChar char="§"/>
            </a:pPr>
            <a:endParaRPr lang="en-GB" sz="1900" dirty="0" smtClean="0"/>
          </a:p>
          <a:p>
            <a:pPr algn="just">
              <a:buFont typeface="Wingdings" pitchFamily="2" charset="2"/>
              <a:buChar char="§"/>
            </a:pPr>
            <a:r>
              <a:rPr lang="en-GB" sz="1900" dirty="0" smtClean="0"/>
              <a:t>An algorithm for choosing a unique process to play a particular role (coordinator) is called an election algorithm. </a:t>
            </a:r>
          </a:p>
          <a:p>
            <a:pPr algn="just">
              <a:buFont typeface="Wingdings" pitchFamily="2" charset="2"/>
              <a:buChar char="§"/>
            </a:pPr>
            <a:endParaRPr lang="en-GB" sz="1900" dirty="0" smtClean="0"/>
          </a:p>
          <a:p>
            <a:pPr algn="just">
              <a:buFont typeface="Wingdings" pitchFamily="2" charset="2"/>
              <a:buChar char="§"/>
            </a:pPr>
            <a:r>
              <a:rPr lang="en-GB" sz="1900" dirty="0" smtClean="0"/>
              <a:t>An election algorithm is needed for this choice. </a:t>
            </a:r>
          </a:p>
          <a:p>
            <a:pPr algn="just">
              <a:buFont typeface="Wingdings" pitchFamily="2" charset="2"/>
              <a:buChar char="§"/>
            </a:pPr>
            <a:endParaRPr lang="en-GB" sz="1900" dirty="0" smtClean="0"/>
          </a:p>
          <a:p>
            <a:pPr algn="just">
              <a:buFont typeface="Wingdings" pitchFamily="2" charset="2"/>
              <a:buChar char="§"/>
            </a:pPr>
            <a:r>
              <a:rPr lang="en-GB" sz="1900" dirty="0" smtClean="0"/>
              <a:t>It is essential that all the processes agree on the choice. </a:t>
            </a:r>
          </a:p>
          <a:p>
            <a:pPr algn="just">
              <a:buFont typeface="Wingdings" pitchFamily="2" charset="2"/>
              <a:buChar char="§"/>
            </a:pPr>
            <a:endParaRPr lang="en-GB" sz="1900" dirty="0" smtClean="0"/>
          </a:p>
          <a:p>
            <a:pPr algn="just">
              <a:buFont typeface="Wingdings" pitchFamily="2" charset="2"/>
              <a:buChar char="§"/>
            </a:pPr>
            <a:r>
              <a:rPr lang="en-GB" sz="1900" dirty="0" smtClean="0"/>
              <a:t>Afterwards, if the process that plays the role of server wishes to retire then another election is required to choose a replacement. </a:t>
            </a:r>
          </a:p>
          <a:p>
            <a:pPr algn="just">
              <a:buFont typeface="Wingdings" pitchFamily="2" charset="2"/>
              <a:buChar char="§"/>
            </a:pPr>
            <a:endParaRPr lang="en-GB" sz="1900" dirty="0" smtClean="0"/>
          </a:p>
          <a:p>
            <a:pPr algn="just">
              <a:buFont typeface="Wingdings" pitchFamily="2" charset="2"/>
              <a:buChar char="§"/>
            </a:pPr>
            <a:r>
              <a:rPr lang="en-GB" sz="1900" dirty="0" smtClean="0"/>
              <a:t>We say that a process calls the election if it takes an action that initiates a particular run of the election algorithm. </a:t>
            </a:r>
          </a:p>
          <a:p>
            <a:pPr algn="just">
              <a:buFont typeface="Wingdings" pitchFamily="2" charset="2"/>
              <a:buChar char="§"/>
            </a:pPr>
            <a:endParaRPr lang="en-GB" sz="1900" dirty="0" smtClean="0"/>
          </a:p>
          <a:p>
            <a:pPr algn="just">
              <a:buFont typeface="Wingdings" pitchFamily="2" charset="2"/>
              <a:buChar char="§"/>
            </a:pPr>
            <a:r>
              <a:rPr lang="en-GB" sz="1900" dirty="0" smtClean="0"/>
              <a:t>At any point in time, a process Pi is either a participant – meaning that it is engaged in some run of the election algorithm – or a non-participant – meaning that it is not currently engaged in any election.</a:t>
            </a:r>
            <a:endParaRPr lang="en-US" sz="1900" dirty="0" smtClean="0"/>
          </a:p>
        </p:txBody>
      </p:sp>
    </p:spTree>
    <p:extLst>
      <p:ext uri="{BB962C8B-B14F-4D97-AF65-F5344CB8AC3E}">
        <p14:creationId xmlns="" xmlns:p14="http://schemas.microsoft.com/office/powerpoint/2010/main" val="38599481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715436" cy="6643710"/>
          </a:xfrm>
        </p:spPr>
        <p:txBody>
          <a:bodyPr>
            <a:normAutofit/>
          </a:bodyPr>
          <a:lstStyle/>
          <a:p>
            <a:pPr marL="0" indent="0">
              <a:buNone/>
            </a:pPr>
            <a:r>
              <a:rPr lang="en-GB" sz="1900" dirty="0" smtClean="0"/>
              <a:t>Two algorithms, </a:t>
            </a:r>
          </a:p>
          <a:p>
            <a:pPr marL="0" indent="0">
              <a:buNone/>
            </a:pPr>
            <a:endParaRPr lang="en-GB" sz="1900" dirty="0" smtClean="0"/>
          </a:p>
          <a:p>
            <a:pPr marL="0" indent="0">
              <a:buNone/>
            </a:pPr>
            <a:r>
              <a:rPr lang="en-GB" sz="1900" dirty="0" smtClean="0"/>
              <a:t>● A ring-based election algorithm</a:t>
            </a:r>
          </a:p>
          <a:p>
            <a:pPr marL="0" indent="0">
              <a:buNone/>
            </a:pPr>
            <a:r>
              <a:rPr lang="en-GB" sz="1900" dirty="0" smtClean="0"/>
              <a:t> ● Bully algorithm</a:t>
            </a:r>
          </a:p>
          <a:p>
            <a:pPr marL="0" indent="0">
              <a:buNone/>
            </a:pPr>
            <a:endParaRPr lang="en-GB" sz="1900" dirty="0" smtClean="0"/>
          </a:p>
          <a:p>
            <a:pPr marL="0" indent="0">
              <a:buNone/>
            </a:pPr>
            <a:endParaRPr lang="en-GB" sz="1900" dirty="0" smtClean="0"/>
          </a:p>
          <a:p>
            <a:pPr marL="0" indent="0">
              <a:buNone/>
            </a:pPr>
            <a:r>
              <a:rPr lang="en-GB" sz="2200" b="1" u="sng" dirty="0" smtClean="0"/>
              <a:t>1. A ring-based election algorithm</a:t>
            </a:r>
          </a:p>
          <a:p>
            <a:pPr marL="0" indent="0" algn="just">
              <a:buNone/>
            </a:pPr>
            <a:endParaRPr lang="en-GB" sz="1900" dirty="0" smtClean="0"/>
          </a:p>
          <a:p>
            <a:pPr marL="0" indent="0" algn="just">
              <a:buNone/>
            </a:pPr>
            <a:r>
              <a:rPr lang="en-GB" sz="1900" dirty="0" smtClean="0"/>
              <a:t>Each process pi has a communication channel to the next process in the ring, p( </a:t>
            </a:r>
            <a:r>
              <a:rPr lang="en-GB" sz="1900" dirty="0" err="1" smtClean="0"/>
              <a:t>i</a:t>
            </a:r>
            <a:r>
              <a:rPr lang="en-GB" sz="1900" dirty="0" smtClean="0"/>
              <a:t> + 1) mod N , </a:t>
            </a:r>
          </a:p>
          <a:p>
            <a:pPr marL="0" indent="0" algn="just">
              <a:buNone/>
            </a:pPr>
            <a:endParaRPr lang="en-GB" sz="1900" dirty="0" smtClean="0"/>
          </a:p>
          <a:p>
            <a:pPr marL="0" indent="0" algn="just">
              <a:buNone/>
            </a:pPr>
            <a:r>
              <a:rPr lang="en-GB" sz="1900" dirty="0" smtClean="0"/>
              <a:t>All messages are sent clockwise around the ring. </a:t>
            </a:r>
          </a:p>
          <a:p>
            <a:pPr marL="0" indent="0" algn="just">
              <a:buNone/>
            </a:pPr>
            <a:endParaRPr lang="en-GB" sz="1900" dirty="0" smtClean="0"/>
          </a:p>
          <a:p>
            <a:pPr marL="0" indent="0" algn="just">
              <a:buNone/>
            </a:pPr>
            <a:r>
              <a:rPr lang="en-GB" sz="1900" dirty="0" smtClean="0"/>
              <a:t>The goal of this algorithm is to elect a single process called the coordinator, </a:t>
            </a:r>
          </a:p>
          <a:p>
            <a:pPr marL="0" indent="0" algn="just">
              <a:buNone/>
            </a:pPr>
            <a:endParaRPr lang="en-GB" sz="1900" dirty="0" smtClean="0"/>
          </a:p>
          <a:p>
            <a:pPr marL="0" indent="0" algn="just">
              <a:buNone/>
            </a:pPr>
            <a:r>
              <a:rPr lang="en-GB" sz="1900" dirty="0" smtClean="0"/>
              <a:t>Initially, every process is marked as a non-participant in an election.</a:t>
            </a:r>
          </a:p>
          <a:p>
            <a:pPr marL="0" indent="0" algn="just">
              <a:buNone/>
            </a:pPr>
            <a:endParaRPr lang="en-US" sz="1900" dirty="0" smtClean="0"/>
          </a:p>
        </p:txBody>
      </p:sp>
    </p:spTree>
    <p:extLst>
      <p:ext uri="{BB962C8B-B14F-4D97-AF65-F5344CB8AC3E}">
        <p14:creationId xmlns="" xmlns:p14="http://schemas.microsoft.com/office/powerpoint/2010/main" val="4866956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0"/>
            <a:ext cx="8715436" cy="6858000"/>
          </a:xfrm>
        </p:spPr>
        <p:txBody>
          <a:bodyPr>
            <a:noAutofit/>
          </a:bodyPr>
          <a:lstStyle/>
          <a:p>
            <a:pPr algn="just">
              <a:buFont typeface="Wingdings" pitchFamily="2" charset="2"/>
              <a:buChar char="§"/>
            </a:pPr>
            <a:r>
              <a:rPr lang="en-GB" sz="1900" dirty="0" smtClean="0"/>
              <a:t> Any process can begin an election. It proceeds by marking itself as a participant, placing its identifier in an election message and sending it to its clockwise neighbour. </a:t>
            </a:r>
          </a:p>
          <a:p>
            <a:pPr algn="just">
              <a:buFont typeface="Wingdings" pitchFamily="2" charset="2"/>
              <a:buChar char="§"/>
            </a:pPr>
            <a:endParaRPr lang="en-GB" sz="1900" dirty="0" smtClean="0"/>
          </a:p>
          <a:p>
            <a:pPr algn="just">
              <a:buFont typeface="Wingdings" pitchFamily="2" charset="2"/>
              <a:buChar char="§"/>
            </a:pPr>
            <a:r>
              <a:rPr lang="en-GB" sz="1900" dirty="0" smtClean="0"/>
              <a:t>When a process receives an election message, it compares the identifier in the message with its own. </a:t>
            </a:r>
          </a:p>
          <a:p>
            <a:pPr algn="just">
              <a:buFont typeface="Wingdings" pitchFamily="2" charset="2"/>
              <a:buChar char="§"/>
            </a:pPr>
            <a:endParaRPr lang="en-GB" sz="1900" dirty="0" smtClean="0"/>
          </a:p>
          <a:p>
            <a:pPr algn="just">
              <a:buFont typeface="Wingdings" pitchFamily="2" charset="2"/>
              <a:buChar char="§"/>
            </a:pPr>
            <a:r>
              <a:rPr lang="en-GB" sz="1900" dirty="0" smtClean="0"/>
              <a:t>If the arrived identifier is greater, then it forwards the message to its neighbour. </a:t>
            </a:r>
          </a:p>
          <a:p>
            <a:pPr algn="just">
              <a:buFont typeface="Wingdings" pitchFamily="2" charset="2"/>
              <a:buChar char="§"/>
            </a:pPr>
            <a:endParaRPr lang="en-GB" sz="1900" dirty="0" smtClean="0"/>
          </a:p>
          <a:p>
            <a:pPr algn="just">
              <a:buFont typeface="Wingdings" pitchFamily="2" charset="2"/>
              <a:buChar char="§"/>
            </a:pPr>
            <a:r>
              <a:rPr lang="en-GB" sz="1900" dirty="0" smtClean="0"/>
              <a:t>If the arrived identifier is smaller and the receiver is not a participant, then it substitutes its own identifier in the message and forwards it; but it does not forward the message if it is already a participant. </a:t>
            </a:r>
          </a:p>
          <a:p>
            <a:pPr algn="just">
              <a:buFont typeface="Wingdings" pitchFamily="2" charset="2"/>
              <a:buChar char="§"/>
            </a:pPr>
            <a:endParaRPr lang="en-GB" sz="1900" dirty="0" smtClean="0"/>
          </a:p>
          <a:p>
            <a:pPr algn="just">
              <a:buFont typeface="Wingdings" pitchFamily="2" charset="2"/>
              <a:buChar char="§"/>
            </a:pPr>
            <a:r>
              <a:rPr lang="en-GB" sz="1900" dirty="0" smtClean="0"/>
              <a:t>On forwarding an election message in any case, the process marks itself as a participant.</a:t>
            </a:r>
          </a:p>
          <a:p>
            <a:pPr algn="just">
              <a:buFont typeface="Wingdings" pitchFamily="2" charset="2"/>
              <a:buChar char="§"/>
            </a:pPr>
            <a:endParaRPr lang="en-GB" sz="1900" dirty="0" smtClean="0"/>
          </a:p>
          <a:p>
            <a:pPr algn="just">
              <a:buFont typeface="Wingdings" pitchFamily="2" charset="2"/>
              <a:buChar char="§"/>
            </a:pPr>
            <a:r>
              <a:rPr lang="en-GB" sz="1900" dirty="0" smtClean="0"/>
              <a:t> If, however, the received identifier is that of the receiver itself, then this process’s identifier must be the greatest, and it becomes the coordinator.</a:t>
            </a:r>
          </a:p>
          <a:p>
            <a:pPr algn="just">
              <a:buFont typeface="Wingdings" pitchFamily="2" charset="2"/>
              <a:buChar char="§"/>
            </a:pPr>
            <a:endParaRPr lang="en-GB" sz="800" dirty="0" smtClean="0"/>
          </a:p>
          <a:p>
            <a:pPr algn="just">
              <a:buFont typeface="Wingdings" pitchFamily="2" charset="2"/>
              <a:buChar char="§"/>
            </a:pPr>
            <a:r>
              <a:rPr lang="en-GB" sz="1900" dirty="0" smtClean="0"/>
              <a:t>The coordinator marks itself as a non-participant once more and sends an elected message to its neighbour, announcing its election and enclosing its identity</a:t>
            </a:r>
          </a:p>
          <a:p>
            <a:pPr algn="just">
              <a:buNone/>
            </a:pPr>
            <a:endParaRPr lang="en-GB" sz="2000" dirty="0" smtClean="0"/>
          </a:p>
          <a:p>
            <a:pPr algn="just">
              <a:buFont typeface="Wingdings" pitchFamily="2" charset="2"/>
              <a:buChar char="§"/>
            </a:pPr>
            <a:endParaRPr lang="en-US" sz="2000" dirty="0" smtClean="0"/>
          </a:p>
        </p:txBody>
      </p:sp>
    </p:spTree>
    <p:extLst>
      <p:ext uri="{BB962C8B-B14F-4D97-AF65-F5344CB8AC3E}">
        <p14:creationId xmlns="" xmlns:p14="http://schemas.microsoft.com/office/powerpoint/2010/main" val="5214492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8819" y="1405093"/>
            <a:ext cx="3207385" cy="2181225"/>
          </a:xfrm>
          <a:custGeom>
            <a:avLst/>
            <a:gdLst/>
            <a:ahLst/>
            <a:cxnLst/>
            <a:rect l="l" t="t" r="r" b="b"/>
            <a:pathLst>
              <a:path w="3207385" h="2181225">
                <a:moveTo>
                  <a:pt x="3093672" y="2180710"/>
                </a:moveTo>
                <a:lnTo>
                  <a:pt x="3109989" y="2138409"/>
                </a:lnTo>
                <a:lnTo>
                  <a:pt x="3125114" y="2095540"/>
                </a:lnTo>
                <a:lnTo>
                  <a:pt x="3139026" y="2052122"/>
                </a:lnTo>
                <a:lnTo>
                  <a:pt x="3151707" y="2008176"/>
                </a:lnTo>
                <a:lnTo>
                  <a:pt x="3163137" y="1963719"/>
                </a:lnTo>
                <a:lnTo>
                  <a:pt x="3173296" y="1918773"/>
                </a:lnTo>
                <a:lnTo>
                  <a:pt x="3182164" y="1873357"/>
                </a:lnTo>
                <a:lnTo>
                  <a:pt x="3189722" y="1827491"/>
                </a:lnTo>
                <a:lnTo>
                  <a:pt x="3195950" y="1781193"/>
                </a:lnTo>
                <a:lnTo>
                  <a:pt x="3200828" y="1734485"/>
                </a:lnTo>
                <a:lnTo>
                  <a:pt x="3204336" y="1687385"/>
                </a:lnTo>
                <a:lnTo>
                  <a:pt x="3206456" y="1639913"/>
                </a:lnTo>
                <a:lnTo>
                  <a:pt x="3207167" y="1592088"/>
                </a:lnTo>
                <a:lnTo>
                  <a:pt x="3206456" y="1544259"/>
                </a:lnTo>
                <a:lnTo>
                  <a:pt x="3204336" y="1496781"/>
                </a:lnTo>
                <a:lnTo>
                  <a:pt x="3200828" y="1449676"/>
                </a:lnTo>
                <a:lnTo>
                  <a:pt x="3195950" y="1402963"/>
                </a:lnTo>
                <a:lnTo>
                  <a:pt x="3189722" y="1356662"/>
                </a:lnTo>
                <a:lnTo>
                  <a:pt x="3182164" y="1310791"/>
                </a:lnTo>
                <a:lnTo>
                  <a:pt x="3173296" y="1265372"/>
                </a:lnTo>
                <a:lnTo>
                  <a:pt x="3163137" y="1220423"/>
                </a:lnTo>
                <a:lnTo>
                  <a:pt x="3151707" y="1175964"/>
                </a:lnTo>
                <a:lnTo>
                  <a:pt x="3139026" y="1132014"/>
                </a:lnTo>
                <a:lnTo>
                  <a:pt x="3125114" y="1088594"/>
                </a:lnTo>
                <a:lnTo>
                  <a:pt x="3109989" y="1045722"/>
                </a:lnTo>
                <a:lnTo>
                  <a:pt x="3093672" y="1003420"/>
                </a:lnTo>
                <a:lnTo>
                  <a:pt x="3076182" y="961705"/>
                </a:lnTo>
                <a:lnTo>
                  <a:pt x="3057539" y="920598"/>
                </a:lnTo>
                <a:lnTo>
                  <a:pt x="3037763" y="880119"/>
                </a:lnTo>
                <a:lnTo>
                  <a:pt x="3016873" y="840286"/>
                </a:lnTo>
                <a:lnTo>
                  <a:pt x="2994890" y="801120"/>
                </a:lnTo>
                <a:lnTo>
                  <a:pt x="2971832" y="762641"/>
                </a:lnTo>
                <a:lnTo>
                  <a:pt x="2947719" y="724867"/>
                </a:lnTo>
                <a:lnTo>
                  <a:pt x="2922572" y="687819"/>
                </a:lnTo>
                <a:lnTo>
                  <a:pt x="2896409" y="651516"/>
                </a:lnTo>
                <a:lnTo>
                  <a:pt x="2869251" y="615978"/>
                </a:lnTo>
                <a:lnTo>
                  <a:pt x="2841116" y="581224"/>
                </a:lnTo>
                <a:lnTo>
                  <a:pt x="2812026" y="547274"/>
                </a:lnTo>
                <a:lnTo>
                  <a:pt x="2781998" y="514148"/>
                </a:lnTo>
                <a:lnTo>
                  <a:pt x="2751054" y="481866"/>
                </a:lnTo>
                <a:lnTo>
                  <a:pt x="2719213" y="450446"/>
                </a:lnTo>
                <a:lnTo>
                  <a:pt x="2686494" y="419908"/>
                </a:lnTo>
                <a:lnTo>
                  <a:pt x="2652917" y="390273"/>
                </a:lnTo>
                <a:lnTo>
                  <a:pt x="2618502" y="361560"/>
                </a:lnTo>
                <a:lnTo>
                  <a:pt x="2583268" y="333788"/>
                </a:lnTo>
                <a:lnTo>
                  <a:pt x="2547235" y="306977"/>
                </a:lnTo>
                <a:lnTo>
                  <a:pt x="2510423" y="281146"/>
                </a:lnTo>
                <a:lnTo>
                  <a:pt x="2472852" y="256316"/>
                </a:lnTo>
                <a:lnTo>
                  <a:pt x="2434541" y="232506"/>
                </a:lnTo>
                <a:lnTo>
                  <a:pt x="2395509" y="209736"/>
                </a:lnTo>
                <a:lnTo>
                  <a:pt x="2355777" y="188024"/>
                </a:lnTo>
                <a:lnTo>
                  <a:pt x="2315364" y="167392"/>
                </a:lnTo>
                <a:lnTo>
                  <a:pt x="2274290" y="147858"/>
                </a:lnTo>
                <a:lnTo>
                  <a:pt x="2232574" y="129441"/>
                </a:lnTo>
                <a:lnTo>
                  <a:pt x="2190237" y="112163"/>
                </a:lnTo>
                <a:lnTo>
                  <a:pt x="2147297" y="96042"/>
                </a:lnTo>
                <a:lnTo>
                  <a:pt x="2103775" y="81097"/>
                </a:lnTo>
                <a:lnTo>
                  <a:pt x="2059690" y="67350"/>
                </a:lnTo>
                <a:lnTo>
                  <a:pt x="2015062" y="54818"/>
                </a:lnTo>
                <a:lnTo>
                  <a:pt x="1969910" y="43522"/>
                </a:lnTo>
                <a:lnTo>
                  <a:pt x="1924254" y="33482"/>
                </a:lnTo>
                <a:lnTo>
                  <a:pt x="1878115" y="24717"/>
                </a:lnTo>
                <a:lnTo>
                  <a:pt x="1831510" y="17246"/>
                </a:lnTo>
                <a:lnTo>
                  <a:pt x="1784461" y="11090"/>
                </a:lnTo>
                <a:lnTo>
                  <a:pt x="1736987" y="6267"/>
                </a:lnTo>
                <a:lnTo>
                  <a:pt x="1689108" y="2798"/>
                </a:lnTo>
                <a:lnTo>
                  <a:pt x="1640842" y="702"/>
                </a:lnTo>
                <a:lnTo>
                  <a:pt x="1592211" y="0"/>
                </a:lnTo>
                <a:lnTo>
                  <a:pt x="1543881" y="729"/>
                </a:lnTo>
                <a:lnTo>
                  <a:pt x="1495887" y="2902"/>
                </a:lnTo>
                <a:lnTo>
                  <a:pt x="1448250" y="6500"/>
                </a:lnTo>
                <a:lnTo>
                  <a:pt x="1400993" y="11500"/>
                </a:lnTo>
                <a:lnTo>
                  <a:pt x="1354136" y="17883"/>
                </a:lnTo>
                <a:lnTo>
                  <a:pt x="1307702" y="25627"/>
                </a:lnTo>
                <a:lnTo>
                  <a:pt x="1261711" y="34712"/>
                </a:lnTo>
                <a:lnTo>
                  <a:pt x="1216186" y="45117"/>
                </a:lnTo>
                <a:lnTo>
                  <a:pt x="1171149" y="56821"/>
                </a:lnTo>
                <a:lnTo>
                  <a:pt x="1126620" y="69804"/>
                </a:lnTo>
                <a:lnTo>
                  <a:pt x="1082621" y="84045"/>
                </a:lnTo>
                <a:lnTo>
                  <a:pt x="1039175" y="99523"/>
                </a:lnTo>
                <a:lnTo>
                  <a:pt x="996302" y="116218"/>
                </a:lnTo>
                <a:lnTo>
                  <a:pt x="954025" y="134108"/>
                </a:lnTo>
                <a:lnTo>
                  <a:pt x="912364" y="153172"/>
                </a:lnTo>
                <a:lnTo>
                  <a:pt x="871342" y="173391"/>
                </a:lnTo>
                <a:lnTo>
                  <a:pt x="830980" y="194744"/>
                </a:lnTo>
                <a:lnTo>
                  <a:pt x="791300" y="217209"/>
                </a:lnTo>
                <a:lnTo>
                  <a:pt x="752323" y="240766"/>
                </a:lnTo>
                <a:lnTo>
                  <a:pt x="714071" y="265395"/>
                </a:lnTo>
                <a:lnTo>
                  <a:pt x="676566" y="291074"/>
                </a:lnTo>
                <a:lnTo>
                  <a:pt x="639829" y="317782"/>
                </a:lnTo>
                <a:lnTo>
                  <a:pt x="603882" y="345500"/>
                </a:lnTo>
                <a:lnTo>
                  <a:pt x="568747" y="374206"/>
                </a:lnTo>
                <a:lnTo>
                  <a:pt x="534444" y="403880"/>
                </a:lnTo>
                <a:lnTo>
                  <a:pt x="500997" y="434500"/>
                </a:lnTo>
                <a:lnTo>
                  <a:pt x="468425" y="466047"/>
                </a:lnTo>
                <a:lnTo>
                  <a:pt x="436752" y="498498"/>
                </a:lnTo>
                <a:lnTo>
                  <a:pt x="405998" y="531835"/>
                </a:lnTo>
                <a:lnTo>
                  <a:pt x="376186" y="566035"/>
                </a:lnTo>
                <a:lnTo>
                  <a:pt x="347336" y="601078"/>
                </a:lnTo>
                <a:lnTo>
                  <a:pt x="319471" y="636944"/>
                </a:lnTo>
                <a:lnTo>
                  <a:pt x="292612" y="673612"/>
                </a:lnTo>
                <a:lnTo>
                  <a:pt x="266780" y="711060"/>
                </a:lnTo>
                <a:lnTo>
                  <a:pt x="241998" y="749269"/>
                </a:lnTo>
                <a:lnTo>
                  <a:pt x="218287" y="788217"/>
                </a:lnTo>
                <a:lnTo>
                  <a:pt x="195668" y="827883"/>
                </a:lnTo>
                <a:lnTo>
                  <a:pt x="174164" y="868248"/>
                </a:lnTo>
                <a:lnTo>
                  <a:pt x="153795" y="909290"/>
                </a:lnTo>
                <a:lnTo>
                  <a:pt x="134584" y="950988"/>
                </a:lnTo>
                <a:lnTo>
                  <a:pt x="116551" y="993323"/>
                </a:lnTo>
                <a:lnTo>
                  <a:pt x="99720" y="1036272"/>
                </a:lnTo>
                <a:lnTo>
                  <a:pt x="84111" y="1079816"/>
                </a:lnTo>
                <a:lnTo>
                  <a:pt x="69745" y="1123933"/>
                </a:lnTo>
                <a:lnTo>
                  <a:pt x="56645" y="1168603"/>
                </a:lnTo>
                <a:lnTo>
                  <a:pt x="44833" y="1213805"/>
                </a:lnTo>
                <a:lnTo>
                  <a:pt x="34329" y="1259518"/>
                </a:lnTo>
                <a:lnTo>
                  <a:pt x="25155" y="1305722"/>
                </a:lnTo>
                <a:lnTo>
                  <a:pt x="17333" y="1352396"/>
                </a:lnTo>
                <a:lnTo>
                  <a:pt x="10885" y="1399519"/>
                </a:lnTo>
                <a:lnTo>
                  <a:pt x="5833" y="1447071"/>
                </a:lnTo>
                <a:lnTo>
                  <a:pt x="2197" y="1495030"/>
                </a:lnTo>
                <a:lnTo>
                  <a:pt x="0" y="1543376"/>
                </a:lnTo>
              </a:path>
            </a:pathLst>
          </a:custGeom>
          <a:ln w="41780">
            <a:solidFill>
              <a:srgbClr val="000000"/>
            </a:solidFill>
          </a:ln>
        </p:spPr>
        <p:txBody>
          <a:bodyPr wrap="square" lIns="0" tIns="0" rIns="0" bIns="0" rtlCol="0"/>
          <a:lstStyle/>
          <a:p>
            <a:endParaRPr/>
          </a:p>
        </p:txBody>
      </p:sp>
      <p:sp>
        <p:nvSpPr>
          <p:cNvPr id="3" name="object 3"/>
          <p:cNvSpPr/>
          <p:nvPr/>
        </p:nvSpPr>
        <p:spPr>
          <a:xfrm>
            <a:off x="3120610" y="3898222"/>
            <a:ext cx="262255" cy="293370"/>
          </a:xfrm>
          <a:custGeom>
            <a:avLst/>
            <a:gdLst/>
            <a:ahLst/>
            <a:cxnLst/>
            <a:rect l="l" t="t" r="r" b="b"/>
            <a:pathLst>
              <a:path w="262254" h="293370">
                <a:moveTo>
                  <a:pt x="0" y="293135"/>
                </a:moveTo>
                <a:lnTo>
                  <a:pt x="39894" y="260834"/>
                </a:lnTo>
                <a:lnTo>
                  <a:pt x="77710" y="226797"/>
                </a:lnTo>
                <a:lnTo>
                  <a:pt x="113466" y="191272"/>
                </a:lnTo>
                <a:lnTo>
                  <a:pt x="147180" y="154507"/>
                </a:lnTo>
                <a:lnTo>
                  <a:pt x="178869" y="116750"/>
                </a:lnTo>
                <a:lnTo>
                  <a:pt x="208552" y="78248"/>
                </a:lnTo>
                <a:lnTo>
                  <a:pt x="236245" y="39248"/>
                </a:lnTo>
                <a:lnTo>
                  <a:pt x="261968" y="0"/>
                </a:lnTo>
              </a:path>
            </a:pathLst>
          </a:custGeom>
          <a:ln w="21080">
            <a:solidFill>
              <a:srgbClr val="000000"/>
            </a:solidFill>
          </a:ln>
        </p:spPr>
        <p:txBody>
          <a:bodyPr wrap="square" lIns="0" tIns="0" rIns="0" bIns="0" rtlCol="0"/>
          <a:lstStyle/>
          <a:p>
            <a:endParaRPr/>
          </a:p>
        </p:txBody>
      </p:sp>
      <p:sp>
        <p:nvSpPr>
          <p:cNvPr id="4" name="object 4"/>
          <p:cNvSpPr/>
          <p:nvPr/>
        </p:nvSpPr>
        <p:spPr>
          <a:xfrm>
            <a:off x="3185940" y="3311470"/>
            <a:ext cx="349885" cy="356235"/>
          </a:xfrm>
          <a:custGeom>
            <a:avLst/>
            <a:gdLst/>
            <a:ahLst/>
            <a:cxnLst/>
            <a:rect l="l" t="t" r="r" b="b"/>
            <a:pathLst>
              <a:path w="349885" h="356235">
                <a:moveTo>
                  <a:pt x="174717" y="0"/>
                </a:moveTo>
                <a:lnTo>
                  <a:pt x="131405" y="6582"/>
                </a:lnTo>
                <a:lnTo>
                  <a:pt x="90546" y="24790"/>
                </a:lnTo>
                <a:lnTo>
                  <a:pt x="54558" y="52315"/>
                </a:lnTo>
                <a:lnTo>
                  <a:pt x="25859" y="86848"/>
                </a:lnTo>
                <a:lnTo>
                  <a:pt x="6867" y="126083"/>
                </a:lnTo>
                <a:lnTo>
                  <a:pt x="0" y="167709"/>
                </a:lnTo>
                <a:lnTo>
                  <a:pt x="6867" y="218035"/>
                </a:lnTo>
                <a:lnTo>
                  <a:pt x="25859" y="263101"/>
                </a:lnTo>
                <a:lnTo>
                  <a:pt x="54558" y="301172"/>
                </a:lnTo>
                <a:lnTo>
                  <a:pt x="90546" y="330513"/>
                </a:lnTo>
                <a:lnTo>
                  <a:pt x="131405" y="349390"/>
                </a:lnTo>
                <a:lnTo>
                  <a:pt x="174717" y="356068"/>
                </a:lnTo>
                <a:lnTo>
                  <a:pt x="217955" y="349390"/>
                </a:lnTo>
                <a:lnTo>
                  <a:pt x="258792" y="330513"/>
                </a:lnTo>
                <a:lnTo>
                  <a:pt x="294795" y="301172"/>
                </a:lnTo>
                <a:lnTo>
                  <a:pt x="323527" y="263101"/>
                </a:lnTo>
                <a:lnTo>
                  <a:pt x="342552" y="218035"/>
                </a:lnTo>
                <a:lnTo>
                  <a:pt x="349435" y="167709"/>
                </a:lnTo>
                <a:lnTo>
                  <a:pt x="342552" y="126083"/>
                </a:lnTo>
                <a:lnTo>
                  <a:pt x="323527" y="86848"/>
                </a:lnTo>
                <a:lnTo>
                  <a:pt x="294795" y="52315"/>
                </a:lnTo>
                <a:lnTo>
                  <a:pt x="258792" y="24790"/>
                </a:lnTo>
                <a:lnTo>
                  <a:pt x="217954" y="6582"/>
                </a:lnTo>
                <a:lnTo>
                  <a:pt x="174717" y="0"/>
                </a:lnTo>
                <a:close/>
              </a:path>
            </a:pathLst>
          </a:custGeom>
          <a:solidFill>
            <a:srgbClr val="D9AA73"/>
          </a:solidFill>
        </p:spPr>
        <p:txBody>
          <a:bodyPr wrap="square" lIns="0" tIns="0" rIns="0" bIns="0" rtlCol="0"/>
          <a:lstStyle/>
          <a:p>
            <a:endParaRPr/>
          </a:p>
        </p:txBody>
      </p:sp>
      <p:sp>
        <p:nvSpPr>
          <p:cNvPr id="5" name="object 5"/>
          <p:cNvSpPr/>
          <p:nvPr/>
        </p:nvSpPr>
        <p:spPr>
          <a:xfrm>
            <a:off x="3185940" y="3311470"/>
            <a:ext cx="349885" cy="356235"/>
          </a:xfrm>
          <a:custGeom>
            <a:avLst/>
            <a:gdLst/>
            <a:ahLst/>
            <a:cxnLst/>
            <a:rect l="l" t="t" r="r" b="b"/>
            <a:pathLst>
              <a:path w="349885" h="356235">
                <a:moveTo>
                  <a:pt x="323527" y="263101"/>
                </a:moveTo>
                <a:lnTo>
                  <a:pt x="342552" y="218035"/>
                </a:lnTo>
                <a:lnTo>
                  <a:pt x="349435" y="167709"/>
                </a:lnTo>
                <a:lnTo>
                  <a:pt x="342552" y="126083"/>
                </a:lnTo>
                <a:lnTo>
                  <a:pt x="323527" y="86848"/>
                </a:lnTo>
                <a:lnTo>
                  <a:pt x="294795" y="52315"/>
                </a:lnTo>
                <a:lnTo>
                  <a:pt x="258792" y="24790"/>
                </a:lnTo>
                <a:lnTo>
                  <a:pt x="217955" y="6582"/>
                </a:lnTo>
                <a:lnTo>
                  <a:pt x="174717" y="0"/>
                </a:lnTo>
                <a:lnTo>
                  <a:pt x="131405" y="6582"/>
                </a:lnTo>
                <a:lnTo>
                  <a:pt x="90546" y="24790"/>
                </a:lnTo>
                <a:lnTo>
                  <a:pt x="54558" y="52315"/>
                </a:lnTo>
                <a:lnTo>
                  <a:pt x="25859" y="86848"/>
                </a:lnTo>
                <a:lnTo>
                  <a:pt x="6867" y="126083"/>
                </a:lnTo>
                <a:lnTo>
                  <a:pt x="0" y="167709"/>
                </a:lnTo>
                <a:lnTo>
                  <a:pt x="6867" y="218035"/>
                </a:lnTo>
                <a:lnTo>
                  <a:pt x="25859" y="263101"/>
                </a:lnTo>
                <a:lnTo>
                  <a:pt x="54558" y="301172"/>
                </a:lnTo>
                <a:lnTo>
                  <a:pt x="90546" y="330513"/>
                </a:lnTo>
                <a:lnTo>
                  <a:pt x="131405" y="349390"/>
                </a:lnTo>
                <a:lnTo>
                  <a:pt x="174717" y="356068"/>
                </a:lnTo>
                <a:lnTo>
                  <a:pt x="217955" y="349390"/>
                </a:lnTo>
                <a:lnTo>
                  <a:pt x="258792" y="330513"/>
                </a:lnTo>
                <a:lnTo>
                  <a:pt x="294795" y="301172"/>
                </a:lnTo>
                <a:lnTo>
                  <a:pt x="323527" y="263101"/>
                </a:lnTo>
              </a:path>
            </a:pathLst>
          </a:custGeom>
          <a:ln w="42087">
            <a:solidFill>
              <a:srgbClr val="D9AA73"/>
            </a:solidFill>
          </a:ln>
        </p:spPr>
        <p:txBody>
          <a:bodyPr wrap="square" lIns="0" tIns="0" rIns="0" bIns="0" rtlCol="0"/>
          <a:lstStyle/>
          <a:p>
            <a:endParaRPr/>
          </a:p>
        </p:txBody>
      </p:sp>
      <p:sp>
        <p:nvSpPr>
          <p:cNvPr id="6" name="object 6"/>
          <p:cNvSpPr/>
          <p:nvPr/>
        </p:nvSpPr>
        <p:spPr>
          <a:xfrm>
            <a:off x="370770" y="1845267"/>
            <a:ext cx="327660" cy="314325"/>
          </a:xfrm>
          <a:custGeom>
            <a:avLst/>
            <a:gdLst/>
            <a:ahLst/>
            <a:cxnLst/>
            <a:rect l="l" t="t" r="r" b="b"/>
            <a:pathLst>
              <a:path w="327659" h="314325">
                <a:moveTo>
                  <a:pt x="152709" y="0"/>
                </a:moveTo>
                <a:lnTo>
                  <a:pt x="103498" y="7171"/>
                </a:lnTo>
                <a:lnTo>
                  <a:pt x="61460" y="27375"/>
                </a:lnTo>
                <a:lnTo>
                  <a:pt x="28757" y="58644"/>
                </a:lnTo>
                <a:lnTo>
                  <a:pt x="7549" y="99013"/>
                </a:lnTo>
                <a:lnTo>
                  <a:pt x="0" y="146515"/>
                </a:lnTo>
                <a:lnTo>
                  <a:pt x="7549" y="196009"/>
                </a:lnTo>
                <a:lnTo>
                  <a:pt x="28757" y="241489"/>
                </a:lnTo>
                <a:lnTo>
                  <a:pt x="61460" y="278944"/>
                </a:lnTo>
                <a:lnTo>
                  <a:pt x="103498" y="304359"/>
                </a:lnTo>
                <a:lnTo>
                  <a:pt x="152709" y="313723"/>
                </a:lnTo>
                <a:lnTo>
                  <a:pt x="195974" y="307143"/>
                </a:lnTo>
                <a:lnTo>
                  <a:pt x="236812" y="288951"/>
                </a:lnTo>
                <a:lnTo>
                  <a:pt x="272798" y="261470"/>
                </a:lnTo>
                <a:lnTo>
                  <a:pt x="301506" y="227023"/>
                </a:lnTo>
                <a:lnTo>
                  <a:pt x="320510" y="187930"/>
                </a:lnTo>
                <a:lnTo>
                  <a:pt x="327384" y="146515"/>
                </a:lnTo>
                <a:lnTo>
                  <a:pt x="317602" y="99013"/>
                </a:lnTo>
                <a:lnTo>
                  <a:pt x="291051" y="58644"/>
                </a:lnTo>
                <a:lnTo>
                  <a:pt x="251924" y="27375"/>
                </a:lnTo>
                <a:lnTo>
                  <a:pt x="204413" y="7171"/>
                </a:lnTo>
                <a:lnTo>
                  <a:pt x="152709" y="0"/>
                </a:lnTo>
                <a:close/>
              </a:path>
            </a:pathLst>
          </a:custGeom>
          <a:solidFill>
            <a:srgbClr val="FFDC99"/>
          </a:solidFill>
        </p:spPr>
        <p:txBody>
          <a:bodyPr wrap="square" lIns="0" tIns="0" rIns="0" bIns="0" rtlCol="0"/>
          <a:lstStyle/>
          <a:p>
            <a:endParaRPr/>
          </a:p>
        </p:txBody>
      </p:sp>
      <p:sp>
        <p:nvSpPr>
          <p:cNvPr id="7" name="object 7"/>
          <p:cNvSpPr/>
          <p:nvPr/>
        </p:nvSpPr>
        <p:spPr>
          <a:xfrm>
            <a:off x="370770" y="1845267"/>
            <a:ext cx="327660" cy="314325"/>
          </a:xfrm>
          <a:custGeom>
            <a:avLst/>
            <a:gdLst/>
            <a:ahLst/>
            <a:cxnLst/>
            <a:rect l="l" t="t" r="r" b="b"/>
            <a:pathLst>
              <a:path w="327659" h="314325">
                <a:moveTo>
                  <a:pt x="327384" y="146515"/>
                </a:moveTo>
                <a:lnTo>
                  <a:pt x="317602" y="99013"/>
                </a:lnTo>
                <a:lnTo>
                  <a:pt x="291051" y="58644"/>
                </a:lnTo>
                <a:lnTo>
                  <a:pt x="251924" y="27375"/>
                </a:lnTo>
                <a:lnTo>
                  <a:pt x="204413" y="7171"/>
                </a:lnTo>
                <a:lnTo>
                  <a:pt x="152709" y="0"/>
                </a:lnTo>
                <a:lnTo>
                  <a:pt x="103498" y="7171"/>
                </a:lnTo>
                <a:lnTo>
                  <a:pt x="61460" y="27375"/>
                </a:lnTo>
                <a:lnTo>
                  <a:pt x="28757" y="58644"/>
                </a:lnTo>
                <a:lnTo>
                  <a:pt x="7549" y="99013"/>
                </a:lnTo>
                <a:lnTo>
                  <a:pt x="0" y="146515"/>
                </a:lnTo>
                <a:lnTo>
                  <a:pt x="7549" y="196009"/>
                </a:lnTo>
                <a:lnTo>
                  <a:pt x="28757" y="241489"/>
                </a:lnTo>
                <a:lnTo>
                  <a:pt x="61460" y="278944"/>
                </a:lnTo>
                <a:lnTo>
                  <a:pt x="103498" y="304359"/>
                </a:lnTo>
                <a:lnTo>
                  <a:pt x="152709" y="313723"/>
                </a:lnTo>
                <a:lnTo>
                  <a:pt x="195974" y="307143"/>
                </a:lnTo>
                <a:lnTo>
                  <a:pt x="236812" y="288951"/>
                </a:lnTo>
                <a:lnTo>
                  <a:pt x="272798" y="261470"/>
                </a:lnTo>
                <a:lnTo>
                  <a:pt x="301506" y="227023"/>
                </a:lnTo>
                <a:lnTo>
                  <a:pt x="320510" y="187930"/>
                </a:lnTo>
                <a:lnTo>
                  <a:pt x="327384" y="146515"/>
                </a:lnTo>
              </a:path>
            </a:pathLst>
          </a:custGeom>
          <a:ln w="42038">
            <a:solidFill>
              <a:srgbClr val="FFDC99"/>
            </a:solidFill>
          </a:ln>
        </p:spPr>
        <p:txBody>
          <a:bodyPr wrap="square" lIns="0" tIns="0" rIns="0" bIns="0" rtlCol="0"/>
          <a:lstStyle/>
          <a:p>
            <a:endParaRPr/>
          </a:p>
        </p:txBody>
      </p:sp>
      <p:sp>
        <p:nvSpPr>
          <p:cNvPr id="8" name="object 8"/>
          <p:cNvSpPr/>
          <p:nvPr/>
        </p:nvSpPr>
        <p:spPr>
          <a:xfrm>
            <a:off x="3142532" y="2285024"/>
            <a:ext cx="370840" cy="335915"/>
          </a:xfrm>
          <a:custGeom>
            <a:avLst/>
            <a:gdLst/>
            <a:ahLst/>
            <a:cxnLst/>
            <a:rect l="l" t="t" r="r" b="b"/>
            <a:pathLst>
              <a:path w="370839" h="335914">
                <a:moveTo>
                  <a:pt x="174066" y="0"/>
                </a:moveTo>
                <a:lnTo>
                  <a:pt x="131028" y="6581"/>
                </a:lnTo>
                <a:lnTo>
                  <a:pt x="90353" y="24786"/>
                </a:lnTo>
                <a:lnTo>
                  <a:pt x="54477" y="52304"/>
                </a:lnTo>
                <a:lnTo>
                  <a:pt x="25835" y="86824"/>
                </a:lnTo>
                <a:lnTo>
                  <a:pt x="6864" y="126034"/>
                </a:lnTo>
                <a:lnTo>
                  <a:pt x="0" y="167625"/>
                </a:lnTo>
                <a:lnTo>
                  <a:pt x="6864" y="209083"/>
                </a:lnTo>
                <a:lnTo>
                  <a:pt x="25835" y="248284"/>
                </a:lnTo>
                <a:lnTo>
                  <a:pt x="54477" y="282873"/>
                </a:lnTo>
                <a:lnTo>
                  <a:pt x="90353" y="310495"/>
                </a:lnTo>
                <a:lnTo>
                  <a:pt x="131028" y="328795"/>
                </a:lnTo>
                <a:lnTo>
                  <a:pt x="174066" y="335418"/>
                </a:lnTo>
                <a:lnTo>
                  <a:pt x="226614" y="328795"/>
                </a:lnTo>
                <a:lnTo>
                  <a:pt x="273664" y="310495"/>
                </a:lnTo>
                <a:lnTo>
                  <a:pt x="313406" y="282873"/>
                </a:lnTo>
                <a:lnTo>
                  <a:pt x="344033" y="248284"/>
                </a:lnTo>
                <a:lnTo>
                  <a:pt x="363736" y="209083"/>
                </a:lnTo>
                <a:lnTo>
                  <a:pt x="370705" y="167625"/>
                </a:lnTo>
                <a:lnTo>
                  <a:pt x="363735" y="126034"/>
                </a:lnTo>
                <a:lnTo>
                  <a:pt x="344033" y="86824"/>
                </a:lnTo>
                <a:lnTo>
                  <a:pt x="313406" y="52304"/>
                </a:lnTo>
                <a:lnTo>
                  <a:pt x="273664" y="24786"/>
                </a:lnTo>
                <a:lnTo>
                  <a:pt x="226614" y="6581"/>
                </a:lnTo>
                <a:lnTo>
                  <a:pt x="174066" y="0"/>
                </a:lnTo>
                <a:close/>
              </a:path>
            </a:pathLst>
          </a:custGeom>
          <a:solidFill>
            <a:srgbClr val="D9AA73"/>
          </a:solidFill>
        </p:spPr>
        <p:txBody>
          <a:bodyPr wrap="square" lIns="0" tIns="0" rIns="0" bIns="0" rtlCol="0"/>
          <a:lstStyle/>
          <a:p>
            <a:endParaRPr/>
          </a:p>
        </p:txBody>
      </p:sp>
      <p:sp>
        <p:nvSpPr>
          <p:cNvPr id="9" name="object 9"/>
          <p:cNvSpPr/>
          <p:nvPr/>
        </p:nvSpPr>
        <p:spPr>
          <a:xfrm>
            <a:off x="3142531" y="2285024"/>
            <a:ext cx="370840" cy="335915"/>
          </a:xfrm>
          <a:custGeom>
            <a:avLst/>
            <a:gdLst/>
            <a:ahLst/>
            <a:cxnLst/>
            <a:rect l="l" t="t" r="r" b="b"/>
            <a:pathLst>
              <a:path w="370839" h="335914">
                <a:moveTo>
                  <a:pt x="363735" y="209083"/>
                </a:moveTo>
                <a:lnTo>
                  <a:pt x="370705" y="167625"/>
                </a:lnTo>
                <a:lnTo>
                  <a:pt x="363735" y="126034"/>
                </a:lnTo>
                <a:lnTo>
                  <a:pt x="344033" y="86824"/>
                </a:lnTo>
                <a:lnTo>
                  <a:pt x="313406" y="52304"/>
                </a:lnTo>
                <a:lnTo>
                  <a:pt x="273664" y="24786"/>
                </a:lnTo>
                <a:lnTo>
                  <a:pt x="226614" y="6581"/>
                </a:lnTo>
                <a:lnTo>
                  <a:pt x="174066" y="0"/>
                </a:lnTo>
                <a:lnTo>
                  <a:pt x="131028" y="6581"/>
                </a:lnTo>
                <a:lnTo>
                  <a:pt x="90353" y="24786"/>
                </a:lnTo>
                <a:lnTo>
                  <a:pt x="54477" y="52304"/>
                </a:lnTo>
                <a:lnTo>
                  <a:pt x="25835" y="86824"/>
                </a:lnTo>
                <a:lnTo>
                  <a:pt x="6864" y="126034"/>
                </a:lnTo>
                <a:lnTo>
                  <a:pt x="0" y="167625"/>
                </a:lnTo>
                <a:lnTo>
                  <a:pt x="6864" y="209083"/>
                </a:lnTo>
                <a:lnTo>
                  <a:pt x="25835" y="248284"/>
                </a:lnTo>
                <a:lnTo>
                  <a:pt x="54477" y="282873"/>
                </a:lnTo>
                <a:lnTo>
                  <a:pt x="90353" y="310495"/>
                </a:lnTo>
                <a:lnTo>
                  <a:pt x="131028" y="328795"/>
                </a:lnTo>
                <a:lnTo>
                  <a:pt x="174066" y="335418"/>
                </a:lnTo>
                <a:lnTo>
                  <a:pt x="226614" y="328795"/>
                </a:lnTo>
                <a:lnTo>
                  <a:pt x="273664" y="310495"/>
                </a:lnTo>
                <a:lnTo>
                  <a:pt x="313406" y="282873"/>
                </a:lnTo>
                <a:lnTo>
                  <a:pt x="344033" y="248284"/>
                </a:lnTo>
                <a:lnTo>
                  <a:pt x="363735" y="209083"/>
                </a:lnTo>
              </a:path>
            </a:pathLst>
          </a:custGeom>
          <a:ln w="41993">
            <a:solidFill>
              <a:srgbClr val="D9AA73"/>
            </a:solidFill>
          </a:ln>
        </p:spPr>
        <p:txBody>
          <a:bodyPr wrap="square" lIns="0" tIns="0" rIns="0" bIns="0" rtlCol="0"/>
          <a:lstStyle/>
          <a:p>
            <a:endParaRPr/>
          </a:p>
        </p:txBody>
      </p:sp>
      <p:sp>
        <p:nvSpPr>
          <p:cNvPr id="10" name="object 10"/>
          <p:cNvSpPr/>
          <p:nvPr/>
        </p:nvSpPr>
        <p:spPr>
          <a:xfrm>
            <a:off x="327384" y="3730513"/>
            <a:ext cx="393065" cy="356235"/>
          </a:xfrm>
          <a:custGeom>
            <a:avLst/>
            <a:gdLst/>
            <a:ahLst/>
            <a:cxnLst/>
            <a:rect l="l" t="t" r="r" b="b"/>
            <a:pathLst>
              <a:path w="393065" h="356235">
                <a:moveTo>
                  <a:pt x="196096" y="0"/>
                </a:moveTo>
                <a:lnTo>
                  <a:pt x="143807" y="6582"/>
                </a:lnTo>
                <a:lnTo>
                  <a:pt x="96919" y="24790"/>
                </a:lnTo>
                <a:lnTo>
                  <a:pt x="57263" y="52315"/>
                </a:lnTo>
                <a:lnTo>
                  <a:pt x="26671" y="86848"/>
                </a:lnTo>
                <a:lnTo>
                  <a:pt x="6972" y="126083"/>
                </a:lnTo>
                <a:lnTo>
                  <a:pt x="0" y="167709"/>
                </a:lnTo>
                <a:lnTo>
                  <a:pt x="5154" y="211135"/>
                </a:lnTo>
                <a:lnTo>
                  <a:pt x="19851" y="250876"/>
                </a:lnTo>
                <a:lnTo>
                  <a:pt x="42935" y="285840"/>
                </a:lnTo>
                <a:lnTo>
                  <a:pt x="73255" y="314936"/>
                </a:lnTo>
                <a:lnTo>
                  <a:pt x="109657" y="337071"/>
                </a:lnTo>
                <a:lnTo>
                  <a:pt x="150988" y="351152"/>
                </a:lnTo>
                <a:lnTo>
                  <a:pt x="196096" y="356089"/>
                </a:lnTo>
                <a:lnTo>
                  <a:pt x="241404" y="351152"/>
                </a:lnTo>
                <a:lnTo>
                  <a:pt x="282879" y="337071"/>
                </a:lnTo>
                <a:lnTo>
                  <a:pt x="319378" y="314936"/>
                </a:lnTo>
                <a:lnTo>
                  <a:pt x="349756" y="285840"/>
                </a:lnTo>
                <a:lnTo>
                  <a:pt x="372871" y="250876"/>
                </a:lnTo>
                <a:lnTo>
                  <a:pt x="387578" y="211135"/>
                </a:lnTo>
                <a:lnTo>
                  <a:pt x="392735" y="167709"/>
                </a:lnTo>
                <a:lnTo>
                  <a:pt x="385759" y="126083"/>
                </a:lnTo>
                <a:lnTo>
                  <a:pt x="366043" y="86848"/>
                </a:lnTo>
                <a:lnTo>
                  <a:pt x="335403" y="52315"/>
                </a:lnTo>
                <a:lnTo>
                  <a:pt x="295655" y="24790"/>
                </a:lnTo>
                <a:lnTo>
                  <a:pt x="248614" y="6582"/>
                </a:lnTo>
                <a:lnTo>
                  <a:pt x="196096" y="0"/>
                </a:lnTo>
                <a:close/>
              </a:path>
            </a:pathLst>
          </a:custGeom>
          <a:solidFill>
            <a:srgbClr val="FFDC99"/>
          </a:solidFill>
        </p:spPr>
        <p:txBody>
          <a:bodyPr wrap="square" lIns="0" tIns="0" rIns="0" bIns="0" rtlCol="0"/>
          <a:lstStyle/>
          <a:p>
            <a:endParaRPr/>
          </a:p>
        </p:txBody>
      </p:sp>
      <p:sp>
        <p:nvSpPr>
          <p:cNvPr id="11" name="object 11"/>
          <p:cNvSpPr/>
          <p:nvPr/>
        </p:nvSpPr>
        <p:spPr>
          <a:xfrm>
            <a:off x="327384" y="3730513"/>
            <a:ext cx="393065" cy="356235"/>
          </a:xfrm>
          <a:custGeom>
            <a:avLst/>
            <a:gdLst/>
            <a:ahLst/>
            <a:cxnLst/>
            <a:rect l="l" t="t" r="r" b="b"/>
            <a:pathLst>
              <a:path w="393065" h="356235">
                <a:moveTo>
                  <a:pt x="392735" y="167709"/>
                </a:moveTo>
                <a:lnTo>
                  <a:pt x="385759" y="126083"/>
                </a:lnTo>
                <a:lnTo>
                  <a:pt x="366043" y="86848"/>
                </a:lnTo>
                <a:lnTo>
                  <a:pt x="335403" y="52315"/>
                </a:lnTo>
                <a:lnTo>
                  <a:pt x="295655" y="24790"/>
                </a:lnTo>
                <a:lnTo>
                  <a:pt x="248614" y="6582"/>
                </a:lnTo>
                <a:lnTo>
                  <a:pt x="196096" y="0"/>
                </a:lnTo>
                <a:lnTo>
                  <a:pt x="143807" y="6582"/>
                </a:lnTo>
                <a:lnTo>
                  <a:pt x="96919" y="24790"/>
                </a:lnTo>
                <a:lnTo>
                  <a:pt x="57263" y="52315"/>
                </a:lnTo>
                <a:lnTo>
                  <a:pt x="26671" y="86848"/>
                </a:lnTo>
                <a:lnTo>
                  <a:pt x="6972" y="126083"/>
                </a:lnTo>
                <a:lnTo>
                  <a:pt x="0" y="167709"/>
                </a:lnTo>
                <a:lnTo>
                  <a:pt x="5154" y="211135"/>
                </a:lnTo>
                <a:lnTo>
                  <a:pt x="19851" y="250876"/>
                </a:lnTo>
                <a:lnTo>
                  <a:pt x="42935" y="285840"/>
                </a:lnTo>
                <a:lnTo>
                  <a:pt x="73255" y="314936"/>
                </a:lnTo>
                <a:lnTo>
                  <a:pt x="109657" y="337071"/>
                </a:lnTo>
                <a:lnTo>
                  <a:pt x="150988" y="351152"/>
                </a:lnTo>
                <a:lnTo>
                  <a:pt x="196096" y="356089"/>
                </a:lnTo>
                <a:lnTo>
                  <a:pt x="241404" y="351152"/>
                </a:lnTo>
                <a:lnTo>
                  <a:pt x="282879" y="337071"/>
                </a:lnTo>
                <a:lnTo>
                  <a:pt x="319378" y="314936"/>
                </a:lnTo>
                <a:lnTo>
                  <a:pt x="349756" y="285840"/>
                </a:lnTo>
                <a:lnTo>
                  <a:pt x="372871" y="250876"/>
                </a:lnTo>
                <a:lnTo>
                  <a:pt x="387578" y="211135"/>
                </a:lnTo>
                <a:lnTo>
                  <a:pt x="392735" y="167709"/>
                </a:lnTo>
              </a:path>
            </a:pathLst>
          </a:custGeom>
          <a:ln w="41995">
            <a:solidFill>
              <a:srgbClr val="FFDC99"/>
            </a:solidFill>
          </a:ln>
        </p:spPr>
        <p:txBody>
          <a:bodyPr wrap="square" lIns="0" tIns="0" rIns="0" bIns="0" rtlCol="0"/>
          <a:lstStyle/>
          <a:p>
            <a:endParaRPr/>
          </a:p>
        </p:txBody>
      </p:sp>
      <p:sp>
        <p:nvSpPr>
          <p:cNvPr id="12" name="object 12"/>
          <p:cNvSpPr/>
          <p:nvPr/>
        </p:nvSpPr>
        <p:spPr>
          <a:xfrm>
            <a:off x="3295328" y="4170186"/>
            <a:ext cx="610870" cy="251460"/>
          </a:xfrm>
          <a:custGeom>
            <a:avLst/>
            <a:gdLst/>
            <a:ahLst/>
            <a:cxnLst/>
            <a:rect l="l" t="t" r="r" b="b"/>
            <a:pathLst>
              <a:path w="610870" h="251460">
                <a:moveTo>
                  <a:pt x="0" y="251334"/>
                </a:moveTo>
                <a:lnTo>
                  <a:pt x="610817" y="251334"/>
                </a:lnTo>
                <a:lnTo>
                  <a:pt x="610817" y="0"/>
                </a:lnTo>
                <a:lnTo>
                  <a:pt x="0" y="0"/>
                </a:lnTo>
                <a:lnTo>
                  <a:pt x="0" y="251334"/>
                </a:lnTo>
                <a:close/>
              </a:path>
            </a:pathLst>
          </a:custGeom>
          <a:solidFill>
            <a:srgbClr val="FFFFFF"/>
          </a:solidFill>
        </p:spPr>
        <p:txBody>
          <a:bodyPr wrap="square" lIns="0" tIns="0" rIns="0" bIns="0" rtlCol="0"/>
          <a:lstStyle/>
          <a:p>
            <a:endParaRPr/>
          </a:p>
        </p:txBody>
      </p:sp>
      <p:sp>
        <p:nvSpPr>
          <p:cNvPr id="13" name="object 13"/>
          <p:cNvSpPr/>
          <p:nvPr/>
        </p:nvSpPr>
        <p:spPr>
          <a:xfrm>
            <a:off x="3056015" y="4191323"/>
            <a:ext cx="118521" cy="104826"/>
          </a:xfrm>
          <a:prstGeom prst="rect">
            <a:avLst/>
          </a:prstGeom>
          <a:blipFill>
            <a:blip r:embed="rId2" cstate="print"/>
            <a:stretch>
              <a:fillRect/>
            </a:stretch>
          </a:blipFill>
        </p:spPr>
        <p:txBody>
          <a:bodyPr wrap="square" lIns="0" tIns="0" rIns="0" bIns="0" rtlCol="0"/>
          <a:lstStyle/>
          <a:p>
            <a:endParaRPr/>
          </a:p>
        </p:txBody>
      </p:sp>
      <p:sp>
        <p:nvSpPr>
          <p:cNvPr id="14" name="object 14"/>
          <p:cNvSpPr txBox="1"/>
          <p:nvPr/>
        </p:nvSpPr>
        <p:spPr>
          <a:xfrm>
            <a:off x="3295328" y="4170186"/>
            <a:ext cx="610870" cy="251460"/>
          </a:xfrm>
          <a:prstGeom prst="rect">
            <a:avLst/>
          </a:prstGeom>
          <a:ln w="41524">
            <a:solidFill>
              <a:srgbClr val="000000"/>
            </a:solidFill>
          </a:ln>
        </p:spPr>
        <p:txBody>
          <a:bodyPr vert="horz" wrap="square" lIns="0" tIns="44450" rIns="0" bIns="0" rtlCol="0">
            <a:spAutoFit/>
          </a:bodyPr>
          <a:lstStyle/>
          <a:p>
            <a:pPr algn="ctr">
              <a:lnSpc>
                <a:spcPct val="100000"/>
              </a:lnSpc>
              <a:spcBef>
                <a:spcPts val="350"/>
              </a:spcBef>
            </a:pPr>
            <a:r>
              <a:rPr sz="1300" spc="-40" dirty="0">
                <a:latin typeface="Arial"/>
                <a:cs typeface="Arial"/>
              </a:rPr>
              <a:t>24</a:t>
            </a:r>
            <a:endParaRPr sz="1300">
              <a:latin typeface="Arial"/>
              <a:cs typeface="Arial"/>
            </a:endParaRPr>
          </a:p>
        </p:txBody>
      </p:sp>
      <p:sp>
        <p:nvSpPr>
          <p:cNvPr id="15" name="object 15"/>
          <p:cNvSpPr txBox="1"/>
          <p:nvPr/>
        </p:nvSpPr>
        <p:spPr>
          <a:xfrm>
            <a:off x="423985" y="3843234"/>
            <a:ext cx="200660"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Arial"/>
                <a:cs typeface="Arial"/>
              </a:rPr>
              <a:t>15</a:t>
            </a:r>
            <a:endParaRPr sz="1300">
              <a:latin typeface="Arial"/>
              <a:cs typeface="Arial"/>
            </a:endParaRPr>
          </a:p>
        </p:txBody>
      </p:sp>
      <p:sp>
        <p:nvSpPr>
          <p:cNvPr id="16" name="object 16"/>
          <p:cNvSpPr/>
          <p:nvPr/>
        </p:nvSpPr>
        <p:spPr>
          <a:xfrm>
            <a:off x="21968" y="2787650"/>
            <a:ext cx="393065" cy="356235"/>
          </a:xfrm>
          <a:custGeom>
            <a:avLst/>
            <a:gdLst/>
            <a:ahLst/>
            <a:cxnLst/>
            <a:rect l="l" t="t" r="r" b="b"/>
            <a:pathLst>
              <a:path w="393065" h="356235">
                <a:moveTo>
                  <a:pt x="196113" y="0"/>
                </a:moveTo>
                <a:lnTo>
                  <a:pt x="143817" y="6618"/>
                </a:lnTo>
                <a:lnTo>
                  <a:pt x="96924" y="24906"/>
                </a:lnTo>
                <a:lnTo>
                  <a:pt x="57265" y="52513"/>
                </a:lnTo>
                <a:lnTo>
                  <a:pt x="26671" y="87087"/>
                </a:lnTo>
                <a:lnTo>
                  <a:pt x="6973" y="126276"/>
                </a:lnTo>
                <a:lnTo>
                  <a:pt x="0" y="167730"/>
                </a:lnTo>
                <a:lnTo>
                  <a:pt x="5155" y="211148"/>
                </a:lnTo>
                <a:lnTo>
                  <a:pt x="19851" y="250883"/>
                </a:lnTo>
                <a:lnTo>
                  <a:pt x="42937" y="285844"/>
                </a:lnTo>
                <a:lnTo>
                  <a:pt x="73258" y="314938"/>
                </a:lnTo>
                <a:lnTo>
                  <a:pt x="109664" y="337071"/>
                </a:lnTo>
                <a:lnTo>
                  <a:pt x="150999" y="351153"/>
                </a:lnTo>
                <a:lnTo>
                  <a:pt x="196113" y="356089"/>
                </a:lnTo>
                <a:lnTo>
                  <a:pt x="241421" y="351153"/>
                </a:lnTo>
                <a:lnTo>
                  <a:pt x="282896" y="337071"/>
                </a:lnTo>
                <a:lnTo>
                  <a:pt x="319395" y="314938"/>
                </a:lnTo>
                <a:lnTo>
                  <a:pt x="349773" y="285844"/>
                </a:lnTo>
                <a:lnTo>
                  <a:pt x="372888" y="250883"/>
                </a:lnTo>
                <a:lnTo>
                  <a:pt x="387595" y="211148"/>
                </a:lnTo>
                <a:lnTo>
                  <a:pt x="392752" y="167730"/>
                </a:lnTo>
                <a:lnTo>
                  <a:pt x="385777" y="126276"/>
                </a:lnTo>
                <a:lnTo>
                  <a:pt x="366061" y="87087"/>
                </a:lnTo>
                <a:lnTo>
                  <a:pt x="335421" y="52513"/>
                </a:lnTo>
                <a:lnTo>
                  <a:pt x="295672" y="24906"/>
                </a:lnTo>
                <a:lnTo>
                  <a:pt x="248631" y="6618"/>
                </a:lnTo>
                <a:lnTo>
                  <a:pt x="196113" y="0"/>
                </a:lnTo>
                <a:close/>
              </a:path>
            </a:pathLst>
          </a:custGeom>
          <a:solidFill>
            <a:srgbClr val="FFDC99"/>
          </a:solidFill>
        </p:spPr>
        <p:txBody>
          <a:bodyPr wrap="square" lIns="0" tIns="0" rIns="0" bIns="0" rtlCol="0"/>
          <a:lstStyle/>
          <a:p>
            <a:endParaRPr/>
          </a:p>
        </p:txBody>
      </p:sp>
      <p:sp>
        <p:nvSpPr>
          <p:cNvPr id="17" name="object 17"/>
          <p:cNvSpPr/>
          <p:nvPr/>
        </p:nvSpPr>
        <p:spPr>
          <a:xfrm>
            <a:off x="21968" y="2787650"/>
            <a:ext cx="393065" cy="356235"/>
          </a:xfrm>
          <a:custGeom>
            <a:avLst/>
            <a:gdLst/>
            <a:ahLst/>
            <a:cxnLst/>
            <a:rect l="l" t="t" r="r" b="b"/>
            <a:pathLst>
              <a:path w="393065" h="356235">
                <a:moveTo>
                  <a:pt x="392752" y="167730"/>
                </a:moveTo>
                <a:lnTo>
                  <a:pt x="385776" y="126276"/>
                </a:lnTo>
                <a:lnTo>
                  <a:pt x="366061" y="87087"/>
                </a:lnTo>
                <a:lnTo>
                  <a:pt x="335421" y="52513"/>
                </a:lnTo>
                <a:lnTo>
                  <a:pt x="295672" y="24906"/>
                </a:lnTo>
                <a:lnTo>
                  <a:pt x="248631" y="6618"/>
                </a:lnTo>
                <a:lnTo>
                  <a:pt x="196113" y="0"/>
                </a:lnTo>
                <a:lnTo>
                  <a:pt x="143817" y="6618"/>
                </a:lnTo>
                <a:lnTo>
                  <a:pt x="96924" y="24906"/>
                </a:lnTo>
                <a:lnTo>
                  <a:pt x="57265" y="52513"/>
                </a:lnTo>
                <a:lnTo>
                  <a:pt x="26671" y="87087"/>
                </a:lnTo>
                <a:lnTo>
                  <a:pt x="6973" y="126276"/>
                </a:lnTo>
                <a:lnTo>
                  <a:pt x="0" y="167730"/>
                </a:lnTo>
                <a:lnTo>
                  <a:pt x="5155" y="211148"/>
                </a:lnTo>
                <a:lnTo>
                  <a:pt x="19851" y="250883"/>
                </a:lnTo>
                <a:lnTo>
                  <a:pt x="42937" y="285844"/>
                </a:lnTo>
                <a:lnTo>
                  <a:pt x="73258" y="314938"/>
                </a:lnTo>
                <a:lnTo>
                  <a:pt x="109664" y="337071"/>
                </a:lnTo>
                <a:lnTo>
                  <a:pt x="150999" y="351153"/>
                </a:lnTo>
                <a:lnTo>
                  <a:pt x="196113" y="356089"/>
                </a:lnTo>
                <a:lnTo>
                  <a:pt x="241421" y="351153"/>
                </a:lnTo>
                <a:lnTo>
                  <a:pt x="282896" y="337071"/>
                </a:lnTo>
                <a:lnTo>
                  <a:pt x="319395" y="314938"/>
                </a:lnTo>
                <a:lnTo>
                  <a:pt x="349773" y="285844"/>
                </a:lnTo>
                <a:lnTo>
                  <a:pt x="372888" y="250883"/>
                </a:lnTo>
                <a:lnTo>
                  <a:pt x="387595" y="211148"/>
                </a:lnTo>
                <a:lnTo>
                  <a:pt x="392752" y="167730"/>
                </a:lnTo>
              </a:path>
            </a:pathLst>
          </a:custGeom>
          <a:ln w="41994">
            <a:solidFill>
              <a:srgbClr val="FFDC99"/>
            </a:solidFill>
          </a:ln>
        </p:spPr>
        <p:txBody>
          <a:bodyPr wrap="square" lIns="0" tIns="0" rIns="0" bIns="0" rtlCol="0"/>
          <a:lstStyle/>
          <a:p>
            <a:endParaRPr/>
          </a:p>
        </p:txBody>
      </p:sp>
      <p:sp>
        <p:nvSpPr>
          <p:cNvPr id="18" name="object 18"/>
          <p:cNvSpPr/>
          <p:nvPr/>
        </p:nvSpPr>
        <p:spPr>
          <a:xfrm>
            <a:off x="2422390" y="1405093"/>
            <a:ext cx="393065" cy="398145"/>
          </a:xfrm>
          <a:custGeom>
            <a:avLst/>
            <a:gdLst/>
            <a:ahLst/>
            <a:cxnLst/>
            <a:rect l="l" t="t" r="r" b="b"/>
            <a:pathLst>
              <a:path w="393064" h="398144">
                <a:moveTo>
                  <a:pt x="196204" y="0"/>
                </a:moveTo>
                <a:lnTo>
                  <a:pt x="151029" y="4971"/>
                </a:lnTo>
                <a:lnTo>
                  <a:pt x="109659" y="19141"/>
                </a:lnTo>
                <a:lnTo>
                  <a:pt x="73239" y="41394"/>
                </a:lnTo>
                <a:lnTo>
                  <a:pt x="42917" y="70617"/>
                </a:lnTo>
                <a:lnTo>
                  <a:pt x="19838" y="105693"/>
                </a:lnTo>
                <a:lnTo>
                  <a:pt x="5150" y="145507"/>
                </a:lnTo>
                <a:lnTo>
                  <a:pt x="0" y="188944"/>
                </a:lnTo>
                <a:lnTo>
                  <a:pt x="5150" y="240008"/>
                </a:lnTo>
                <a:lnTo>
                  <a:pt x="19838" y="285223"/>
                </a:lnTo>
                <a:lnTo>
                  <a:pt x="42917" y="323856"/>
                </a:lnTo>
                <a:lnTo>
                  <a:pt x="73239" y="355177"/>
                </a:lnTo>
                <a:lnTo>
                  <a:pt x="109659" y="378454"/>
                </a:lnTo>
                <a:lnTo>
                  <a:pt x="151029" y="392957"/>
                </a:lnTo>
                <a:lnTo>
                  <a:pt x="196204" y="397954"/>
                </a:lnTo>
                <a:lnTo>
                  <a:pt x="241471" y="392957"/>
                </a:lnTo>
                <a:lnTo>
                  <a:pt x="282931" y="378454"/>
                </a:lnTo>
                <a:lnTo>
                  <a:pt x="319431" y="355177"/>
                </a:lnTo>
                <a:lnTo>
                  <a:pt x="349824" y="323856"/>
                </a:lnTo>
                <a:lnTo>
                  <a:pt x="372956" y="285223"/>
                </a:lnTo>
                <a:lnTo>
                  <a:pt x="387680" y="240008"/>
                </a:lnTo>
                <a:lnTo>
                  <a:pt x="392843" y="188944"/>
                </a:lnTo>
                <a:lnTo>
                  <a:pt x="387680" y="145507"/>
                </a:lnTo>
                <a:lnTo>
                  <a:pt x="372956" y="105693"/>
                </a:lnTo>
                <a:lnTo>
                  <a:pt x="349824" y="70617"/>
                </a:lnTo>
                <a:lnTo>
                  <a:pt x="319431" y="41394"/>
                </a:lnTo>
                <a:lnTo>
                  <a:pt x="282931" y="19141"/>
                </a:lnTo>
                <a:lnTo>
                  <a:pt x="241471" y="4971"/>
                </a:lnTo>
                <a:lnTo>
                  <a:pt x="196204" y="0"/>
                </a:lnTo>
                <a:close/>
              </a:path>
            </a:pathLst>
          </a:custGeom>
          <a:solidFill>
            <a:srgbClr val="D9AA73"/>
          </a:solidFill>
        </p:spPr>
        <p:txBody>
          <a:bodyPr wrap="square" lIns="0" tIns="0" rIns="0" bIns="0" rtlCol="0"/>
          <a:lstStyle/>
          <a:p>
            <a:endParaRPr/>
          </a:p>
        </p:txBody>
      </p:sp>
      <p:sp>
        <p:nvSpPr>
          <p:cNvPr id="19" name="object 19"/>
          <p:cNvSpPr txBox="1"/>
          <p:nvPr/>
        </p:nvSpPr>
        <p:spPr>
          <a:xfrm>
            <a:off x="161974" y="2879741"/>
            <a:ext cx="122555" cy="226695"/>
          </a:xfrm>
          <a:prstGeom prst="rect">
            <a:avLst/>
          </a:prstGeom>
        </p:spPr>
        <p:txBody>
          <a:bodyPr vert="horz" wrap="square" lIns="0" tIns="15240" rIns="0" bIns="0" rtlCol="0">
            <a:spAutoFit/>
          </a:bodyPr>
          <a:lstStyle/>
          <a:p>
            <a:pPr marL="12700">
              <a:lnSpc>
                <a:spcPct val="100000"/>
              </a:lnSpc>
              <a:spcBef>
                <a:spcPts val="120"/>
              </a:spcBef>
            </a:pPr>
            <a:r>
              <a:rPr sz="1300" spc="35" dirty="0">
                <a:latin typeface="Arial"/>
                <a:cs typeface="Arial"/>
              </a:rPr>
              <a:t>9</a:t>
            </a:r>
            <a:endParaRPr sz="1300">
              <a:latin typeface="Arial"/>
              <a:cs typeface="Arial"/>
            </a:endParaRPr>
          </a:p>
        </p:txBody>
      </p:sp>
      <p:sp>
        <p:nvSpPr>
          <p:cNvPr id="20" name="object 20"/>
          <p:cNvSpPr/>
          <p:nvPr/>
        </p:nvSpPr>
        <p:spPr>
          <a:xfrm>
            <a:off x="349348" y="1824157"/>
            <a:ext cx="393065" cy="356235"/>
          </a:xfrm>
          <a:custGeom>
            <a:avLst/>
            <a:gdLst/>
            <a:ahLst/>
            <a:cxnLst/>
            <a:rect l="l" t="t" r="r" b="b"/>
            <a:pathLst>
              <a:path w="393065" h="356235">
                <a:moveTo>
                  <a:pt x="196096" y="0"/>
                </a:moveTo>
                <a:lnTo>
                  <a:pt x="143807" y="6581"/>
                </a:lnTo>
                <a:lnTo>
                  <a:pt x="96919" y="24786"/>
                </a:lnTo>
                <a:lnTo>
                  <a:pt x="57263" y="52304"/>
                </a:lnTo>
                <a:lnTo>
                  <a:pt x="26671" y="86824"/>
                </a:lnTo>
                <a:lnTo>
                  <a:pt x="6972" y="126034"/>
                </a:lnTo>
                <a:lnTo>
                  <a:pt x="0" y="167625"/>
                </a:lnTo>
                <a:lnTo>
                  <a:pt x="5154" y="211105"/>
                </a:lnTo>
                <a:lnTo>
                  <a:pt x="19851" y="250885"/>
                </a:lnTo>
                <a:lnTo>
                  <a:pt x="42935" y="285876"/>
                </a:lnTo>
                <a:lnTo>
                  <a:pt x="73255" y="314987"/>
                </a:lnTo>
                <a:lnTo>
                  <a:pt x="109657" y="337130"/>
                </a:lnTo>
                <a:lnTo>
                  <a:pt x="150988" y="351215"/>
                </a:lnTo>
                <a:lnTo>
                  <a:pt x="196096" y="356152"/>
                </a:lnTo>
                <a:lnTo>
                  <a:pt x="241412" y="351215"/>
                </a:lnTo>
                <a:lnTo>
                  <a:pt x="282893" y="337130"/>
                </a:lnTo>
                <a:lnTo>
                  <a:pt x="319395" y="314987"/>
                </a:lnTo>
                <a:lnTo>
                  <a:pt x="349776" y="285876"/>
                </a:lnTo>
                <a:lnTo>
                  <a:pt x="372892" y="250885"/>
                </a:lnTo>
                <a:lnTo>
                  <a:pt x="387600" y="211105"/>
                </a:lnTo>
                <a:lnTo>
                  <a:pt x="392756" y="167625"/>
                </a:lnTo>
                <a:lnTo>
                  <a:pt x="385781" y="126034"/>
                </a:lnTo>
                <a:lnTo>
                  <a:pt x="366064" y="86824"/>
                </a:lnTo>
                <a:lnTo>
                  <a:pt x="335422" y="52304"/>
                </a:lnTo>
                <a:lnTo>
                  <a:pt x="295670" y="24786"/>
                </a:lnTo>
                <a:lnTo>
                  <a:pt x="248623" y="6581"/>
                </a:lnTo>
                <a:lnTo>
                  <a:pt x="196096" y="0"/>
                </a:lnTo>
                <a:close/>
              </a:path>
            </a:pathLst>
          </a:custGeom>
          <a:solidFill>
            <a:srgbClr val="FFDC99"/>
          </a:solidFill>
        </p:spPr>
        <p:txBody>
          <a:bodyPr wrap="square" lIns="0" tIns="0" rIns="0" bIns="0" rtlCol="0"/>
          <a:lstStyle/>
          <a:p>
            <a:endParaRPr/>
          </a:p>
        </p:txBody>
      </p:sp>
      <p:sp>
        <p:nvSpPr>
          <p:cNvPr id="21" name="object 21"/>
          <p:cNvSpPr/>
          <p:nvPr/>
        </p:nvSpPr>
        <p:spPr>
          <a:xfrm>
            <a:off x="349348" y="1824157"/>
            <a:ext cx="393065" cy="356235"/>
          </a:xfrm>
          <a:custGeom>
            <a:avLst/>
            <a:gdLst/>
            <a:ahLst/>
            <a:cxnLst/>
            <a:rect l="l" t="t" r="r" b="b"/>
            <a:pathLst>
              <a:path w="393065" h="356235">
                <a:moveTo>
                  <a:pt x="392756" y="167625"/>
                </a:moveTo>
                <a:lnTo>
                  <a:pt x="385781" y="126034"/>
                </a:lnTo>
                <a:lnTo>
                  <a:pt x="366064" y="86824"/>
                </a:lnTo>
                <a:lnTo>
                  <a:pt x="335422" y="52304"/>
                </a:lnTo>
                <a:lnTo>
                  <a:pt x="295670" y="24786"/>
                </a:lnTo>
                <a:lnTo>
                  <a:pt x="248623" y="6581"/>
                </a:lnTo>
                <a:lnTo>
                  <a:pt x="196096" y="0"/>
                </a:lnTo>
                <a:lnTo>
                  <a:pt x="143807" y="6581"/>
                </a:lnTo>
                <a:lnTo>
                  <a:pt x="96919" y="24786"/>
                </a:lnTo>
                <a:lnTo>
                  <a:pt x="57263" y="52304"/>
                </a:lnTo>
                <a:lnTo>
                  <a:pt x="26671" y="86824"/>
                </a:lnTo>
                <a:lnTo>
                  <a:pt x="6972" y="126034"/>
                </a:lnTo>
                <a:lnTo>
                  <a:pt x="0" y="167625"/>
                </a:lnTo>
                <a:lnTo>
                  <a:pt x="5154" y="211105"/>
                </a:lnTo>
                <a:lnTo>
                  <a:pt x="19851" y="250885"/>
                </a:lnTo>
                <a:lnTo>
                  <a:pt x="42935" y="285876"/>
                </a:lnTo>
                <a:lnTo>
                  <a:pt x="73255" y="314987"/>
                </a:lnTo>
                <a:lnTo>
                  <a:pt x="109657" y="337130"/>
                </a:lnTo>
                <a:lnTo>
                  <a:pt x="150988" y="351215"/>
                </a:lnTo>
                <a:lnTo>
                  <a:pt x="196096" y="356152"/>
                </a:lnTo>
                <a:lnTo>
                  <a:pt x="241412" y="351215"/>
                </a:lnTo>
                <a:lnTo>
                  <a:pt x="282893" y="337130"/>
                </a:lnTo>
                <a:lnTo>
                  <a:pt x="319395" y="314987"/>
                </a:lnTo>
                <a:lnTo>
                  <a:pt x="349776" y="285876"/>
                </a:lnTo>
                <a:lnTo>
                  <a:pt x="372892" y="250885"/>
                </a:lnTo>
                <a:lnTo>
                  <a:pt x="387600" y="211105"/>
                </a:lnTo>
                <a:lnTo>
                  <a:pt x="392756" y="167625"/>
                </a:lnTo>
              </a:path>
            </a:pathLst>
          </a:custGeom>
          <a:ln w="41995">
            <a:solidFill>
              <a:srgbClr val="FFDC99"/>
            </a:solidFill>
          </a:ln>
        </p:spPr>
        <p:txBody>
          <a:bodyPr wrap="square" lIns="0" tIns="0" rIns="0" bIns="0" rtlCol="0"/>
          <a:lstStyle/>
          <a:p>
            <a:endParaRPr/>
          </a:p>
        </p:txBody>
      </p:sp>
      <p:sp>
        <p:nvSpPr>
          <p:cNvPr id="22" name="object 22"/>
          <p:cNvSpPr txBox="1"/>
          <p:nvPr/>
        </p:nvSpPr>
        <p:spPr>
          <a:xfrm>
            <a:off x="489358" y="1916311"/>
            <a:ext cx="122555" cy="226695"/>
          </a:xfrm>
          <a:prstGeom prst="rect">
            <a:avLst/>
          </a:prstGeom>
        </p:spPr>
        <p:txBody>
          <a:bodyPr vert="horz" wrap="square" lIns="0" tIns="15240" rIns="0" bIns="0" rtlCol="0">
            <a:spAutoFit/>
          </a:bodyPr>
          <a:lstStyle/>
          <a:p>
            <a:pPr marL="12700">
              <a:lnSpc>
                <a:spcPct val="100000"/>
              </a:lnSpc>
              <a:spcBef>
                <a:spcPts val="120"/>
              </a:spcBef>
            </a:pPr>
            <a:r>
              <a:rPr sz="1300" spc="35" dirty="0">
                <a:latin typeface="Arial"/>
                <a:cs typeface="Arial"/>
              </a:rPr>
              <a:t>4</a:t>
            </a:r>
            <a:endParaRPr sz="1300">
              <a:latin typeface="Arial"/>
              <a:cs typeface="Arial"/>
            </a:endParaRPr>
          </a:p>
        </p:txBody>
      </p:sp>
      <p:sp>
        <p:nvSpPr>
          <p:cNvPr id="23" name="object 23"/>
          <p:cNvSpPr/>
          <p:nvPr/>
        </p:nvSpPr>
        <p:spPr>
          <a:xfrm>
            <a:off x="1287550" y="1258577"/>
            <a:ext cx="393065" cy="356235"/>
          </a:xfrm>
          <a:custGeom>
            <a:avLst/>
            <a:gdLst/>
            <a:ahLst/>
            <a:cxnLst/>
            <a:rect l="l" t="t" r="r" b="b"/>
            <a:pathLst>
              <a:path w="393064" h="356234">
                <a:moveTo>
                  <a:pt x="196096" y="0"/>
                </a:moveTo>
                <a:lnTo>
                  <a:pt x="143806" y="6581"/>
                </a:lnTo>
                <a:lnTo>
                  <a:pt x="96919" y="24786"/>
                </a:lnTo>
                <a:lnTo>
                  <a:pt x="57263" y="52304"/>
                </a:lnTo>
                <a:lnTo>
                  <a:pt x="26671" y="86824"/>
                </a:lnTo>
                <a:lnTo>
                  <a:pt x="6972" y="126034"/>
                </a:lnTo>
                <a:lnTo>
                  <a:pt x="0" y="167625"/>
                </a:lnTo>
                <a:lnTo>
                  <a:pt x="5155" y="211105"/>
                </a:lnTo>
                <a:lnTo>
                  <a:pt x="19851" y="250885"/>
                </a:lnTo>
                <a:lnTo>
                  <a:pt x="42935" y="285876"/>
                </a:lnTo>
                <a:lnTo>
                  <a:pt x="73255" y="314987"/>
                </a:lnTo>
                <a:lnTo>
                  <a:pt x="109657" y="337130"/>
                </a:lnTo>
                <a:lnTo>
                  <a:pt x="150988" y="351215"/>
                </a:lnTo>
                <a:lnTo>
                  <a:pt x="196096" y="356152"/>
                </a:lnTo>
                <a:lnTo>
                  <a:pt x="241412" y="351215"/>
                </a:lnTo>
                <a:lnTo>
                  <a:pt x="282893" y="337130"/>
                </a:lnTo>
                <a:lnTo>
                  <a:pt x="319395" y="314987"/>
                </a:lnTo>
                <a:lnTo>
                  <a:pt x="349776" y="285876"/>
                </a:lnTo>
                <a:lnTo>
                  <a:pt x="372892" y="250885"/>
                </a:lnTo>
                <a:lnTo>
                  <a:pt x="387600" y="211105"/>
                </a:lnTo>
                <a:lnTo>
                  <a:pt x="392756" y="167625"/>
                </a:lnTo>
                <a:lnTo>
                  <a:pt x="385781" y="126034"/>
                </a:lnTo>
                <a:lnTo>
                  <a:pt x="366064" y="86824"/>
                </a:lnTo>
                <a:lnTo>
                  <a:pt x="335422" y="52304"/>
                </a:lnTo>
                <a:lnTo>
                  <a:pt x="295670" y="24786"/>
                </a:lnTo>
                <a:lnTo>
                  <a:pt x="248623" y="6581"/>
                </a:lnTo>
                <a:lnTo>
                  <a:pt x="196096" y="0"/>
                </a:lnTo>
                <a:close/>
              </a:path>
            </a:pathLst>
          </a:custGeom>
          <a:solidFill>
            <a:srgbClr val="FFDC99"/>
          </a:solidFill>
        </p:spPr>
        <p:txBody>
          <a:bodyPr wrap="square" lIns="0" tIns="0" rIns="0" bIns="0" rtlCol="0"/>
          <a:lstStyle/>
          <a:p>
            <a:endParaRPr/>
          </a:p>
        </p:txBody>
      </p:sp>
      <p:sp>
        <p:nvSpPr>
          <p:cNvPr id="24" name="object 24"/>
          <p:cNvSpPr/>
          <p:nvPr/>
        </p:nvSpPr>
        <p:spPr>
          <a:xfrm>
            <a:off x="1287550" y="1258577"/>
            <a:ext cx="393065" cy="356235"/>
          </a:xfrm>
          <a:custGeom>
            <a:avLst/>
            <a:gdLst/>
            <a:ahLst/>
            <a:cxnLst/>
            <a:rect l="l" t="t" r="r" b="b"/>
            <a:pathLst>
              <a:path w="393064" h="356234">
                <a:moveTo>
                  <a:pt x="387600" y="211105"/>
                </a:moveTo>
                <a:lnTo>
                  <a:pt x="392756" y="167625"/>
                </a:lnTo>
                <a:lnTo>
                  <a:pt x="385781" y="126034"/>
                </a:lnTo>
                <a:lnTo>
                  <a:pt x="366064" y="86824"/>
                </a:lnTo>
                <a:lnTo>
                  <a:pt x="335422" y="52304"/>
                </a:lnTo>
                <a:lnTo>
                  <a:pt x="295670" y="24786"/>
                </a:lnTo>
                <a:lnTo>
                  <a:pt x="248623" y="6581"/>
                </a:lnTo>
                <a:lnTo>
                  <a:pt x="196096" y="0"/>
                </a:lnTo>
                <a:lnTo>
                  <a:pt x="143807" y="6581"/>
                </a:lnTo>
                <a:lnTo>
                  <a:pt x="96919" y="24786"/>
                </a:lnTo>
                <a:lnTo>
                  <a:pt x="57263" y="52304"/>
                </a:lnTo>
                <a:lnTo>
                  <a:pt x="26671" y="86824"/>
                </a:lnTo>
                <a:lnTo>
                  <a:pt x="6972" y="126034"/>
                </a:lnTo>
                <a:lnTo>
                  <a:pt x="0" y="167625"/>
                </a:lnTo>
                <a:lnTo>
                  <a:pt x="5155" y="211105"/>
                </a:lnTo>
                <a:lnTo>
                  <a:pt x="19851" y="250885"/>
                </a:lnTo>
                <a:lnTo>
                  <a:pt x="42935" y="285876"/>
                </a:lnTo>
                <a:lnTo>
                  <a:pt x="73255" y="314987"/>
                </a:lnTo>
                <a:lnTo>
                  <a:pt x="109657" y="337130"/>
                </a:lnTo>
                <a:lnTo>
                  <a:pt x="150988" y="351215"/>
                </a:lnTo>
                <a:lnTo>
                  <a:pt x="196096" y="356152"/>
                </a:lnTo>
                <a:lnTo>
                  <a:pt x="241412" y="351215"/>
                </a:lnTo>
                <a:lnTo>
                  <a:pt x="282893" y="337130"/>
                </a:lnTo>
                <a:lnTo>
                  <a:pt x="319395" y="314987"/>
                </a:lnTo>
                <a:lnTo>
                  <a:pt x="349776" y="285876"/>
                </a:lnTo>
                <a:lnTo>
                  <a:pt x="372892" y="250885"/>
                </a:lnTo>
                <a:lnTo>
                  <a:pt x="387600" y="211105"/>
                </a:lnTo>
              </a:path>
            </a:pathLst>
          </a:custGeom>
          <a:ln w="41995">
            <a:solidFill>
              <a:srgbClr val="FFDC99"/>
            </a:solidFill>
          </a:ln>
        </p:spPr>
        <p:txBody>
          <a:bodyPr wrap="square" lIns="0" tIns="0" rIns="0" bIns="0" rtlCol="0"/>
          <a:lstStyle/>
          <a:p>
            <a:endParaRPr/>
          </a:p>
        </p:txBody>
      </p:sp>
      <p:sp>
        <p:nvSpPr>
          <p:cNvPr id="25" name="object 25"/>
          <p:cNvSpPr txBox="1"/>
          <p:nvPr/>
        </p:nvSpPr>
        <p:spPr>
          <a:xfrm>
            <a:off x="1427560" y="1350731"/>
            <a:ext cx="122555" cy="226695"/>
          </a:xfrm>
          <a:prstGeom prst="rect">
            <a:avLst/>
          </a:prstGeom>
        </p:spPr>
        <p:txBody>
          <a:bodyPr vert="horz" wrap="square" lIns="0" tIns="15240" rIns="0" bIns="0" rtlCol="0">
            <a:spAutoFit/>
          </a:bodyPr>
          <a:lstStyle/>
          <a:p>
            <a:pPr marL="12700">
              <a:lnSpc>
                <a:spcPct val="100000"/>
              </a:lnSpc>
              <a:spcBef>
                <a:spcPts val="120"/>
              </a:spcBef>
            </a:pPr>
            <a:r>
              <a:rPr sz="1300" spc="35" dirty="0">
                <a:latin typeface="Arial"/>
                <a:cs typeface="Arial"/>
              </a:rPr>
              <a:t>3</a:t>
            </a:r>
            <a:endParaRPr sz="1300">
              <a:latin typeface="Arial"/>
              <a:cs typeface="Arial"/>
            </a:endParaRPr>
          </a:p>
        </p:txBody>
      </p:sp>
      <p:sp>
        <p:nvSpPr>
          <p:cNvPr id="26" name="object 26"/>
          <p:cNvSpPr/>
          <p:nvPr/>
        </p:nvSpPr>
        <p:spPr>
          <a:xfrm>
            <a:off x="2509641" y="4170207"/>
            <a:ext cx="393065" cy="356235"/>
          </a:xfrm>
          <a:custGeom>
            <a:avLst/>
            <a:gdLst/>
            <a:ahLst/>
            <a:cxnLst/>
            <a:rect l="l" t="t" r="r" b="b"/>
            <a:pathLst>
              <a:path w="393064" h="356235">
                <a:moveTo>
                  <a:pt x="196204" y="0"/>
                </a:moveTo>
                <a:lnTo>
                  <a:pt x="143914" y="6617"/>
                </a:lnTo>
                <a:lnTo>
                  <a:pt x="97009" y="24901"/>
                </a:lnTo>
                <a:lnTo>
                  <a:pt x="57325" y="52503"/>
                </a:lnTo>
                <a:lnTo>
                  <a:pt x="26703" y="87071"/>
                </a:lnTo>
                <a:lnTo>
                  <a:pt x="6982" y="126257"/>
                </a:lnTo>
                <a:lnTo>
                  <a:pt x="0" y="167709"/>
                </a:lnTo>
                <a:lnTo>
                  <a:pt x="5162" y="211134"/>
                </a:lnTo>
                <a:lnTo>
                  <a:pt x="19876" y="250874"/>
                </a:lnTo>
                <a:lnTo>
                  <a:pt x="42985" y="285836"/>
                </a:lnTo>
                <a:lnTo>
                  <a:pt x="73330" y="314930"/>
                </a:lnTo>
                <a:lnTo>
                  <a:pt x="109754" y="337062"/>
                </a:lnTo>
                <a:lnTo>
                  <a:pt x="151098" y="351143"/>
                </a:lnTo>
                <a:lnTo>
                  <a:pt x="196204" y="356079"/>
                </a:lnTo>
                <a:lnTo>
                  <a:pt x="241540" y="351143"/>
                </a:lnTo>
                <a:lnTo>
                  <a:pt x="283026" y="337062"/>
                </a:lnTo>
                <a:lnTo>
                  <a:pt x="319523" y="314930"/>
                </a:lnTo>
                <a:lnTo>
                  <a:pt x="349892" y="285836"/>
                </a:lnTo>
                <a:lnTo>
                  <a:pt x="372994" y="250874"/>
                </a:lnTo>
                <a:lnTo>
                  <a:pt x="387691" y="211134"/>
                </a:lnTo>
                <a:lnTo>
                  <a:pt x="392843" y="167709"/>
                </a:lnTo>
                <a:lnTo>
                  <a:pt x="385874" y="126257"/>
                </a:lnTo>
                <a:lnTo>
                  <a:pt x="366171" y="87071"/>
                </a:lnTo>
                <a:lnTo>
                  <a:pt x="335544" y="52503"/>
                </a:lnTo>
                <a:lnTo>
                  <a:pt x="295802" y="24901"/>
                </a:lnTo>
                <a:lnTo>
                  <a:pt x="248752" y="6617"/>
                </a:lnTo>
                <a:lnTo>
                  <a:pt x="196204" y="0"/>
                </a:lnTo>
                <a:close/>
              </a:path>
            </a:pathLst>
          </a:custGeom>
          <a:solidFill>
            <a:srgbClr val="FFDC99"/>
          </a:solidFill>
        </p:spPr>
        <p:txBody>
          <a:bodyPr wrap="square" lIns="0" tIns="0" rIns="0" bIns="0" rtlCol="0"/>
          <a:lstStyle/>
          <a:p>
            <a:endParaRPr/>
          </a:p>
        </p:txBody>
      </p:sp>
      <p:sp>
        <p:nvSpPr>
          <p:cNvPr id="27" name="object 27"/>
          <p:cNvSpPr/>
          <p:nvPr/>
        </p:nvSpPr>
        <p:spPr>
          <a:xfrm>
            <a:off x="2509641" y="4170207"/>
            <a:ext cx="393065" cy="356235"/>
          </a:xfrm>
          <a:custGeom>
            <a:avLst/>
            <a:gdLst/>
            <a:ahLst/>
            <a:cxnLst/>
            <a:rect l="l" t="t" r="r" b="b"/>
            <a:pathLst>
              <a:path w="393064" h="356235">
                <a:moveTo>
                  <a:pt x="387691" y="211134"/>
                </a:moveTo>
                <a:lnTo>
                  <a:pt x="392843" y="167709"/>
                </a:lnTo>
                <a:lnTo>
                  <a:pt x="385874" y="126257"/>
                </a:lnTo>
                <a:lnTo>
                  <a:pt x="366171" y="87071"/>
                </a:lnTo>
                <a:lnTo>
                  <a:pt x="335544" y="52503"/>
                </a:lnTo>
                <a:lnTo>
                  <a:pt x="295802" y="24901"/>
                </a:lnTo>
                <a:lnTo>
                  <a:pt x="248752" y="6617"/>
                </a:lnTo>
                <a:lnTo>
                  <a:pt x="196204" y="0"/>
                </a:lnTo>
                <a:lnTo>
                  <a:pt x="143915" y="6617"/>
                </a:lnTo>
                <a:lnTo>
                  <a:pt x="97009" y="24901"/>
                </a:lnTo>
                <a:lnTo>
                  <a:pt x="57325" y="52503"/>
                </a:lnTo>
                <a:lnTo>
                  <a:pt x="26704" y="87071"/>
                </a:lnTo>
                <a:lnTo>
                  <a:pt x="6982" y="126257"/>
                </a:lnTo>
                <a:lnTo>
                  <a:pt x="0" y="167709"/>
                </a:lnTo>
                <a:lnTo>
                  <a:pt x="5162" y="211134"/>
                </a:lnTo>
                <a:lnTo>
                  <a:pt x="19876" y="250874"/>
                </a:lnTo>
                <a:lnTo>
                  <a:pt x="42985" y="285836"/>
                </a:lnTo>
                <a:lnTo>
                  <a:pt x="73330" y="314930"/>
                </a:lnTo>
                <a:lnTo>
                  <a:pt x="109754" y="337062"/>
                </a:lnTo>
                <a:lnTo>
                  <a:pt x="151098" y="351143"/>
                </a:lnTo>
                <a:lnTo>
                  <a:pt x="196204" y="356079"/>
                </a:lnTo>
                <a:lnTo>
                  <a:pt x="241540" y="351143"/>
                </a:lnTo>
                <a:lnTo>
                  <a:pt x="283026" y="337062"/>
                </a:lnTo>
                <a:lnTo>
                  <a:pt x="319523" y="314930"/>
                </a:lnTo>
                <a:lnTo>
                  <a:pt x="349892" y="285836"/>
                </a:lnTo>
                <a:lnTo>
                  <a:pt x="372994" y="250874"/>
                </a:lnTo>
                <a:lnTo>
                  <a:pt x="387691" y="211134"/>
                </a:lnTo>
              </a:path>
            </a:pathLst>
          </a:custGeom>
          <a:ln w="41994">
            <a:solidFill>
              <a:srgbClr val="FFDC99"/>
            </a:solidFill>
          </a:ln>
        </p:spPr>
        <p:txBody>
          <a:bodyPr wrap="square" lIns="0" tIns="0" rIns="0" bIns="0" rtlCol="0"/>
          <a:lstStyle/>
          <a:p>
            <a:endParaRPr/>
          </a:p>
        </p:txBody>
      </p:sp>
      <p:sp>
        <p:nvSpPr>
          <p:cNvPr id="28" name="object 28"/>
          <p:cNvSpPr txBox="1"/>
          <p:nvPr/>
        </p:nvSpPr>
        <p:spPr>
          <a:xfrm>
            <a:off x="2605895" y="4262298"/>
            <a:ext cx="200660"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Arial"/>
                <a:cs typeface="Arial"/>
              </a:rPr>
              <a:t>28</a:t>
            </a:r>
            <a:endParaRPr sz="1300">
              <a:latin typeface="Arial"/>
              <a:cs typeface="Arial"/>
            </a:endParaRPr>
          </a:p>
        </p:txBody>
      </p:sp>
      <p:sp>
        <p:nvSpPr>
          <p:cNvPr id="29" name="object 29"/>
          <p:cNvSpPr txBox="1"/>
          <p:nvPr/>
        </p:nvSpPr>
        <p:spPr>
          <a:xfrm>
            <a:off x="2518428" y="1539049"/>
            <a:ext cx="200660"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Arial"/>
                <a:cs typeface="Arial"/>
              </a:rPr>
              <a:t>17</a:t>
            </a:r>
            <a:endParaRPr sz="1300">
              <a:latin typeface="Arial"/>
              <a:cs typeface="Arial"/>
            </a:endParaRPr>
          </a:p>
        </p:txBody>
      </p:sp>
      <p:sp>
        <p:nvSpPr>
          <p:cNvPr id="30" name="object 30"/>
          <p:cNvSpPr/>
          <p:nvPr/>
        </p:nvSpPr>
        <p:spPr>
          <a:xfrm>
            <a:off x="3120610" y="2285024"/>
            <a:ext cx="415290" cy="377825"/>
          </a:xfrm>
          <a:custGeom>
            <a:avLst/>
            <a:gdLst/>
            <a:ahLst/>
            <a:cxnLst/>
            <a:rect l="l" t="t" r="r" b="b"/>
            <a:pathLst>
              <a:path w="415289" h="377825">
                <a:moveTo>
                  <a:pt x="195987" y="0"/>
                </a:moveTo>
                <a:lnTo>
                  <a:pt x="150893" y="4936"/>
                </a:lnTo>
                <a:lnTo>
                  <a:pt x="109580" y="19016"/>
                </a:lnTo>
                <a:lnTo>
                  <a:pt x="73199" y="41148"/>
                </a:lnTo>
                <a:lnTo>
                  <a:pt x="42900" y="70236"/>
                </a:lnTo>
                <a:lnTo>
                  <a:pt x="19833" y="105190"/>
                </a:lnTo>
                <a:lnTo>
                  <a:pt x="5150" y="144914"/>
                </a:lnTo>
                <a:lnTo>
                  <a:pt x="0" y="188317"/>
                </a:lnTo>
                <a:lnTo>
                  <a:pt x="5150" y="231772"/>
                </a:lnTo>
                <a:lnTo>
                  <a:pt x="19833" y="271588"/>
                </a:lnTo>
                <a:lnTo>
                  <a:pt x="42900" y="306654"/>
                </a:lnTo>
                <a:lnTo>
                  <a:pt x="73199" y="335861"/>
                </a:lnTo>
                <a:lnTo>
                  <a:pt x="109580" y="358098"/>
                </a:lnTo>
                <a:lnTo>
                  <a:pt x="150893" y="372254"/>
                </a:lnTo>
                <a:lnTo>
                  <a:pt x="195987" y="377220"/>
                </a:lnTo>
                <a:lnTo>
                  <a:pt x="249451" y="372254"/>
                </a:lnTo>
                <a:lnTo>
                  <a:pt x="296784" y="358098"/>
                </a:lnTo>
                <a:lnTo>
                  <a:pt x="337222" y="335861"/>
                </a:lnTo>
                <a:lnTo>
                  <a:pt x="370002" y="306654"/>
                </a:lnTo>
                <a:lnTo>
                  <a:pt x="394361" y="271588"/>
                </a:lnTo>
                <a:lnTo>
                  <a:pt x="409536" y="231772"/>
                </a:lnTo>
                <a:lnTo>
                  <a:pt x="414764" y="188317"/>
                </a:lnTo>
                <a:lnTo>
                  <a:pt x="409536" y="144914"/>
                </a:lnTo>
                <a:lnTo>
                  <a:pt x="394361" y="105190"/>
                </a:lnTo>
                <a:lnTo>
                  <a:pt x="370002" y="70236"/>
                </a:lnTo>
                <a:lnTo>
                  <a:pt x="337222" y="41148"/>
                </a:lnTo>
                <a:lnTo>
                  <a:pt x="296784" y="19016"/>
                </a:lnTo>
                <a:lnTo>
                  <a:pt x="249451" y="4936"/>
                </a:lnTo>
                <a:lnTo>
                  <a:pt x="195987" y="0"/>
                </a:lnTo>
                <a:close/>
              </a:path>
            </a:pathLst>
          </a:custGeom>
          <a:solidFill>
            <a:srgbClr val="D9AA73"/>
          </a:solidFill>
        </p:spPr>
        <p:txBody>
          <a:bodyPr wrap="square" lIns="0" tIns="0" rIns="0" bIns="0" rtlCol="0"/>
          <a:lstStyle/>
          <a:p>
            <a:endParaRPr/>
          </a:p>
        </p:txBody>
      </p:sp>
      <p:sp>
        <p:nvSpPr>
          <p:cNvPr id="31" name="object 31"/>
          <p:cNvSpPr txBox="1"/>
          <p:nvPr/>
        </p:nvSpPr>
        <p:spPr>
          <a:xfrm>
            <a:off x="3238569" y="2377177"/>
            <a:ext cx="200660" cy="226695"/>
          </a:xfrm>
          <a:prstGeom prst="rect">
            <a:avLst/>
          </a:prstGeom>
        </p:spPr>
        <p:txBody>
          <a:bodyPr vert="horz" wrap="square" lIns="0" tIns="15240" rIns="0" bIns="0" rtlCol="0">
            <a:spAutoFit/>
          </a:bodyPr>
          <a:lstStyle/>
          <a:p>
            <a:pPr marL="12700">
              <a:lnSpc>
                <a:spcPct val="100000"/>
              </a:lnSpc>
              <a:spcBef>
                <a:spcPts val="120"/>
              </a:spcBef>
            </a:pPr>
            <a:r>
              <a:rPr sz="1300" spc="-40" dirty="0">
                <a:latin typeface="Arial"/>
                <a:cs typeface="Arial"/>
              </a:rPr>
              <a:t>24</a:t>
            </a:r>
            <a:endParaRPr sz="1300">
              <a:latin typeface="Arial"/>
              <a:cs typeface="Arial"/>
            </a:endParaRPr>
          </a:p>
        </p:txBody>
      </p:sp>
      <p:sp>
        <p:nvSpPr>
          <p:cNvPr id="32" name="object 32"/>
          <p:cNvSpPr/>
          <p:nvPr/>
        </p:nvSpPr>
        <p:spPr>
          <a:xfrm>
            <a:off x="3142531" y="3290297"/>
            <a:ext cx="414655" cy="398780"/>
          </a:xfrm>
          <a:custGeom>
            <a:avLst/>
            <a:gdLst/>
            <a:ahLst/>
            <a:cxnLst/>
            <a:rect l="l" t="t" r="r" b="b"/>
            <a:pathLst>
              <a:path w="414654" h="398779">
                <a:moveTo>
                  <a:pt x="196204" y="0"/>
                </a:moveTo>
                <a:lnTo>
                  <a:pt x="151029" y="4965"/>
                </a:lnTo>
                <a:lnTo>
                  <a:pt x="109659" y="19121"/>
                </a:lnTo>
                <a:lnTo>
                  <a:pt x="73239" y="41357"/>
                </a:lnTo>
                <a:lnTo>
                  <a:pt x="42917" y="70561"/>
                </a:lnTo>
                <a:lnTo>
                  <a:pt x="19838" y="105624"/>
                </a:lnTo>
                <a:lnTo>
                  <a:pt x="5150" y="145434"/>
                </a:lnTo>
                <a:lnTo>
                  <a:pt x="0" y="188881"/>
                </a:lnTo>
                <a:lnTo>
                  <a:pt x="5150" y="239975"/>
                </a:lnTo>
                <a:lnTo>
                  <a:pt x="19838" y="285264"/>
                </a:lnTo>
                <a:lnTo>
                  <a:pt x="42917" y="323999"/>
                </a:lnTo>
                <a:lnTo>
                  <a:pt x="73239" y="355431"/>
                </a:lnTo>
                <a:lnTo>
                  <a:pt x="109659" y="378811"/>
                </a:lnTo>
                <a:lnTo>
                  <a:pt x="151029" y="393388"/>
                </a:lnTo>
                <a:lnTo>
                  <a:pt x="196204" y="398414"/>
                </a:lnTo>
                <a:lnTo>
                  <a:pt x="249552" y="393388"/>
                </a:lnTo>
                <a:lnTo>
                  <a:pt x="296734" y="378811"/>
                </a:lnTo>
                <a:lnTo>
                  <a:pt x="337006" y="355431"/>
                </a:lnTo>
                <a:lnTo>
                  <a:pt x="369624" y="323999"/>
                </a:lnTo>
                <a:lnTo>
                  <a:pt x="393844" y="285264"/>
                </a:lnTo>
                <a:lnTo>
                  <a:pt x="408922" y="239975"/>
                </a:lnTo>
                <a:lnTo>
                  <a:pt x="414113" y="188881"/>
                </a:lnTo>
                <a:lnTo>
                  <a:pt x="408922" y="145434"/>
                </a:lnTo>
                <a:lnTo>
                  <a:pt x="393844" y="105624"/>
                </a:lnTo>
                <a:lnTo>
                  <a:pt x="369624" y="70561"/>
                </a:lnTo>
                <a:lnTo>
                  <a:pt x="337006" y="41357"/>
                </a:lnTo>
                <a:lnTo>
                  <a:pt x="296734" y="19121"/>
                </a:lnTo>
                <a:lnTo>
                  <a:pt x="249552" y="4965"/>
                </a:lnTo>
                <a:lnTo>
                  <a:pt x="196204" y="0"/>
                </a:lnTo>
                <a:close/>
              </a:path>
            </a:pathLst>
          </a:custGeom>
          <a:solidFill>
            <a:srgbClr val="D9AA73"/>
          </a:solidFill>
        </p:spPr>
        <p:txBody>
          <a:bodyPr wrap="square" lIns="0" tIns="0" rIns="0" bIns="0" rtlCol="0"/>
          <a:lstStyle/>
          <a:p>
            <a:endParaRPr/>
          </a:p>
        </p:txBody>
      </p:sp>
      <p:sp>
        <p:nvSpPr>
          <p:cNvPr id="33" name="object 33"/>
          <p:cNvSpPr txBox="1"/>
          <p:nvPr/>
        </p:nvSpPr>
        <p:spPr>
          <a:xfrm>
            <a:off x="3326036" y="3403540"/>
            <a:ext cx="122555" cy="226695"/>
          </a:xfrm>
          <a:prstGeom prst="rect">
            <a:avLst/>
          </a:prstGeom>
        </p:spPr>
        <p:txBody>
          <a:bodyPr vert="horz" wrap="square" lIns="0" tIns="15240" rIns="0" bIns="0" rtlCol="0">
            <a:spAutoFit/>
          </a:bodyPr>
          <a:lstStyle/>
          <a:p>
            <a:pPr marL="12700">
              <a:lnSpc>
                <a:spcPct val="100000"/>
              </a:lnSpc>
              <a:spcBef>
                <a:spcPts val="120"/>
              </a:spcBef>
            </a:pPr>
            <a:r>
              <a:rPr sz="1300" spc="35" dirty="0">
                <a:latin typeface="Arial"/>
                <a:cs typeface="Arial"/>
                <a:hlinkClick r:id="rId3"/>
              </a:rPr>
              <a:t>1</a:t>
            </a:r>
            <a:endParaRPr sz="1300">
              <a:latin typeface="Arial"/>
              <a:cs typeface="Arial"/>
            </a:endParaRPr>
          </a:p>
        </p:txBody>
      </p:sp>
      <p:sp>
        <p:nvSpPr>
          <p:cNvPr id="34" name="object 34"/>
          <p:cNvSpPr txBox="1"/>
          <p:nvPr/>
        </p:nvSpPr>
        <p:spPr>
          <a:xfrm>
            <a:off x="3797300" y="390524"/>
            <a:ext cx="4354830" cy="269240"/>
          </a:xfrm>
          <a:prstGeom prst="rect">
            <a:avLst/>
          </a:prstGeom>
        </p:spPr>
        <p:txBody>
          <a:bodyPr vert="horz" wrap="square" lIns="0" tIns="12065" rIns="0" bIns="0" rtlCol="0">
            <a:spAutoFit/>
          </a:bodyPr>
          <a:lstStyle/>
          <a:p>
            <a:pPr marL="12700">
              <a:lnSpc>
                <a:spcPct val="100000"/>
              </a:lnSpc>
              <a:spcBef>
                <a:spcPts val="95"/>
              </a:spcBef>
              <a:tabLst>
                <a:tab pos="585470" algn="l"/>
              </a:tabLst>
            </a:pPr>
            <a:r>
              <a:rPr sz="1600" b="1" spc="-5" dirty="0">
                <a:latin typeface="Arial"/>
                <a:cs typeface="Arial"/>
              </a:rPr>
              <a:t>1.	Initially</a:t>
            </a:r>
            <a:r>
              <a:rPr sz="1600" spc="-5" dirty="0">
                <a:latin typeface="Arial"/>
                <a:cs typeface="Arial"/>
              </a:rPr>
              <a:t>, every process is marked as</a:t>
            </a:r>
            <a:r>
              <a:rPr sz="1600" spc="90" dirty="0">
                <a:latin typeface="Arial"/>
                <a:cs typeface="Arial"/>
              </a:rPr>
              <a:t> </a:t>
            </a:r>
            <a:r>
              <a:rPr sz="1600" dirty="0">
                <a:latin typeface="Arial"/>
                <a:cs typeface="Arial"/>
              </a:rPr>
              <a:t>non-</a:t>
            </a:r>
          </a:p>
        </p:txBody>
      </p:sp>
      <p:sp>
        <p:nvSpPr>
          <p:cNvPr id="35" name="object 35"/>
          <p:cNvSpPr txBox="1">
            <a:spLocks noGrp="1"/>
          </p:cNvSpPr>
          <p:nvPr>
            <p:ph type="title"/>
          </p:nvPr>
        </p:nvSpPr>
        <p:spPr>
          <a:xfrm>
            <a:off x="-152399" y="593158"/>
            <a:ext cx="8686800" cy="321242"/>
          </a:xfrm>
          <a:prstGeom prst="rect">
            <a:avLst/>
          </a:prstGeom>
        </p:spPr>
        <p:txBody>
          <a:bodyPr vert="horz" wrap="square" lIns="0" tIns="13335" rIns="0" bIns="0" rtlCol="0">
            <a:spAutoFit/>
          </a:bodyPr>
          <a:lstStyle/>
          <a:p>
            <a:pPr marL="12700">
              <a:lnSpc>
                <a:spcPct val="100000"/>
              </a:lnSpc>
              <a:spcBef>
                <a:spcPts val="105"/>
              </a:spcBef>
              <a:tabLst>
                <a:tab pos="3896995" algn="l"/>
              </a:tabLst>
            </a:pPr>
            <a:r>
              <a:rPr sz="3000" baseline="8333" dirty="0">
                <a:solidFill>
                  <a:srgbClr val="FF3300"/>
                </a:solidFill>
              </a:rPr>
              <a:t>A ring-based election</a:t>
            </a:r>
            <a:r>
              <a:rPr sz="3000" spc="-82" baseline="8333" dirty="0">
                <a:solidFill>
                  <a:srgbClr val="FF3300"/>
                </a:solidFill>
              </a:rPr>
              <a:t> </a:t>
            </a:r>
            <a:r>
              <a:rPr sz="3000" baseline="8333" dirty="0">
                <a:solidFill>
                  <a:srgbClr val="FF3300"/>
                </a:solidFill>
              </a:rPr>
              <a:t>in</a:t>
            </a:r>
            <a:r>
              <a:rPr sz="3000" spc="22" baseline="8333" dirty="0">
                <a:solidFill>
                  <a:srgbClr val="FF3300"/>
                </a:solidFill>
              </a:rPr>
              <a:t> </a:t>
            </a:r>
            <a:r>
              <a:rPr sz="3000" baseline="8333" dirty="0" smtClean="0">
                <a:solidFill>
                  <a:srgbClr val="FF3300"/>
                </a:solidFill>
              </a:rPr>
              <a:t>progress</a:t>
            </a:r>
            <a:r>
              <a:rPr lang="en-US" sz="3000" baseline="8333" dirty="0" smtClean="0">
                <a:solidFill>
                  <a:srgbClr val="FF3300"/>
                </a:solidFill>
              </a:rPr>
              <a:t>         </a:t>
            </a:r>
            <a:r>
              <a:rPr sz="3000" baseline="8333" dirty="0">
                <a:solidFill>
                  <a:srgbClr val="FF3300"/>
                </a:solidFill>
              </a:rPr>
              <a:t>	</a:t>
            </a:r>
            <a:r>
              <a:rPr sz="1600" spc="-5" dirty="0">
                <a:solidFill>
                  <a:srgbClr val="000000"/>
                </a:solidFill>
              </a:rPr>
              <a:t>participant. Any process can begin an</a:t>
            </a:r>
            <a:r>
              <a:rPr sz="1600" spc="-30" dirty="0">
                <a:solidFill>
                  <a:srgbClr val="000000"/>
                </a:solidFill>
              </a:rPr>
              <a:t> </a:t>
            </a:r>
            <a:r>
              <a:rPr sz="1600" spc="-5" dirty="0">
                <a:solidFill>
                  <a:srgbClr val="000000"/>
                </a:solidFill>
              </a:rPr>
              <a:t>election.</a:t>
            </a:r>
            <a:endParaRPr sz="1600" dirty="0"/>
          </a:p>
        </p:txBody>
      </p:sp>
      <p:sp>
        <p:nvSpPr>
          <p:cNvPr id="36" name="object 36"/>
          <p:cNvSpPr txBox="1"/>
          <p:nvPr/>
        </p:nvSpPr>
        <p:spPr>
          <a:xfrm>
            <a:off x="3797300" y="878204"/>
            <a:ext cx="4869815" cy="269240"/>
          </a:xfrm>
          <a:prstGeom prst="rect">
            <a:avLst/>
          </a:prstGeom>
        </p:spPr>
        <p:txBody>
          <a:bodyPr vert="horz" wrap="square" lIns="0" tIns="12065" rIns="0" bIns="0" rtlCol="0">
            <a:spAutoFit/>
          </a:bodyPr>
          <a:lstStyle/>
          <a:p>
            <a:pPr marL="12700">
              <a:lnSpc>
                <a:spcPct val="100000"/>
              </a:lnSpc>
              <a:spcBef>
                <a:spcPts val="95"/>
              </a:spcBef>
              <a:tabLst>
                <a:tab pos="585470" algn="l"/>
              </a:tabLst>
            </a:pPr>
            <a:r>
              <a:rPr sz="1600" spc="-5" dirty="0">
                <a:latin typeface="Arial"/>
                <a:cs typeface="Arial"/>
              </a:rPr>
              <a:t>2.	The </a:t>
            </a:r>
            <a:r>
              <a:rPr sz="1600" b="1" spc="-5" dirty="0">
                <a:latin typeface="Arial"/>
                <a:cs typeface="Arial"/>
              </a:rPr>
              <a:t>starting </a:t>
            </a:r>
            <a:r>
              <a:rPr sz="1600" spc="-5" dirty="0">
                <a:latin typeface="Arial"/>
                <a:cs typeface="Arial"/>
              </a:rPr>
              <a:t>process marks itself as</a:t>
            </a:r>
            <a:r>
              <a:rPr sz="1600" spc="100" dirty="0">
                <a:latin typeface="Arial"/>
                <a:cs typeface="Arial"/>
              </a:rPr>
              <a:t> </a:t>
            </a:r>
            <a:r>
              <a:rPr sz="1600" spc="-5" dirty="0">
                <a:latin typeface="Arial"/>
                <a:cs typeface="Arial"/>
              </a:rPr>
              <a:t>participant</a:t>
            </a:r>
            <a:endParaRPr sz="1600" dirty="0">
              <a:latin typeface="Arial"/>
              <a:cs typeface="Arial"/>
            </a:endParaRPr>
          </a:p>
        </p:txBody>
      </p:sp>
      <p:sp>
        <p:nvSpPr>
          <p:cNvPr id="37" name="object 37"/>
          <p:cNvSpPr txBox="1"/>
          <p:nvPr/>
        </p:nvSpPr>
        <p:spPr>
          <a:xfrm>
            <a:off x="3797300" y="1122425"/>
            <a:ext cx="4905375" cy="1732280"/>
          </a:xfrm>
          <a:prstGeom prst="rect">
            <a:avLst/>
          </a:prstGeom>
        </p:spPr>
        <p:txBody>
          <a:bodyPr vert="horz" wrap="square" lIns="0" tIns="12065" rIns="0" bIns="0" rtlCol="0">
            <a:spAutoFit/>
          </a:bodyPr>
          <a:lstStyle/>
          <a:p>
            <a:pPr marL="585470" marR="597535">
              <a:lnSpc>
                <a:spcPct val="100000"/>
              </a:lnSpc>
              <a:spcBef>
                <a:spcPts val="95"/>
              </a:spcBef>
            </a:pPr>
            <a:r>
              <a:rPr sz="1600" spc="-5" dirty="0">
                <a:latin typeface="Arial"/>
                <a:cs typeface="Arial"/>
              </a:rPr>
              <a:t>and place its identifier in a message to its  </a:t>
            </a:r>
            <a:r>
              <a:rPr sz="1600" spc="-15" dirty="0">
                <a:latin typeface="Arial"/>
                <a:cs typeface="Arial"/>
              </a:rPr>
              <a:t>neighbour.</a:t>
            </a:r>
            <a:endParaRPr sz="1600" dirty="0">
              <a:latin typeface="Arial"/>
              <a:cs typeface="Arial"/>
            </a:endParaRPr>
          </a:p>
          <a:p>
            <a:pPr marL="585470" marR="97155" indent="-572770" algn="just">
              <a:lnSpc>
                <a:spcPct val="100000"/>
              </a:lnSpc>
              <a:buAutoNum type="arabicPeriod" startAt="3"/>
              <a:tabLst>
                <a:tab pos="586105" algn="l"/>
              </a:tabLst>
            </a:pPr>
            <a:r>
              <a:rPr sz="1600" spc="-5" dirty="0">
                <a:latin typeface="Arial"/>
                <a:cs typeface="Arial"/>
              </a:rPr>
              <a:t>A process receives a message and </a:t>
            </a:r>
            <a:r>
              <a:rPr sz="1600" b="1" spc="-5" dirty="0">
                <a:latin typeface="Arial"/>
                <a:cs typeface="Arial"/>
              </a:rPr>
              <a:t>compare </a:t>
            </a:r>
            <a:r>
              <a:rPr sz="1600" spc="-5" dirty="0">
                <a:latin typeface="Arial"/>
                <a:cs typeface="Arial"/>
              </a:rPr>
              <a:t>it  </a:t>
            </a:r>
            <a:r>
              <a:rPr sz="1600" spc="-10" dirty="0">
                <a:latin typeface="Arial"/>
                <a:cs typeface="Arial"/>
              </a:rPr>
              <a:t>with </a:t>
            </a:r>
            <a:r>
              <a:rPr sz="1600" spc="-5" dirty="0">
                <a:latin typeface="Arial"/>
                <a:cs typeface="Arial"/>
              </a:rPr>
              <a:t>its </a:t>
            </a:r>
            <a:r>
              <a:rPr sz="1600" spc="-10" dirty="0">
                <a:latin typeface="Arial"/>
                <a:cs typeface="Arial"/>
              </a:rPr>
              <a:t>own. </a:t>
            </a:r>
            <a:r>
              <a:rPr sz="1600" spc="-5" dirty="0">
                <a:latin typeface="Arial"/>
                <a:cs typeface="Arial"/>
              </a:rPr>
              <a:t>If the arrived identifier is </a:t>
            </a:r>
            <a:r>
              <a:rPr sz="1600" b="1" spc="-5" dirty="0">
                <a:latin typeface="Arial"/>
                <a:cs typeface="Arial"/>
              </a:rPr>
              <a:t>larger</a:t>
            </a:r>
            <a:r>
              <a:rPr sz="1600" spc="-5" dirty="0">
                <a:latin typeface="Arial"/>
                <a:cs typeface="Arial"/>
              </a:rPr>
              <a:t>, it  passes on the</a:t>
            </a:r>
            <a:r>
              <a:rPr sz="1600" spc="15" dirty="0">
                <a:latin typeface="Arial"/>
                <a:cs typeface="Arial"/>
              </a:rPr>
              <a:t> </a:t>
            </a:r>
            <a:r>
              <a:rPr sz="1600" spc="-5" dirty="0">
                <a:latin typeface="Arial"/>
                <a:cs typeface="Arial"/>
              </a:rPr>
              <a:t>message.</a:t>
            </a:r>
            <a:endParaRPr sz="1600" dirty="0">
              <a:latin typeface="Arial"/>
              <a:cs typeface="Arial"/>
            </a:endParaRPr>
          </a:p>
          <a:p>
            <a:pPr marL="585470" indent="-572770">
              <a:lnSpc>
                <a:spcPct val="100000"/>
              </a:lnSpc>
              <a:buAutoNum type="arabicPeriod" startAt="3"/>
              <a:tabLst>
                <a:tab pos="585470" algn="l"/>
                <a:tab pos="586105" algn="l"/>
              </a:tabLst>
            </a:pPr>
            <a:r>
              <a:rPr sz="1600" spc="-5" dirty="0">
                <a:latin typeface="Arial"/>
                <a:cs typeface="Arial"/>
              </a:rPr>
              <a:t>If arrived identifier is </a:t>
            </a:r>
            <a:r>
              <a:rPr sz="1600" b="1" spc="-5" dirty="0">
                <a:latin typeface="Arial"/>
                <a:cs typeface="Arial"/>
              </a:rPr>
              <a:t>smaller </a:t>
            </a:r>
            <a:r>
              <a:rPr sz="1600" spc="-5" dirty="0">
                <a:latin typeface="Arial"/>
                <a:cs typeface="Arial"/>
              </a:rPr>
              <a:t>and receiver is</a:t>
            </a:r>
            <a:r>
              <a:rPr sz="1600" spc="135" dirty="0">
                <a:latin typeface="Arial"/>
                <a:cs typeface="Arial"/>
              </a:rPr>
              <a:t> </a:t>
            </a:r>
            <a:r>
              <a:rPr sz="1600" spc="-5" dirty="0">
                <a:latin typeface="Arial"/>
                <a:cs typeface="Arial"/>
              </a:rPr>
              <a:t>not</a:t>
            </a:r>
            <a:endParaRPr sz="1600" dirty="0">
              <a:latin typeface="Arial"/>
              <a:cs typeface="Arial"/>
            </a:endParaRPr>
          </a:p>
          <a:p>
            <a:pPr marL="585470">
              <a:lnSpc>
                <a:spcPct val="100000"/>
              </a:lnSpc>
            </a:pPr>
            <a:r>
              <a:rPr sz="1600" spc="-5" dirty="0">
                <a:latin typeface="Arial"/>
                <a:cs typeface="Arial"/>
              </a:rPr>
              <a:t>a participant, substitute </a:t>
            </a:r>
            <a:r>
              <a:rPr sz="1600" dirty="0">
                <a:latin typeface="Arial"/>
                <a:cs typeface="Arial"/>
              </a:rPr>
              <a:t>its </a:t>
            </a:r>
            <a:r>
              <a:rPr sz="1600" spc="-10" dirty="0">
                <a:latin typeface="Arial"/>
                <a:cs typeface="Arial"/>
              </a:rPr>
              <a:t>own </a:t>
            </a:r>
            <a:r>
              <a:rPr sz="1600" spc="-5" dirty="0">
                <a:latin typeface="Arial"/>
                <a:cs typeface="Arial"/>
              </a:rPr>
              <a:t>identifier in</a:t>
            </a:r>
            <a:r>
              <a:rPr sz="1600" spc="60" dirty="0">
                <a:latin typeface="Arial"/>
                <a:cs typeface="Arial"/>
              </a:rPr>
              <a:t> </a:t>
            </a:r>
            <a:r>
              <a:rPr sz="1600" spc="-5" dirty="0">
                <a:latin typeface="Arial"/>
                <a:cs typeface="Arial"/>
              </a:rPr>
              <a:t>the</a:t>
            </a:r>
            <a:endParaRPr sz="1600" dirty="0">
              <a:latin typeface="Arial"/>
              <a:cs typeface="Arial"/>
            </a:endParaRPr>
          </a:p>
        </p:txBody>
      </p:sp>
      <p:sp>
        <p:nvSpPr>
          <p:cNvPr id="38" name="object 38"/>
          <p:cNvSpPr txBox="1"/>
          <p:nvPr/>
        </p:nvSpPr>
        <p:spPr>
          <a:xfrm>
            <a:off x="4370323" y="2829560"/>
            <a:ext cx="427545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Arial"/>
                <a:cs typeface="Arial"/>
                <a:hlinkClick r:id="rId3"/>
              </a:rPr>
              <a:t>message and forward if. It does not </a:t>
            </a:r>
            <a:r>
              <a:rPr sz="1600" spc="-5" dirty="0">
                <a:latin typeface="Arial"/>
                <a:cs typeface="Arial"/>
              </a:rPr>
              <a:t>forward</a:t>
            </a:r>
            <a:r>
              <a:rPr sz="1600" spc="110" dirty="0">
                <a:latin typeface="Arial"/>
                <a:cs typeface="Arial"/>
              </a:rPr>
              <a:t> </a:t>
            </a:r>
            <a:r>
              <a:rPr sz="1600" spc="-5" dirty="0">
                <a:latin typeface="Arial"/>
                <a:cs typeface="Arial"/>
              </a:rPr>
              <a:t>the</a:t>
            </a:r>
            <a:endParaRPr sz="1600" dirty="0">
              <a:latin typeface="Arial"/>
              <a:cs typeface="Arial"/>
            </a:endParaRPr>
          </a:p>
        </p:txBody>
      </p:sp>
      <p:sp>
        <p:nvSpPr>
          <p:cNvPr id="39" name="object 39"/>
          <p:cNvSpPr txBox="1"/>
          <p:nvPr/>
        </p:nvSpPr>
        <p:spPr>
          <a:xfrm>
            <a:off x="4370323" y="3073399"/>
            <a:ext cx="331089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Arial"/>
                <a:cs typeface="Arial"/>
                <a:hlinkClick r:id="rId3"/>
              </a:rPr>
              <a:t>message </a:t>
            </a:r>
            <a:r>
              <a:rPr sz="1600" dirty="0">
                <a:latin typeface="Arial"/>
                <a:cs typeface="Arial"/>
                <a:hlinkClick r:id="rId3"/>
              </a:rPr>
              <a:t>if </a:t>
            </a:r>
            <a:r>
              <a:rPr sz="1600" spc="-5" dirty="0">
                <a:latin typeface="Arial"/>
                <a:cs typeface="Arial"/>
                <a:hlinkClick r:id="rId3"/>
              </a:rPr>
              <a:t>it is already a</a:t>
            </a:r>
            <a:r>
              <a:rPr sz="1600" spc="5" dirty="0">
                <a:latin typeface="Arial"/>
                <a:cs typeface="Arial"/>
                <a:hlinkClick r:id="rId3"/>
              </a:rPr>
              <a:t> </a:t>
            </a:r>
            <a:r>
              <a:rPr sz="1600" spc="-5" dirty="0">
                <a:latin typeface="Arial"/>
                <a:cs typeface="Arial"/>
                <a:hlinkClick r:id="rId3"/>
              </a:rPr>
              <a:t>participant.</a:t>
            </a:r>
            <a:endParaRPr sz="1600" dirty="0">
              <a:latin typeface="Arial"/>
              <a:cs typeface="Arial"/>
            </a:endParaRPr>
          </a:p>
        </p:txBody>
      </p:sp>
      <p:sp>
        <p:nvSpPr>
          <p:cNvPr id="40" name="object 40"/>
          <p:cNvSpPr txBox="1"/>
          <p:nvPr/>
        </p:nvSpPr>
        <p:spPr>
          <a:xfrm>
            <a:off x="3797300" y="3317240"/>
            <a:ext cx="4744085" cy="258404"/>
          </a:xfrm>
          <a:prstGeom prst="rect">
            <a:avLst/>
          </a:prstGeom>
        </p:spPr>
        <p:txBody>
          <a:bodyPr vert="horz" wrap="square" lIns="0" tIns="12065" rIns="0" bIns="0" rtlCol="0">
            <a:spAutoFit/>
          </a:bodyPr>
          <a:lstStyle/>
          <a:p>
            <a:pPr marL="12700">
              <a:lnSpc>
                <a:spcPct val="100000"/>
              </a:lnSpc>
              <a:spcBef>
                <a:spcPts val="95"/>
              </a:spcBef>
              <a:tabLst>
                <a:tab pos="585470" algn="l"/>
              </a:tabLst>
            </a:pPr>
            <a:r>
              <a:rPr sz="1600" spc="-5" dirty="0">
                <a:latin typeface="Arial"/>
                <a:cs typeface="Arial"/>
                <a:hlinkClick r:id="rId3"/>
              </a:rPr>
              <a:t>5.	</a:t>
            </a:r>
            <a:r>
              <a:rPr sz="1600" spc="-10" dirty="0">
                <a:latin typeface="Arial"/>
                <a:cs typeface="Arial"/>
                <a:hlinkClick r:id="rId3"/>
              </a:rPr>
              <a:t>On </a:t>
            </a:r>
            <a:r>
              <a:rPr sz="1600" u="sng" spc="-5" dirty="0">
                <a:latin typeface="Arial"/>
                <a:cs typeface="Arial"/>
                <a:hlinkClick r:id="rId3"/>
              </a:rPr>
              <a:t>forwarding</a:t>
            </a:r>
            <a:r>
              <a:rPr sz="1600" spc="-5" dirty="0">
                <a:latin typeface="Arial"/>
                <a:cs typeface="Arial"/>
                <a:hlinkClick r:id="rId3"/>
              </a:rPr>
              <a:t> of any case, the proces</a:t>
            </a:r>
            <a:r>
              <a:rPr sz="1600" spc="-5" dirty="0">
                <a:latin typeface="Arial"/>
                <a:cs typeface="Arial"/>
              </a:rPr>
              <a:t>s</a:t>
            </a:r>
            <a:r>
              <a:rPr sz="1600" spc="95" dirty="0">
                <a:latin typeface="Arial"/>
                <a:cs typeface="Arial"/>
              </a:rPr>
              <a:t> </a:t>
            </a:r>
            <a:r>
              <a:rPr sz="1600" spc="-5" dirty="0">
                <a:latin typeface="Arial"/>
                <a:cs typeface="Arial"/>
              </a:rPr>
              <a:t>marks</a:t>
            </a:r>
            <a:endParaRPr sz="1600" dirty="0">
              <a:latin typeface="Arial"/>
              <a:cs typeface="Arial"/>
            </a:endParaRPr>
          </a:p>
        </p:txBody>
      </p:sp>
      <p:sp>
        <p:nvSpPr>
          <p:cNvPr id="41" name="object 41"/>
          <p:cNvSpPr txBox="1"/>
          <p:nvPr/>
        </p:nvSpPr>
        <p:spPr>
          <a:xfrm>
            <a:off x="4370323" y="3561079"/>
            <a:ext cx="193357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Arial"/>
                <a:cs typeface="Arial"/>
                <a:hlinkClick r:id="rId3"/>
              </a:rPr>
              <a:t>itself as a</a:t>
            </a:r>
            <a:r>
              <a:rPr sz="1600" spc="-20" dirty="0">
                <a:latin typeface="Arial"/>
                <a:cs typeface="Arial"/>
                <a:hlinkClick r:id="rId3"/>
              </a:rPr>
              <a:t> </a:t>
            </a:r>
            <a:r>
              <a:rPr sz="1600" spc="-5" dirty="0">
                <a:latin typeface="Arial"/>
                <a:cs typeface="Arial"/>
                <a:hlinkClick r:id="rId3"/>
              </a:rPr>
              <a:t>participant.</a:t>
            </a:r>
            <a:endParaRPr sz="1600" dirty="0">
              <a:latin typeface="Arial"/>
              <a:cs typeface="Arial"/>
            </a:endParaRPr>
          </a:p>
        </p:txBody>
      </p:sp>
      <p:sp>
        <p:nvSpPr>
          <p:cNvPr id="42" name="object 42"/>
          <p:cNvSpPr txBox="1"/>
          <p:nvPr/>
        </p:nvSpPr>
        <p:spPr>
          <a:xfrm>
            <a:off x="3797300" y="3886199"/>
            <a:ext cx="4983480" cy="2228174"/>
          </a:xfrm>
          <a:prstGeom prst="rect">
            <a:avLst/>
          </a:prstGeom>
        </p:spPr>
        <p:txBody>
          <a:bodyPr vert="horz" wrap="square" lIns="0" tIns="12065" rIns="0" bIns="0" rtlCol="0">
            <a:spAutoFit/>
          </a:bodyPr>
          <a:lstStyle/>
          <a:p>
            <a:pPr marL="585470" marR="236220" indent="-572770">
              <a:lnSpc>
                <a:spcPct val="100000"/>
              </a:lnSpc>
              <a:spcBef>
                <a:spcPts val="95"/>
              </a:spcBef>
              <a:buAutoNum type="arabicPeriod" startAt="6"/>
              <a:tabLst>
                <a:tab pos="585470" algn="l"/>
                <a:tab pos="586105" algn="l"/>
              </a:tabLst>
            </a:pPr>
            <a:r>
              <a:rPr sz="1600" spc="-5" dirty="0">
                <a:latin typeface="Arial"/>
                <a:cs typeface="Arial"/>
              </a:rPr>
              <a:t>If the received identifier is that of the receiver  itself, then this process’s identifier must be the  greatest, and it becomes the</a:t>
            </a:r>
            <a:r>
              <a:rPr sz="1600" spc="70" dirty="0">
                <a:latin typeface="Arial"/>
                <a:cs typeface="Arial"/>
              </a:rPr>
              <a:t> </a:t>
            </a:r>
            <a:r>
              <a:rPr sz="1600" b="1" spc="-5" dirty="0">
                <a:latin typeface="Arial"/>
                <a:cs typeface="Arial"/>
              </a:rPr>
              <a:t>coordinator</a:t>
            </a:r>
            <a:r>
              <a:rPr sz="1600" spc="-5" dirty="0">
                <a:latin typeface="Arial"/>
                <a:cs typeface="Arial"/>
              </a:rPr>
              <a:t>.</a:t>
            </a:r>
            <a:endParaRPr sz="1600" dirty="0">
              <a:latin typeface="Arial"/>
              <a:cs typeface="Arial"/>
            </a:endParaRPr>
          </a:p>
          <a:p>
            <a:pPr marL="585470" marR="154305" indent="-572770" algn="just">
              <a:lnSpc>
                <a:spcPct val="100000"/>
              </a:lnSpc>
              <a:buAutoNum type="arabicPeriod" startAt="6"/>
              <a:tabLst>
                <a:tab pos="586105" algn="l"/>
              </a:tabLst>
            </a:pPr>
            <a:r>
              <a:rPr sz="1600" spc="-5" dirty="0">
                <a:latin typeface="Arial"/>
                <a:cs typeface="Arial"/>
              </a:rPr>
              <a:t>The coordinator marks itself as non-participant,  set </a:t>
            </a:r>
            <a:r>
              <a:rPr sz="1600" b="1" spc="-5" dirty="0">
                <a:solidFill>
                  <a:srgbClr val="006FC0"/>
                </a:solidFill>
                <a:latin typeface="Arial"/>
                <a:cs typeface="Arial"/>
              </a:rPr>
              <a:t>elected</a:t>
            </a:r>
            <a:r>
              <a:rPr sz="2400" b="1" spc="-7" baseline="-20833" dirty="0">
                <a:solidFill>
                  <a:srgbClr val="006FC0"/>
                </a:solidFill>
                <a:latin typeface="Arial"/>
                <a:cs typeface="Arial"/>
              </a:rPr>
              <a:t>i </a:t>
            </a:r>
            <a:r>
              <a:rPr sz="1600" spc="-5" dirty="0">
                <a:latin typeface="Arial"/>
                <a:cs typeface="Arial"/>
              </a:rPr>
              <a:t>and sends an </a:t>
            </a:r>
            <a:r>
              <a:rPr sz="1600" b="1" spc="-5" dirty="0">
                <a:latin typeface="Arial"/>
                <a:cs typeface="Arial"/>
              </a:rPr>
              <a:t>elected </a:t>
            </a:r>
            <a:r>
              <a:rPr sz="1600" spc="-5" dirty="0">
                <a:latin typeface="Arial"/>
                <a:cs typeface="Arial"/>
              </a:rPr>
              <a:t>message to </a:t>
            </a:r>
            <a:r>
              <a:rPr sz="1600" spc="-5" dirty="0">
                <a:solidFill>
                  <a:srgbClr val="6F2F9F"/>
                </a:solidFill>
                <a:latin typeface="Arial"/>
                <a:cs typeface="Arial"/>
              </a:rPr>
              <a:t> its neighbour </a:t>
            </a:r>
            <a:r>
              <a:rPr sz="1600" dirty="0">
                <a:solidFill>
                  <a:srgbClr val="6F2F9F"/>
                </a:solidFill>
                <a:latin typeface="Arial"/>
                <a:cs typeface="Arial"/>
              </a:rPr>
              <a:t>enclosing </a:t>
            </a:r>
            <a:r>
              <a:rPr sz="1600" spc="-5" dirty="0">
                <a:solidFill>
                  <a:srgbClr val="6F2F9F"/>
                </a:solidFill>
                <a:latin typeface="Arial"/>
                <a:cs typeface="Arial"/>
              </a:rPr>
              <a:t>its</a:t>
            </a:r>
            <a:r>
              <a:rPr sz="1600" spc="-45" dirty="0">
                <a:solidFill>
                  <a:srgbClr val="6F2F9F"/>
                </a:solidFill>
                <a:latin typeface="Arial"/>
                <a:cs typeface="Arial"/>
              </a:rPr>
              <a:t> </a:t>
            </a:r>
            <a:r>
              <a:rPr sz="1600" dirty="0">
                <a:solidFill>
                  <a:srgbClr val="6F2F9F"/>
                </a:solidFill>
                <a:latin typeface="Arial"/>
                <a:cs typeface="Arial"/>
              </a:rPr>
              <a:t>ID</a:t>
            </a:r>
            <a:r>
              <a:rPr sz="1600" dirty="0">
                <a:latin typeface="Arial"/>
                <a:cs typeface="Arial"/>
              </a:rPr>
              <a:t>.</a:t>
            </a:r>
          </a:p>
          <a:p>
            <a:pPr marL="585470" marR="5080" indent="-572770">
              <a:lnSpc>
                <a:spcPct val="100000"/>
              </a:lnSpc>
              <a:buAutoNum type="arabicPeriod" startAt="6"/>
              <a:tabLst>
                <a:tab pos="585470" algn="l"/>
                <a:tab pos="586105" algn="l"/>
              </a:tabLst>
            </a:pPr>
            <a:r>
              <a:rPr sz="1600" spc="-5" dirty="0">
                <a:latin typeface="Arial"/>
                <a:cs typeface="Arial"/>
              </a:rPr>
              <a:t>When a process receives </a:t>
            </a:r>
            <a:r>
              <a:rPr sz="1600" b="1" spc="-5" dirty="0">
                <a:latin typeface="Arial"/>
                <a:cs typeface="Arial"/>
              </a:rPr>
              <a:t>elected </a:t>
            </a:r>
            <a:r>
              <a:rPr sz="1600" spc="-5" dirty="0">
                <a:latin typeface="Arial"/>
                <a:cs typeface="Arial"/>
              </a:rPr>
              <a:t>message, it  marks itself as a non-participant, sets its variable </a:t>
            </a:r>
            <a:r>
              <a:rPr sz="1600" spc="-5" dirty="0">
                <a:solidFill>
                  <a:srgbClr val="006FC0"/>
                </a:solidFill>
                <a:latin typeface="Arial"/>
                <a:cs typeface="Arial"/>
              </a:rPr>
              <a:t> </a:t>
            </a:r>
            <a:r>
              <a:rPr sz="1600" b="1" spc="-5" dirty="0">
                <a:solidFill>
                  <a:srgbClr val="006FC0"/>
                </a:solidFill>
                <a:latin typeface="Arial"/>
                <a:cs typeface="Arial"/>
              </a:rPr>
              <a:t>elected</a:t>
            </a:r>
            <a:r>
              <a:rPr sz="1575" b="1" spc="-7" baseline="-21164" dirty="0">
                <a:solidFill>
                  <a:srgbClr val="006FC0"/>
                </a:solidFill>
                <a:latin typeface="Arial"/>
                <a:cs typeface="Arial"/>
              </a:rPr>
              <a:t>i </a:t>
            </a:r>
            <a:r>
              <a:rPr sz="1600" spc="-5" dirty="0">
                <a:latin typeface="Arial"/>
                <a:cs typeface="Arial"/>
              </a:rPr>
              <a:t>and forwards the</a:t>
            </a:r>
            <a:r>
              <a:rPr sz="1600" spc="85" dirty="0">
                <a:latin typeface="Arial"/>
                <a:cs typeface="Arial"/>
              </a:rPr>
              <a:t> </a:t>
            </a:r>
            <a:r>
              <a:rPr sz="1600" spc="-5" dirty="0">
                <a:latin typeface="Arial"/>
                <a:cs typeface="Arial"/>
              </a:rPr>
              <a:t>message.</a:t>
            </a:r>
            <a:endParaRPr sz="1600" dirty="0">
              <a:latin typeface="Arial"/>
              <a:cs typeface="Arial"/>
            </a:endParaRPr>
          </a:p>
        </p:txBody>
      </p:sp>
    </p:spTree>
    <p:extLst>
      <p:ext uri="{BB962C8B-B14F-4D97-AF65-F5344CB8AC3E}">
        <p14:creationId xmlns="" xmlns:p14="http://schemas.microsoft.com/office/powerpoint/2010/main" val="555235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0"/>
            <a:ext cx="8715436" cy="6858000"/>
          </a:xfrm>
        </p:spPr>
        <p:txBody>
          <a:bodyPr>
            <a:normAutofit/>
          </a:bodyPr>
          <a:lstStyle/>
          <a:p>
            <a:pPr marL="0" indent="0" algn="just">
              <a:buNone/>
            </a:pPr>
            <a:r>
              <a:rPr lang="en-US" sz="2200" b="1" dirty="0" smtClean="0"/>
              <a:t>2. The bully algorithm</a:t>
            </a:r>
            <a:r>
              <a:rPr lang="en-GB" sz="2200" b="1" dirty="0" smtClean="0"/>
              <a:t> </a:t>
            </a:r>
          </a:p>
          <a:p>
            <a:pPr marL="0" indent="0" algn="just">
              <a:buNone/>
            </a:pPr>
            <a:endParaRPr lang="en-GB" sz="2000" dirty="0" smtClean="0"/>
          </a:p>
          <a:p>
            <a:pPr marL="0" indent="0" algn="just">
              <a:buFont typeface="Wingdings" pitchFamily="2" charset="2"/>
              <a:buChar char="Ø"/>
            </a:pPr>
            <a:r>
              <a:rPr lang="en-GB" sz="1900" dirty="0" smtClean="0"/>
              <a:t> Process with highest id will be the coordinator</a:t>
            </a:r>
          </a:p>
          <a:p>
            <a:pPr marL="0" indent="0" algn="just">
              <a:buFont typeface="Wingdings" pitchFamily="2" charset="2"/>
              <a:buChar char="Ø"/>
            </a:pPr>
            <a:r>
              <a:rPr lang="en-GB" sz="1900" dirty="0" smtClean="0"/>
              <a:t> There are three types of message in this algorithm: </a:t>
            </a:r>
          </a:p>
          <a:p>
            <a:pPr marL="0" indent="0" algn="just">
              <a:buFont typeface="Wingdings" pitchFamily="2" charset="2"/>
              <a:buChar char="Ø"/>
            </a:pPr>
            <a:r>
              <a:rPr lang="en-GB" sz="1900" dirty="0" smtClean="0"/>
              <a:t> An election message is sent to announce an election; </a:t>
            </a:r>
          </a:p>
          <a:p>
            <a:pPr marL="0" indent="0" algn="just">
              <a:buFont typeface="Wingdings" pitchFamily="2" charset="2"/>
              <a:buChar char="Ø"/>
            </a:pPr>
            <a:r>
              <a:rPr lang="en-GB" sz="1900" dirty="0" smtClean="0"/>
              <a:t> An answer message is sent in response to an election message </a:t>
            </a:r>
          </a:p>
          <a:p>
            <a:pPr marL="0" indent="0" algn="just">
              <a:buFont typeface="Wingdings" pitchFamily="2" charset="2"/>
              <a:buChar char="Ø"/>
            </a:pPr>
            <a:r>
              <a:rPr lang="en-GB" sz="1900" dirty="0" smtClean="0"/>
              <a:t> A coordinator message is sent to announce the identity of the elected process.</a:t>
            </a:r>
          </a:p>
          <a:p>
            <a:pPr marL="0" indent="0" algn="just">
              <a:buFont typeface="Wingdings" pitchFamily="2" charset="2"/>
              <a:buChar char="Ø"/>
            </a:pPr>
            <a:r>
              <a:rPr lang="en-GB" sz="1900" dirty="0" smtClean="0"/>
              <a:t> The process that knows it has the highest identifier can elect itself as the coordinator simply by sending a coordinator message to all processes with lower identifiers. </a:t>
            </a:r>
          </a:p>
          <a:p>
            <a:pPr marL="0" indent="0" algn="just">
              <a:buFont typeface="Wingdings" pitchFamily="2" charset="2"/>
              <a:buChar char="Ø"/>
            </a:pPr>
            <a:endParaRPr lang="en-GB" sz="1900" dirty="0" smtClean="0"/>
          </a:p>
          <a:p>
            <a:pPr marL="0" indent="0" algn="just">
              <a:buFont typeface="Wingdings" pitchFamily="2" charset="2"/>
              <a:buChar char="Ø"/>
            </a:pPr>
            <a:r>
              <a:rPr lang="en-GB" sz="1900" dirty="0" smtClean="0"/>
              <a:t> On the other hand, a process with a lower identifier can begin an election by sending an election message to those processes that have a higher identifier and awaiting answer messages in response. </a:t>
            </a:r>
          </a:p>
          <a:p>
            <a:pPr marL="0" indent="0" algn="just">
              <a:buNone/>
            </a:pPr>
            <a:endParaRPr lang="en-GB" sz="2000" dirty="0" smtClean="0"/>
          </a:p>
        </p:txBody>
      </p:sp>
    </p:spTree>
    <p:extLst>
      <p:ext uri="{BB962C8B-B14F-4D97-AF65-F5344CB8AC3E}">
        <p14:creationId xmlns="" xmlns:p14="http://schemas.microsoft.com/office/powerpoint/2010/main" val="28676526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0"/>
            <a:ext cx="8715436" cy="6858000"/>
          </a:xfrm>
        </p:spPr>
        <p:txBody>
          <a:bodyPr>
            <a:normAutofit/>
          </a:bodyPr>
          <a:lstStyle/>
          <a:p>
            <a:pPr marL="0" indent="0" algn="just">
              <a:buNone/>
            </a:pPr>
            <a:r>
              <a:rPr lang="en-GB" sz="1900" dirty="0" smtClean="0"/>
              <a:t>If none arrives within time T, the process considers itself the coordinator and sends a coordinator message to all processes with lower identifiers announcing this. </a:t>
            </a:r>
          </a:p>
          <a:p>
            <a:pPr marL="0" indent="0" algn="just">
              <a:buNone/>
            </a:pPr>
            <a:endParaRPr lang="en-GB" sz="1900" dirty="0" smtClean="0"/>
          </a:p>
          <a:p>
            <a:pPr marL="0" indent="0" algn="just">
              <a:buNone/>
            </a:pPr>
            <a:r>
              <a:rPr lang="en-GB" sz="1900" dirty="0" smtClean="0"/>
              <a:t>Otherwise, the process waits a further period T for a coordinator message to arrive from the new coordinator. </a:t>
            </a:r>
          </a:p>
          <a:p>
            <a:pPr marL="0" indent="0" algn="just">
              <a:buNone/>
            </a:pPr>
            <a:endParaRPr lang="en-GB" sz="1900" dirty="0" smtClean="0"/>
          </a:p>
          <a:p>
            <a:pPr marL="0" indent="0" algn="just">
              <a:buNone/>
            </a:pPr>
            <a:endParaRPr lang="en-GB" sz="1900" dirty="0" smtClean="0"/>
          </a:p>
          <a:p>
            <a:pPr marL="0" indent="0" algn="just">
              <a:buNone/>
            </a:pPr>
            <a:r>
              <a:rPr lang="en-GB" sz="1900" dirty="0" smtClean="0"/>
              <a:t> If a process pi receives a coordinator message, it sets its variable elected </a:t>
            </a:r>
            <a:r>
              <a:rPr lang="en-GB" sz="1900" dirty="0" err="1" smtClean="0"/>
              <a:t>i</a:t>
            </a:r>
            <a:r>
              <a:rPr lang="en-GB" sz="1900" dirty="0" smtClean="0"/>
              <a:t> to the identifier of the coordinator contained within it and treats that process as the coordinator. </a:t>
            </a:r>
          </a:p>
          <a:p>
            <a:pPr marL="0" indent="0" algn="just">
              <a:buNone/>
            </a:pPr>
            <a:endParaRPr lang="en-GB" sz="1900" dirty="0" smtClean="0"/>
          </a:p>
          <a:p>
            <a:pPr marL="0" indent="0" algn="just">
              <a:buNone/>
            </a:pPr>
            <a:r>
              <a:rPr lang="en-GB" sz="1900" dirty="0" smtClean="0"/>
              <a:t>If a process receives an election message, it sends back an answer message and begins another election – unless it has begun one already. </a:t>
            </a:r>
            <a:endParaRPr lang="en-US" sz="1900" dirty="0" smtClean="0"/>
          </a:p>
        </p:txBody>
      </p:sp>
    </p:spTree>
    <p:extLst>
      <p:ext uri="{BB962C8B-B14F-4D97-AF65-F5344CB8AC3E}">
        <p14:creationId xmlns="" xmlns:p14="http://schemas.microsoft.com/office/powerpoint/2010/main" val="4337684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0"/>
            <a:ext cx="8715436" cy="6858000"/>
          </a:xfrm>
        </p:spPr>
        <p:txBody>
          <a:bodyPr>
            <a:normAutofit/>
          </a:bodyPr>
          <a:lstStyle/>
          <a:p>
            <a:pPr marL="0" indent="0" algn="just">
              <a:buNone/>
            </a:pPr>
            <a:endParaRPr lang="en-GB" sz="2000" dirty="0" smtClean="0"/>
          </a:p>
          <a:p>
            <a:pPr marL="0" indent="0" algn="just">
              <a:buNone/>
            </a:pPr>
            <a:r>
              <a:rPr lang="en-GB" sz="2000" dirty="0" smtClean="0"/>
              <a:t>When a process, P, notices that the coordinator is no longer responding to requests, it initiates an election.</a:t>
            </a:r>
          </a:p>
          <a:p>
            <a:pPr marL="0" indent="0" algn="just">
              <a:buNone/>
            </a:pPr>
            <a:endParaRPr lang="en-GB" sz="2000" dirty="0" smtClean="0"/>
          </a:p>
          <a:p>
            <a:pPr marL="0" indent="0" algn="just">
              <a:buNone/>
            </a:pPr>
            <a:r>
              <a:rPr lang="en-GB" sz="2000" dirty="0" smtClean="0"/>
              <a:t> ● P sends an ELECTION message to all processes with higher no. </a:t>
            </a:r>
          </a:p>
          <a:p>
            <a:pPr marL="0" indent="0" algn="just">
              <a:buNone/>
            </a:pPr>
            <a:endParaRPr lang="en-GB" sz="2000" dirty="0" smtClean="0"/>
          </a:p>
          <a:p>
            <a:pPr marL="0" indent="0" algn="just">
              <a:buNone/>
            </a:pPr>
            <a:r>
              <a:rPr lang="en-GB" sz="2000" dirty="0" smtClean="0"/>
              <a:t>● If no one responds, P wins the election and becomes a coordinator. </a:t>
            </a:r>
          </a:p>
          <a:p>
            <a:pPr marL="0" indent="0" algn="just">
              <a:buNone/>
            </a:pPr>
            <a:endParaRPr lang="en-GB" sz="2000" dirty="0" smtClean="0"/>
          </a:p>
          <a:p>
            <a:pPr marL="0" indent="0" algn="just">
              <a:buNone/>
            </a:pPr>
            <a:r>
              <a:rPr lang="en-GB" sz="2000" dirty="0" smtClean="0"/>
              <a:t>● If one of the higher-ups answers, it takes over. </a:t>
            </a:r>
          </a:p>
          <a:p>
            <a:pPr marL="0" indent="0" algn="just">
              <a:buNone/>
            </a:pPr>
            <a:endParaRPr lang="en-GB" sz="2000" dirty="0" smtClean="0"/>
          </a:p>
          <a:p>
            <a:pPr marL="0" indent="0" algn="just">
              <a:buNone/>
            </a:pPr>
            <a:r>
              <a:rPr lang="en-GB" sz="2000" dirty="0" smtClean="0"/>
              <a:t>P’ s job is done. When a process gets an ELECTION message from one of its lower-numbered colleagues: </a:t>
            </a:r>
          </a:p>
          <a:p>
            <a:pPr marL="0" indent="0" algn="just">
              <a:buNone/>
            </a:pPr>
            <a:endParaRPr lang="en-GB" sz="2000" dirty="0" smtClean="0"/>
          </a:p>
          <a:p>
            <a:pPr marL="0" indent="0" algn="just">
              <a:buNone/>
            </a:pPr>
            <a:r>
              <a:rPr lang="en-GB" sz="2000" dirty="0" smtClean="0"/>
              <a:t>● Receiver sends an OK message back to the sender to indicate that he is alive and will take over. </a:t>
            </a:r>
          </a:p>
        </p:txBody>
      </p:sp>
    </p:spTree>
    <p:extLst>
      <p:ext uri="{BB962C8B-B14F-4D97-AF65-F5344CB8AC3E}">
        <p14:creationId xmlns="" xmlns:p14="http://schemas.microsoft.com/office/powerpoint/2010/main" val="7759620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0"/>
            <a:ext cx="8715436" cy="6858000"/>
          </a:xfrm>
        </p:spPr>
        <p:txBody>
          <a:bodyPr>
            <a:normAutofit/>
          </a:bodyPr>
          <a:lstStyle/>
          <a:p>
            <a:pPr marL="0" indent="0" algn="just">
              <a:buNone/>
            </a:pPr>
            <a:endParaRPr lang="en-GB" sz="2000" dirty="0" smtClean="0"/>
          </a:p>
          <a:p>
            <a:pPr marL="0" indent="0" algn="just">
              <a:buNone/>
            </a:pPr>
            <a:r>
              <a:rPr lang="en-GB" sz="2000" dirty="0" smtClean="0"/>
              <a:t>● Receiver holds an election, unless it is already holding one.</a:t>
            </a:r>
          </a:p>
          <a:p>
            <a:pPr marL="0" indent="0" algn="just">
              <a:buNone/>
            </a:pPr>
            <a:endParaRPr lang="en-GB" sz="2000" dirty="0" smtClean="0"/>
          </a:p>
          <a:p>
            <a:pPr marL="0" indent="0" algn="just">
              <a:buNone/>
            </a:pPr>
            <a:r>
              <a:rPr lang="en-GB" sz="2000" dirty="0" smtClean="0"/>
              <a:t> ● Eventually, all processes give up but one, and that one is the new coordinator. </a:t>
            </a:r>
          </a:p>
          <a:p>
            <a:pPr marL="0" indent="0" algn="just">
              <a:buNone/>
            </a:pPr>
            <a:endParaRPr lang="en-GB" sz="2000" dirty="0" smtClean="0"/>
          </a:p>
          <a:p>
            <a:pPr marL="0" indent="0" algn="just">
              <a:buNone/>
            </a:pPr>
            <a:r>
              <a:rPr lang="en-GB" sz="2000" dirty="0" smtClean="0"/>
              <a:t>● The new coordinator announces its victory by sending all processes a message telling them that starting immediately it is the new coordinator. </a:t>
            </a:r>
          </a:p>
          <a:p>
            <a:pPr marL="0" indent="0" algn="just">
              <a:buNone/>
            </a:pPr>
            <a:endParaRPr lang="en-GB" sz="2000" dirty="0" smtClean="0"/>
          </a:p>
          <a:p>
            <a:pPr marL="0" indent="0" algn="just">
              <a:buNone/>
            </a:pPr>
            <a:r>
              <a:rPr lang="en-GB" sz="2000" dirty="0" smtClean="0"/>
              <a:t>If a process that was previously down comes back:</a:t>
            </a:r>
          </a:p>
          <a:p>
            <a:pPr marL="0" indent="0" algn="just">
              <a:buNone/>
            </a:pPr>
            <a:endParaRPr lang="en-GB" sz="2000" dirty="0" smtClean="0"/>
          </a:p>
          <a:p>
            <a:pPr marL="0" indent="0" algn="just">
              <a:buNone/>
            </a:pPr>
            <a:r>
              <a:rPr lang="en-GB" sz="2000" dirty="0" smtClean="0"/>
              <a:t> ● It holds an election.</a:t>
            </a:r>
          </a:p>
          <a:p>
            <a:pPr marL="0" indent="0" algn="just">
              <a:buNone/>
            </a:pPr>
            <a:endParaRPr lang="en-GB" sz="2000" dirty="0" smtClean="0"/>
          </a:p>
          <a:p>
            <a:pPr marL="0" indent="0" algn="just">
              <a:buNone/>
            </a:pPr>
            <a:r>
              <a:rPr lang="en-GB" sz="2000" dirty="0" smtClean="0"/>
              <a:t> ● If it happens to be the highest process currently running, it will win the election and take over the coordinator’ s job. </a:t>
            </a:r>
          </a:p>
          <a:p>
            <a:pPr marL="0" indent="0" algn="just">
              <a:buNone/>
            </a:pPr>
            <a:endParaRPr lang="en-GB" sz="2000" dirty="0" smtClean="0"/>
          </a:p>
          <a:p>
            <a:pPr marL="0" indent="0" algn="just">
              <a:buNone/>
            </a:pPr>
            <a:r>
              <a:rPr lang="en-GB" sz="2000" dirty="0" smtClean="0"/>
              <a:t>● Biggest guy” always wins and hence the name “ bully” algorithm.</a:t>
            </a:r>
            <a:endParaRPr lang="en-US" sz="2000" dirty="0" smtClean="0"/>
          </a:p>
        </p:txBody>
      </p:sp>
    </p:spTree>
    <p:extLst>
      <p:ext uri="{BB962C8B-B14F-4D97-AF65-F5344CB8AC3E}">
        <p14:creationId xmlns="" xmlns:p14="http://schemas.microsoft.com/office/powerpoint/2010/main" val="30817323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5343" y="352120"/>
            <a:ext cx="2600960" cy="32060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FF3300"/>
                </a:solidFill>
              </a:rPr>
              <a:t>The bully</a:t>
            </a:r>
            <a:r>
              <a:rPr sz="2000" spc="-20" dirty="0">
                <a:solidFill>
                  <a:srgbClr val="FF3300"/>
                </a:solidFill>
              </a:rPr>
              <a:t> </a:t>
            </a:r>
            <a:r>
              <a:rPr sz="2000" spc="-5" dirty="0">
                <a:solidFill>
                  <a:srgbClr val="FF3300"/>
                </a:solidFill>
              </a:rPr>
              <a:t>algorithm</a:t>
            </a:r>
          </a:p>
        </p:txBody>
      </p:sp>
      <p:sp>
        <p:nvSpPr>
          <p:cNvPr id="3" name="object 3"/>
          <p:cNvSpPr/>
          <p:nvPr/>
        </p:nvSpPr>
        <p:spPr>
          <a:xfrm>
            <a:off x="8634517" y="3914221"/>
            <a:ext cx="233045" cy="263525"/>
          </a:xfrm>
          <a:custGeom>
            <a:avLst/>
            <a:gdLst/>
            <a:ahLst/>
            <a:cxnLst/>
            <a:rect l="l" t="t" r="r" b="b"/>
            <a:pathLst>
              <a:path w="233045" h="263525">
                <a:moveTo>
                  <a:pt x="116670" y="0"/>
                </a:moveTo>
                <a:lnTo>
                  <a:pt x="73871" y="10463"/>
                </a:lnTo>
                <a:lnTo>
                  <a:pt x="36495" y="38012"/>
                </a:lnTo>
                <a:lnTo>
                  <a:pt x="10039" y="76887"/>
                </a:lnTo>
                <a:lnTo>
                  <a:pt x="0" y="121325"/>
                </a:lnTo>
                <a:lnTo>
                  <a:pt x="10040" y="177819"/>
                </a:lnTo>
                <a:lnTo>
                  <a:pt x="36496" y="222751"/>
                </a:lnTo>
                <a:lnTo>
                  <a:pt x="73871" y="252422"/>
                </a:lnTo>
                <a:lnTo>
                  <a:pt x="116670" y="263134"/>
                </a:lnTo>
                <a:lnTo>
                  <a:pt x="159134" y="252422"/>
                </a:lnTo>
                <a:lnTo>
                  <a:pt x="196337" y="222751"/>
                </a:lnTo>
                <a:lnTo>
                  <a:pt x="222729" y="177819"/>
                </a:lnTo>
                <a:lnTo>
                  <a:pt x="232760" y="121325"/>
                </a:lnTo>
                <a:lnTo>
                  <a:pt x="222729" y="76887"/>
                </a:lnTo>
                <a:lnTo>
                  <a:pt x="196336" y="38012"/>
                </a:lnTo>
                <a:lnTo>
                  <a:pt x="159133" y="10463"/>
                </a:lnTo>
                <a:lnTo>
                  <a:pt x="116670" y="0"/>
                </a:lnTo>
                <a:close/>
              </a:path>
            </a:pathLst>
          </a:custGeom>
          <a:solidFill>
            <a:srgbClr val="FFDC99"/>
          </a:solidFill>
        </p:spPr>
        <p:txBody>
          <a:bodyPr wrap="square" lIns="0" tIns="0" rIns="0" bIns="0" rtlCol="0"/>
          <a:lstStyle/>
          <a:p>
            <a:endParaRPr/>
          </a:p>
        </p:txBody>
      </p:sp>
      <p:sp>
        <p:nvSpPr>
          <p:cNvPr id="4" name="object 4"/>
          <p:cNvSpPr/>
          <p:nvPr/>
        </p:nvSpPr>
        <p:spPr>
          <a:xfrm>
            <a:off x="8634517" y="3914221"/>
            <a:ext cx="233045" cy="263525"/>
          </a:xfrm>
          <a:custGeom>
            <a:avLst/>
            <a:gdLst/>
            <a:ahLst/>
            <a:cxnLst/>
            <a:rect l="l" t="t" r="r" b="b"/>
            <a:pathLst>
              <a:path w="233045" h="263525">
                <a:moveTo>
                  <a:pt x="159134" y="252422"/>
                </a:moveTo>
                <a:lnTo>
                  <a:pt x="196337" y="222751"/>
                </a:lnTo>
                <a:lnTo>
                  <a:pt x="222729" y="177819"/>
                </a:lnTo>
                <a:lnTo>
                  <a:pt x="232760" y="121325"/>
                </a:lnTo>
                <a:lnTo>
                  <a:pt x="222729" y="76887"/>
                </a:lnTo>
                <a:lnTo>
                  <a:pt x="196337" y="38012"/>
                </a:lnTo>
                <a:lnTo>
                  <a:pt x="159133" y="10463"/>
                </a:lnTo>
                <a:lnTo>
                  <a:pt x="116670" y="0"/>
                </a:lnTo>
                <a:lnTo>
                  <a:pt x="73871" y="10463"/>
                </a:lnTo>
                <a:lnTo>
                  <a:pt x="36495" y="38012"/>
                </a:lnTo>
                <a:lnTo>
                  <a:pt x="10039" y="76887"/>
                </a:lnTo>
                <a:lnTo>
                  <a:pt x="0" y="121325"/>
                </a:lnTo>
                <a:lnTo>
                  <a:pt x="10039" y="177819"/>
                </a:lnTo>
                <a:lnTo>
                  <a:pt x="36495" y="222751"/>
                </a:lnTo>
                <a:lnTo>
                  <a:pt x="73871" y="252422"/>
                </a:lnTo>
                <a:lnTo>
                  <a:pt x="116670" y="263134"/>
                </a:lnTo>
                <a:lnTo>
                  <a:pt x="159134" y="252422"/>
                </a:lnTo>
              </a:path>
            </a:pathLst>
          </a:custGeom>
          <a:ln w="39942">
            <a:solidFill>
              <a:srgbClr val="FFECCC"/>
            </a:solidFill>
          </a:ln>
        </p:spPr>
        <p:txBody>
          <a:bodyPr wrap="square" lIns="0" tIns="0" rIns="0" bIns="0" rtlCol="0"/>
          <a:lstStyle/>
          <a:p>
            <a:endParaRPr/>
          </a:p>
        </p:txBody>
      </p:sp>
      <p:sp>
        <p:nvSpPr>
          <p:cNvPr id="5" name="object 5"/>
          <p:cNvSpPr txBox="1"/>
          <p:nvPr/>
        </p:nvSpPr>
        <p:spPr>
          <a:xfrm>
            <a:off x="5366184" y="3050274"/>
            <a:ext cx="189230" cy="220345"/>
          </a:xfrm>
          <a:prstGeom prst="rect">
            <a:avLst/>
          </a:prstGeom>
        </p:spPr>
        <p:txBody>
          <a:bodyPr vert="horz" wrap="square" lIns="0" tIns="15875" rIns="0" bIns="0" rtlCol="0">
            <a:spAutoFit/>
          </a:bodyPr>
          <a:lstStyle/>
          <a:p>
            <a:pPr marL="12700">
              <a:lnSpc>
                <a:spcPct val="100000"/>
              </a:lnSpc>
              <a:spcBef>
                <a:spcPts val="125"/>
              </a:spcBef>
            </a:pPr>
            <a:r>
              <a:rPr sz="1250" spc="-95" dirty="0">
                <a:latin typeface="Arial"/>
                <a:cs typeface="Arial"/>
                <a:hlinkClick r:id="rId2"/>
              </a:rPr>
              <a:t>p</a:t>
            </a:r>
            <a:r>
              <a:rPr sz="1875" spc="-30" baseline="-22222" dirty="0">
                <a:latin typeface="Arial"/>
                <a:cs typeface="Arial"/>
                <a:hlinkClick r:id="rId2"/>
              </a:rPr>
              <a:t>1</a:t>
            </a:r>
            <a:endParaRPr sz="1875" baseline="-22222">
              <a:latin typeface="Arial"/>
              <a:cs typeface="Arial"/>
            </a:endParaRPr>
          </a:p>
        </p:txBody>
      </p:sp>
      <p:sp>
        <p:nvSpPr>
          <p:cNvPr id="6" name="object 6"/>
          <p:cNvSpPr txBox="1"/>
          <p:nvPr/>
        </p:nvSpPr>
        <p:spPr>
          <a:xfrm>
            <a:off x="6451511" y="3070697"/>
            <a:ext cx="111760" cy="220345"/>
          </a:xfrm>
          <a:prstGeom prst="rect">
            <a:avLst/>
          </a:prstGeom>
        </p:spPr>
        <p:txBody>
          <a:bodyPr vert="horz" wrap="square" lIns="0" tIns="15875" rIns="0" bIns="0" rtlCol="0">
            <a:spAutoFit/>
          </a:bodyPr>
          <a:lstStyle/>
          <a:p>
            <a:pPr marL="12700">
              <a:lnSpc>
                <a:spcPct val="100000"/>
              </a:lnSpc>
              <a:spcBef>
                <a:spcPts val="125"/>
              </a:spcBef>
            </a:pPr>
            <a:r>
              <a:rPr sz="1250" spc="-20" dirty="0">
                <a:latin typeface="Arial"/>
                <a:cs typeface="Arial"/>
                <a:hlinkClick r:id="rId2"/>
              </a:rPr>
              <a:t>p</a:t>
            </a:r>
            <a:endParaRPr sz="1250">
              <a:latin typeface="Arial"/>
              <a:cs typeface="Arial"/>
            </a:endParaRPr>
          </a:p>
        </p:txBody>
      </p:sp>
      <p:sp>
        <p:nvSpPr>
          <p:cNvPr id="7" name="object 7"/>
          <p:cNvSpPr txBox="1"/>
          <p:nvPr/>
        </p:nvSpPr>
        <p:spPr>
          <a:xfrm>
            <a:off x="6528711" y="3213140"/>
            <a:ext cx="90170" cy="171450"/>
          </a:xfrm>
          <a:prstGeom prst="rect">
            <a:avLst/>
          </a:prstGeom>
        </p:spPr>
        <p:txBody>
          <a:bodyPr vert="horz" wrap="square" lIns="0" tIns="13335" rIns="0" bIns="0" rtlCol="0">
            <a:spAutoFit/>
          </a:bodyPr>
          <a:lstStyle/>
          <a:p>
            <a:pPr marL="12700">
              <a:lnSpc>
                <a:spcPct val="100000"/>
              </a:lnSpc>
              <a:spcBef>
                <a:spcPts val="105"/>
              </a:spcBef>
            </a:pPr>
            <a:r>
              <a:rPr sz="950" spc="-25" dirty="0">
                <a:latin typeface="Arial"/>
                <a:cs typeface="Arial"/>
                <a:hlinkClick r:id="rId2"/>
              </a:rPr>
              <a:t>2</a:t>
            </a:r>
            <a:endParaRPr sz="950">
              <a:latin typeface="Arial"/>
              <a:cs typeface="Arial"/>
            </a:endParaRPr>
          </a:p>
        </p:txBody>
      </p:sp>
      <p:sp>
        <p:nvSpPr>
          <p:cNvPr id="8" name="object 8"/>
          <p:cNvSpPr txBox="1"/>
          <p:nvPr/>
        </p:nvSpPr>
        <p:spPr>
          <a:xfrm>
            <a:off x="7556303" y="3070697"/>
            <a:ext cx="187325" cy="333375"/>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hlinkClick r:id="rId2"/>
              </a:rPr>
              <a:t>p</a:t>
            </a:r>
            <a:endParaRPr sz="1250">
              <a:latin typeface="Arial"/>
              <a:cs typeface="Arial"/>
            </a:endParaRPr>
          </a:p>
          <a:p>
            <a:pPr marL="109220">
              <a:lnSpc>
                <a:spcPts val="1019"/>
              </a:lnSpc>
            </a:pPr>
            <a:r>
              <a:rPr sz="950" spc="-25" dirty="0">
                <a:latin typeface="Arial"/>
                <a:cs typeface="Arial"/>
                <a:hlinkClick r:id="rId2"/>
              </a:rPr>
              <a:t>3</a:t>
            </a:r>
            <a:endParaRPr sz="950">
              <a:latin typeface="Arial"/>
              <a:cs typeface="Arial"/>
            </a:endParaRPr>
          </a:p>
        </p:txBody>
      </p:sp>
      <p:sp>
        <p:nvSpPr>
          <p:cNvPr id="9" name="object 9"/>
          <p:cNvSpPr txBox="1"/>
          <p:nvPr/>
        </p:nvSpPr>
        <p:spPr>
          <a:xfrm>
            <a:off x="8680249" y="3090716"/>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4</a:t>
            </a:r>
            <a:endParaRPr sz="950">
              <a:latin typeface="Arial"/>
              <a:cs typeface="Arial"/>
            </a:endParaRPr>
          </a:p>
        </p:txBody>
      </p:sp>
      <p:sp>
        <p:nvSpPr>
          <p:cNvPr id="10" name="object 10"/>
          <p:cNvSpPr txBox="1"/>
          <p:nvPr/>
        </p:nvSpPr>
        <p:spPr>
          <a:xfrm>
            <a:off x="5366184" y="4184648"/>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1</a:t>
            </a:r>
            <a:endParaRPr sz="950">
              <a:latin typeface="Arial"/>
              <a:cs typeface="Arial"/>
            </a:endParaRPr>
          </a:p>
        </p:txBody>
      </p:sp>
      <p:sp>
        <p:nvSpPr>
          <p:cNvPr id="11" name="object 11"/>
          <p:cNvSpPr txBox="1"/>
          <p:nvPr/>
        </p:nvSpPr>
        <p:spPr>
          <a:xfrm>
            <a:off x="6451511" y="4205112"/>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2</a:t>
            </a:r>
            <a:endParaRPr sz="950">
              <a:latin typeface="Arial"/>
              <a:cs typeface="Arial"/>
            </a:endParaRPr>
          </a:p>
        </p:txBody>
      </p:sp>
      <p:sp>
        <p:nvSpPr>
          <p:cNvPr id="12" name="object 12"/>
          <p:cNvSpPr txBox="1"/>
          <p:nvPr/>
        </p:nvSpPr>
        <p:spPr>
          <a:xfrm>
            <a:off x="7556303" y="4225595"/>
            <a:ext cx="111760" cy="220345"/>
          </a:xfrm>
          <a:prstGeom prst="rect">
            <a:avLst/>
          </a:prstGeom>
        </p:spPr>
        <p:txBody>
          <a:bodyPr vert="horz" wrap="square" lIns="0" tIns="15875" rIns="0" bIns="0" rtlCol="0">
            <a:spAutoFit/>
          </a:bodyPr>
          <a:lstStyle/>
          <a:p>
            <a:pPr marL="12700">
              <a:lnSpc>
                <a:spcPct val="100000"/>
              </a:lnSpc>
              <a:spcBef>
                <a:spcPts val="125"/>
              </a:spcBef>
            </a:pPr>
            <a:r>
              <a:rPr sz="1250" spc="-20" dirty="0">
                <a:latin typeface="Arial"/>
                <a:cs typeface="Arial"/>
              </a:rPr>
              <a:t>p</a:t>
            </a:r>
            <a:endParaRPr sz="1250">
              <a:latin typeface="Arial"/>
              <a:cs typeface="Arial"/>
            </a:endParaRPr>
          </a:p>
        </p:txBody>
      </p:sp>
      <p:sp>
        <p:nvSpPr>
          <p:cNvPr id="13" name="object 13"/>
          <p:cNvSpPr txBox="1"/>
          <p:nvPr/>
        </p:nvSpPr>
        <p:spPr>
          <a:xfrm>
            <a:off x="7653238" y="4367876"/>
            <a:ext cx="90170" cy="171450"/>
          </a:xfrm>
          <a:prstGeom prst="rect">
            <a:avLst/>
          </a:prstGeom>
        </p:spPr>
        <p:txBody>
          <a:bodyPr vert="horz" wrap="square" lIns="0" tIns="13335" rIns="0" bIns="0" rtlCol="0">
            <a:spAutoFit/>
          </a:bodyPr>
          <a:lstStyle/>
          <a:p>
            <a:pPr marL="12700">
              <a:lnSpc>
                <a:spcPct val="100000"/>
              </a:lnSpc>
              <a:spcBef>
                <a:spcPts val="105"/>
              </a:spcBef>
            </a:pPr>
            <a:r>
              <a:rPr sz="950" spc="-25" dirty="0">
                <a:latin typeface="Arial"/>
                <a:cs typeface="Arial"/>
              </a:rPr>
              <a:t>3</a:t>
            </a:r>
            <a:endParaRPr sz="950">
              <a:latin typeface="Arial"/>
              <a:cs typeface="Arial"/>
            </a:endParaRPr>
          </a:p>
        </p:txBody>
      </p:sp>
      <p:sp>
        <p:nvSpPr>
          <p:cNvPr id="14" name="object 14"/>
          <p:cNvSpPr txBox="1"/>
          <p:nvPr/>
        </p:nvSpPr>
        <p:spPr>
          <a:xfrm>
            <a:off x="8680250" y="4225595"/>
            <a:ext cx="167640" cy="333375"/>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4</a:t>
            </a:r>
            <a:endParaRPr sz="950">
              <a:latin typeface="Arial"/>
              <a:cs typeface="Arial"/>
            </a:endParaRPr>
          </a:p>
        </p:txBody>
      </p:sp>
      <p:sp>
        <p:nvSpPr>
          <p:cNvPr id="15" name="object 15"/>
          <p:cNvSpPr/>
          <p:nvPr/>
        </p:nvSpPr>
        <p:spPr>
          <a:xfrm>
            <a:off x="8615556" y="1543640"/>
            <a:ext cx="252095" cy="283845"/>
          </a:xfrm>
          <a:custGeom>
            <a:avLst/>
            <a:gdLst/>
            <a:ahLst/>
            <a:cxnLst/>
            <a:rect l="l" t="t" r="r" b="b"/>
            <a:pathLst>
              <a:path w="252095" h="283844">
                <a:moveTo>
                  <a:pt x="115896" y="0"/>
                </a:moveTo>
                <a:lnTo>
                  <a:pt x="73218" y="10773"/>
                </a:lnTo>
                <a:lnTo>
                  <a:pt x="36108" y="40542"/>
                </a:lnTo>
                <a:lnTo>
                  <a:pt x="9919" y="85477"/>
                </a:lnTo>
                <a:lnTo>
                  <a:pt x="0" y="141748"/>
                </a:lnTo>
                <a:lnTo>
                  <a:pt x="9919" y="198307"/>
                </a:lnTo>
                <a:lnTo>
                  <a:pt x="36108" y="243282"/>
                </a:lnTo>
                <a:lnTo>
                  <a:pt x="73218" y="272979"/>
                </a:lnTo>
                <a:lnTo>
                  <a:pt x="115896" y="283699"/>
                </a:lnTo>
                <a:lnTo>
                  <a:pt x="159741" y="276759"/>
                </a:lnTo>
                <a:lnTo>
                  <a:pt x="197141" y="257201"/>
                </a:lnTo>
                <a:lnTo>
                  <a:pt x="226200" y="226919"/>
                </a:lnTo>
                <a:lnTo>
                  <a:pt x="245025" y="187803"/>
                </a:lnTo>
                <a:lnTo>
                  <a:pt x="251721" y="141748"/>
                </a:lnTo>
                <a:lnTo>
                  <a:pt x="245025" y="95947"/>
                </a:lnTo>
                <a:lnTo>
                  <a:pt x="226200" y="56911"/>
                </a:lnTo>
                <a:lnTo>
                  <a:pt x="197140" y="26601"/>
                </a:lnTo>
                <a:lnTo>
                  <a:pt x="159741" y="6977"/>
                </a:lnTo>
                <a:lnTo>
                  <a:pt x="115896" y="0"/>
                </a:lnTo>
                <a:close/>
              </a:path>
            </a:pathLst>
          </a:custGeom>
          <a:solidFill>
            <a:srgbClr val="FFDC99"/>
          </a:solidFill>
        </p:spPr>
        <p:txBody>
          <a:bodyPr wrap="square" lIns="0" tIns="0" rIns="0" bIns="0" rtlCol="0"/>
          <a:lstStyle/>
          <a:p>
            <a:endParaRPr/>
          </a:p>
        </p:txBody>
      </p:sp>
      <p:sp>
        <p:nvSpPr>
          <p:cNvPr id="16" name="object 16"/>
          <p:cNvSpPr/>
          <p:nvPr/>
        </p:nvSpPr>
        <p:spPr>
          <a:xfrm>
            <a:off x="8615556" y="1543640"/>
            <a:ext cx="252095" cy="283845"/>
          </a:xfrm>
          <a:custGeom>
            <a:avLst/>
            <a:gdLst/>
            <a:ahLst/>
            <a:cxnLst/>
            <a:rect l="l" t="t" r="r" b="b"/>
            <a:pathLst>
              <a:path w="252095" h="283844">
                <a:moveTo>
                  <a:pt x="197141" y="257201"/>
                </a:moveTo>
                <a:lnTo>
                  <a:pt x="226200" y="226919"/>
                </a:lnTo>
                <a:lnTo>
                  <a:pt x="245025" y="187803"/>
                </a:lnTo>
                <a:lnTo>
                  <a:pt x="251721" y="141748"/>
                </a:lnTo>
                <a:lnTo>
                  <a:pt x="245025" y="95947"/>
                </a:lnTo>
                <a:lnTo>
                  <a:pt x="226200" y="56911"/>
                </a:lnTo>
                <a:lnTo>
                  <a:pt x="197140" y="26601"/>
                </a:lnTo>
                <a:lnTo>
                  <a:pt x="159741" y="6977"/>
                </a:lnTo>
                <a:lnTo>
                  <a:pt x="115896" y="0"/>
                </a:lnTo>
                <a:lnTo>
                  <a:pt x="73218" y="10773"/>
                </a:lnTo>
                <a:lnTo>
                  <a:pt x="36108" y="40542"/>
                </a:lnTo>
                <a:lnTo>
                  <a:pt x="9919" y="85477"/>
                </a:lnTo>
                <a:lnTo>
                  <a:pt x="0" y="141748"/>
                </a:lnTo>
                <a:lnTo>
                  <a:pt x="9919" y="198307"/>
                </a:lnTo>
                <a:lnTo>
                  <a:pt x="36108" y="243282"/>
                </a:lnTo>
                <a:lnTo>
                  <a:pt x="73218" y="272979"/>
                </a:lnTo>
                <a:lnTo>
                  <a:pt x="115896" y="283699"/>
                </a:lnTo>
                <a:lnTo>
                  <a:pt x="159741" y="276759"/>
                </a:lnTo>
                <a:lnTo>
                  <a:pt x="197141" y="257201"/>
                </a:lnTo>
              </a:path>
            </a:pathLst>
          </a:custGeom>
          <a:ln w="39944">
            <a:solidFill>
              <a:srgbClr val="FFECCC"/>
            </a:solidFill>
          </a:ln>
        </p:spPr>
        <p:txBody>
          <a:bodyPr wrap="square" lIns="0" tIns="0" rIns="0" bIns="0" rtlCol="0"/>
          <a:lstStyle/>
          <a:p>
            <a:endParaRPr/>
          </a:p>
        </p:txBody>
      </p:sp>
      <p:sp>
        <p:nvSpPr>
          <p:cNvPr id="17" name="object 17"/>
          <p:cNvSpPr txBox="1"/>
          <p:nvPr/>
        </p:nvSpPr>
        <p:spPr>
          <a:xfrm>
            <a:off x="6509750" y="4934566"/>
            <a:ext cx="123825" cy="195580"/>
          </a:xfrm>
          <a:prstGeom prst="rect">
            <a:avLst/>
          </a:prstGeom>
        </p:spPr>
        <p:txBody>
          <a:bodyPr vert="horz" wrap="square" lIns="0" tIns="14604" rIns="0" bIns="0" rtlCol="0">
            <a:spAutoFit/>
          </a:bodyPr>
          <a:lstStyle/>
          <a:p>
            <a:pPr marL="12700">
              <a:lnSpc>
                <a:spcPct val="100000"/>
              </a:lnSpc>
              <a:spcBef>
                <a:spcPts val="114"/>
              </a:spcBef>
            </a:pPr>
            <a:r>
              <a:rPr sz="1100" spc="-25" dirty="0">
                <a:latin typeface="Arial"/>
                <a:cs typeface="Arial"/>
              </a:rPr>
              <a:t>C</a:t>
            </a:r>
            <a:endParaRPr sz="1100">
              <a:latin typeface="Arial"/>
              <a:cs typeface="Arial"/>
            </a:endParaRPr>
          </a:p>
        </p:txBody>
      </p:sp>
      <p:sp>
        <p:nvSpPr>
          <p:cNvPr id="18" name="object 18"/>
          <p:cNvSpPr txBox="1"/>
          <p:nvPr/>
        </p:nvSpPr>
        <p:spPr>
          <a:xfrm>
            <a:off x="5657087" y="4752314"/>
            <a:ext cx="770890" cy="195580"/>
          </a:xfrm>
          <a:prstGeom prst="rect">
            <a:avLst/>
          </a:prstGeom>
        </p:spPr>
        <p:txBody>
          <a:bodyPr vert="horz" wrap="square" lIns="0" tIns="14604" rIns="0" bIns="0" rtlCol="0">
            <a:spAutoFit/>
          </a:bodyPr>
          <a:lstStyle/>
          <a:p>
            <a:pPr marL="12700">
              <a:lnSpc>
                <a:spcPct val="100000"/>
              </a:lnSpc>
              <a:spcBef>
                <a:spcPts val="114"/>
              </a:spcBef>
            </a:pPr>
            <a:r>
              <a:rPr sz="1100" spc="-5" dirty="0">
                <a:latin typeface="Arial"/>
                <a:cs typeface="Arial"/>
              </a:rPr>
              <a:t>coord</a:t>
            </a:r>
            <a:r>
              <a:rPr sz="1100" spc="-175" dirty="0">
                <a:latin typeface="Arial"/>
                <a:cs typeface="Arial"/>
              </a:rPr>
              <a:t> </a:t>
            </a:r>
            <a:r>
              <a:rPr sz="1100" spc="10" dirty="0">
                <a:latin typeface="Arial"/>
                <a:cs typeface="Arial"/>
              </a:rPr>
              <a:t>inat</a:t>
            </a:r>
            <a:r>
              <a:rPr sz="1100" spc="-175" dirty="0">
                <a:latin typeface="Arial"/>
                <a:cs typeface="Arial"/>
              </a:rPr>
              <a:t> </a:t>
            </a:r>
            <a:r>
              <a:rPr sz="1100" spc="-10" dirty="0">
                <a:latin typeface="Arial"/>
                <a:cs typeface="Arial"/>
              </a:rPr>
              <a:t>or</a:t>
            </a:r>
            <a:endParaRPr sz="1100">
              <a:latin typeface="Arial"/>
              <a:cs typeface="Arial"/>
            </a:endParaRPr>
          </a:p>
        </p:txBody>
      </p:sp>
      <p:sp>
        <p:nvSpPr>
          <p:cNvPr id="19" name="object 19"/>
          <p:cNvSpPr txBox="1"/>
          <p:nvPr/>
        </p:nvSpPr>
        <p:spPr>
          <a:xfrm>
            <a:off x="4513579" y="5177702"/>
            <a:ext cx="528320" cy="195580"/>
          </a:xfrm>
          <a:prstGeom prst="rect">
            <a:avLst/>
          </a:prstGeom>
        </p:spPr>
        <p:txBody>
          <a:bodyPr vert="horz" wrap="square" lIns="0" tIns="14604" rIns="0" bIns="0" rtlCol="0">
            <a:spAutoFit/>
          </a:bodyPr>
          <a:lstStyle/>
          <a:p>
            <a:pPr marL="12700">
              <a:lnSpc>
                <a:spcPct val="100000"/>
              </a:lnSpc>
              <a:spcBef>
                <a:spcPts val="114"/>
              </a:spcBef>
            </a:pPr>
            <a:r>
              <a:rPr sz="1100" dirty="0">
                <a:latin typeface="Arial"/>
                <a:cs typeface="Arial"/>
              </a:rPr>
              <a:t>Stag </a:t>
            </a:r>
            <a:r>
              <a:rPr sz="1100" spc="-20" dirty="0">
                <a:latin typeface="Arial"/>
                <a:cs typeface="Arial"/>
              </a:rPr>
              <a:t>e</a:t>
            </a:r>
            <a:r>
              <a:rPr sz="1100" spc="-195" dirty="0">
                <a:latin typeface="Arial"/>
                <a:cs typeface="Arial"/>
              </a:rPr>
              <a:t> </a:t>
            </a:r>
            <a:r>
              <a:rPr sz="1100" spc="-20" dirty="0">
                <a:latin typeface="Arial"/>
                <a:cs typeface="Arial"/>
              </a:rPr>
              <a:t>4</a:t>
            </a:r>
            <a:endParaRPr sz="1100">
              <a:latin typeface="Arial"/>
              <a:cs typeface="Arial"/>
            </a:endParaRPr>
          </a:p>
        </p:txBody>
      </p:sp>
      <p:sp>
        <p:nvSpPr>
          <p:cNvPr id="20" name="object 20"/>
          <p:cNvSpPr txBox="1"/>
          <p:nvPr/>
        </p:nvSpPr>
        <p:spPr>
          <a:xfrm>
            <a:off x="8699210" y="2584428"/>
            <a:ext cx="123825" cy="195580"/>
          </a:xfrm>
          <a:prstGeom prst="rect">
            <a:avLst/>
          </a:prstGeom>
        </p:spPr>
        <p:txBody>
          <a:bodyPr vert="horz" wrap="square" lIns="0" tIns="14604" rIns="0" bIns="0" rtlCol="0">
            <a:spAutoFit/>
          </a:bodyPr>
          <a:lstStyle/>
          <a:p>
            <a:pPr marL="12700">
              <a:lnSpc>
                <a:spcPct val="100000"/>
              </a:lnSpc>
              <a:spcBef>
                <a:spcPts val="114"/>
              </a:spcBef>
            </a:pPr>
            <a:r>
              <a:rPr sz="1100" spc="-25" dirty="0">
                <a:latin typeface="Arial"/>
                <a:cs typeface="Arial"/>
              </a:rPr>
              <a:t>C</a:t>
            </a:r>
            <a:endParaRPr sz="1100">
              <a:latin typeface="Arial"/>
              <a:cs typeface="Arial"/>
            </a:endParaRPr>
          </a:p>
        </p:txBody>
      </p:sp>
      <p:sp>
        <p:nvSpPr>
          <p:cNvPr id="21" name="object 21"/>
          <p:cNvSpPr txBox="1"/>
          <p:nvPr/>
        </p:nvSpPr>
        <p:spPr>
          <a:xfrm>
            <a:off x="7400935" y="2321354"/>
            <a:ext cx="548005"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rPr>
              <a:t>ele</a:t>
            </a:r>
            <a:r>
              <a:rPr sz="1100" spc="-245" dirty="0">
                <a:latin typeface="Arial"/>
                <a:cs typeface="Arial"/>
              </a:rPr>
              <a:t> </a:t>
            </a:r>
            <a:r>
              <a:rPr sz="1100" spc="-35" dirty="0">
                <a:latin typeface="Arial"/>
                <a:cs typeface="Arial"/>
              </a:rPr>
              <a:t>cti </a:t>
            </a:r>
            <a:r>
              <a:rPr sz="1100" spc="-15" dirty="0">
                <a:latin typeface="Arial"/>
                <a:cs typeface="Arial"/>
              </a:rPr>
              <a:t>on</a:t>
            </a:r>
            <a:endParaRPr sz="1100">
              <a:latin typeface="Arial"/>
              <a:cs typeface="Arial"/>
            </a:endParaRPr>
          </a:p>
        </p:txBody>
      </p:sp>
      <p:sp>
        <p:nvSpPr>
          <p:cNvPr id="22" name="object 22"/>
          <p:cNvSpPr txBox="1"/>
          <p:nvPr/>
        </p:nvSpPr>
        <p:spPr>
          <a:xfrm>
            <a:off x="6839253" y="2645294"/>
            <a:ext cx="548005"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rPr>
              <a:t>ele</a:t>
            </a:r>
            <a:r>
              <a:rPr sz="1100" spc="-245" dirty="0">
                <a:latin typeface="Arial"/>
                <a:cs typeface="Arial"/>
              </a:rPr>
              <a:t> </a:t>
            </a:r>
            <a:r>
              <a:rPr sz="1100" spc="-35" dirty="0">
                <a:latin typeface="Arial"/>
                <a:cs typeface="Arial"/>
              </a:rPr>
              <a:t>cti </a:t>
            </a:r>
            <a:r>
              <a:rPr sz="1100" spc="-15" dirty="0">
                <a:latin typeface="Arial"/>
                <a:cs typeface="Arial"/>
              </a:rPr>
              <a:t>on</a:t>
            </a:r>
            <a:endParaRPr sz="1100">
              <a:latin typeface="Arial"/>
              <a:cs typeface="Arial"/>
            </a:endParaRPr>
          </a:p>
        </p:txBody>
      </p:sp>
      <p:sp>
        <p:nvSpPr>
          <p:cNvPr id="23" name="object 23"/>
          <p:cNvSpPr txBox="1"/>
          <p:nvPr/>
        </p:nvSpPr>
        <p:spPr>
          <a:xfrm>
            <a:off x="4513579" y="2827686"/>
            <a:ext cx="528320" cy="195580"/>
          </a:xfrm>
          <a:prstGeom prst="rect">
            <a:avLst/>
          </a:prstGeom>
        </p:spPr>
        <p:txBody>
          <a:bodyPr vert="horz" wrap="square" lIns="0" tIns="14604" rIns="0" bIns="0" rtlCol="0">
            <a:spAutoFit/>
          </a:bodyPr>
          <a:lstStyle/>
          <a:p>
            <a:pPr marL="12700">
              <a:lnSpc>
                <a:spcPct val="100000"/>
              </a:lnSpc>
              <a:spcBef>
                <a:spcPts val="114"/>
              </a:spcBef>
            </a:pPr>
            <a:r>
              <a:rPr sz="1100" dirty="0">
                <a:latin typeface="Arial"/>
                <a:cs typeface="Arial"/>
                <a:hlinkClick r:id="rId2"/>
              </a:rPr>
              <a:t>Stag </a:t>
            </a:r>
            <a:r>
              <a:rPr sz="1100" spc="-20" dirty="0">
                <a:latin typeface="Arial"/>
                <a:cs typeface="Arial"/>
                <a:hlinkClick r:id="rId2"/>
              </a:rPr>
              <a:t>e</a:t>
            </a:r>
            <a:r>
              <a:rPr sz="1100" spc="-195" dirty="0">
                <a:latin typeface="Arial"/>
                <a:cs typeface="Arial"/>
                <a:hlinkClick r:id="rId2"/>
              </a:rPr>
              <a:t> </a:t>
            </a:r>
            <a:r>
              <a:rPr sz="1100" spc="-20" dirty="0">
                <a:latin typeface="Arial"/>
                <a:cs typeface="Arial"/>
                <a:hlinkClick r:id="rId2"/>
              </a:rPr>
              <a:t>2</a:t>
            </a:r>
            <a:endParaRPr sz="1100">
              <a:latin typeface="Arial"/>
              <a:cs typeface="Arial"/>
            </a:endParaRPr>
          </a:p>
        </p:txBody>
      </p:sp>
      <p:sp>
        <p:nvSpPr>
          <p:cNvPr id="24" name="object 24"/>
          <p:cNvSpPr txBox="1"/>
          <p:nvPr/>
        </p:nvSpPr>
        <p:spPr>
          <a:xfrm>
            <a:off x="5366184" y="1794150"/>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1</a:t>
            </a:r>
            <a:endParaRPr sz="950">
              <a:latin typeface="Arial"/>
              <a:cs typeface="Arial"/>
            </a:endParaRPr>
          </a:p>
        </p:txBody>
      </p:sp>
      <p:sp>
        <p:nvSpPr>
          <p:cNvPr id="25" name="object 25"/>
          <p:cNvSpPr txBox="1"/>
          <p:nvPr/>
        </p:nvSpPr>
        <p:spPr>
          <a:xfrm>
            <a:off x="7556303" y="1834592"/>
            <a:ext cx="111760" cy="220345"/>
          </a:xfrm>
          <a:prstGeom prst="rect">
            <a:avLst/>
          </a:prstGeom>
        </p:spPr>
        <p:txBody>
          <a:bodyPr vert="horz" wrap="square" lIns="0" tIns="15875" rIns="0" bIns="0" rtlCol="0">
            <a:spAutoFit/>
          </a:bodyPr>
          <a:lstStyle/>
          <a:p>
            <a:pPr marL="12700">
              <a:lnSpc>
                <a:spcPct val="100000"/>
              </a:lnSpc>
              <a:spcBef>
                <a:spcPts val="125"/>
              </a:spcBef>
            </a:pPr>
            <a:r>
              <a:rPr sz="1250" spc="-20" dirty="0">
                <a:latin typeface="Arial"/>
                <a:cs typeface="Arial"/>
              </a:rPr>
              <a:t>p</a:t>
            </a:r>
            <a:endParaRPr sz="1250">
              <a:latin typeface="Arial"/>
              <a:cs typeface="Arial"/>
            </a:endParaRPr>
          </a:p>
        </p:txBody>
      </p:sp>
      <p:sp>
        <p:nvSpPr>
          <p:cNvPr id="26" name="object 26"/>
          <p:cNvSpPr txBox="1"/>
          <p:nvPr/>
        </p:nvSpPr>
        <p:spPr>
          <a:xfrm>
            <a:off x="7653238" y="1976832"/>
            <a:ext cx="90170" cy="171450"/>
          </a:xfrm>
          <a:prstGeom prst="rect">
            <a:avLst/>
          </a:prstGeom>
        </p:spPr>
        <p:txBody>
          <a:bodyPr vert="horz" wrap="square" lIns="0" tIns="13335" rIns="0" bIns="0" rtlCol="0">
            <a:spAutoFit/>
          </a:bodyPr>
          <a:lstStyle/>
          <a:p>
            <a:pPr marL="12700">
              <a:lnSpc>
                <a:spcPct val="100000"/>
              </a:lnSpc>
              <a:spcBef>
                <a:spcPts val="105"/>
              </a:spcBef>
            </a:pPr>
            <a:r>
              <a:rPr sz="950" spc="-25" dirty="0">
                <a:latin typeface="Arial"/>
                <a:cs typeface="Arial"/>
              </a:rPr>
              <a:t>3</a:t>
            </a:r>
            <a:endParaRPr sz="950">
              <a:latin typeface="Arial"/>
              <a:cs typeface="Arial"/>
            </a:endParaRPr>
          </a:p>
        </p:txBody>
      </p:sp>
      <p:sp>
        <p:nvSpPr>
          <p:cNvPr id="27" name="object 27"/>
          <p:cNvSpPr txBox="1"/>
          <p:nvPr/>
        </p:nvSpPr>
        <p:spPr>
          <a:xfrm>
            <a:off x="8680249" y="1834592"/>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4</a:t>
            </a:r>
            <a:endParaRPr sz="950">
              <a:latin typeface="Arial"/>
              <a:cs typeface="Arial"/>
            </a:endParaRPr>
          </a:p>
        </p:txBody>
      </p:sp>
      <p:sp>
        <p:nvSpPr>
          <p:cNvPr id="28" name="object 28"/>
          <p:cNvSpPr txBox="1"/>
          <p:nvPr/>
        </p:nvSpPr>
        <p:spPr>
          <a:xfrm>
            <a:off x="8699210" y="1348727"/>
            <a:ext cx="123825" cy="195580"/>
          </a:xfrm>
          <a:prstGeom prst="rect">
            <a:avLst/>
          </a:prstGeom>
        </p:spPr>
        <p:txBody>
          <a:bodyPr vert="horz" wrap="square" lIns="0" tIns="14604" rIns="0" bIns="0" rtlCol="0">
            <a:spAutoFit/>
          </a:bodyPr>
          <a:lstStyle/>
          <a:p>
            <a:pPr marL="12700">
              <a:lnSpc>
                <a:spcPct val="100000"/>
              </a:lnSpc>
              <a:spcBef>
                <a:spcPts val="114"/>
              </a:spcBef>
            </a:pPr>
            <a:r>
              <a:rPr sz="1100" spc="-25" dirty="0">
                <a:latin typeface="Arial"/>
                <a:cs typeface="Arial"/>
              </a:rPr>
              <a:t>C</a:t>
            </a:r>
            <a:endParaRPr sz="1100">
              <a:latin typeface="Arial"/>
              <a:cs typeface="Arial"/>
            </a:endParaRPr>
          </a:p>
        </p:txBody>
      </p:sp>
      <p:sp>
        <p:nvSpPr>
          <p:cNvPr id="29" name="object 29"/>
          <p:cNvSpPr txBox="1"/>
          <p:nvPr/>
        </p:nvSpPr>
        <p:spPr>
          <a:xfrm>
            <a:off x="457962" y="1080516"/>
            <a:ext cx="8153400" cy="127000"/>
          </a:xfrm>
          <a:prstGeom prst="rect">
            <a:avLst/>
          </a:prstGeom>
          <a:solidFill>
            <a:srgbClr val="FFCC00"/>
          </a:solidFill>
        </p:spPr>
        <p:txBody>
          <a:bodyPr vert="horz" wrap="square" lIns="0" tIns="19050" rIns="0" bIns="0" rtlCol="0">
            <a:spAutoFit/>
          </a:bodyPr>
          <a:lstStyle/>
          <a:p>
            <a:pPr marR="1752600" algn="r">
              <a:lnSpc>
                <a:spcPts val="844"/>
              </a:lnSpc>
              <a:spcBef>
                <a:spcPts val="150"/>
              </a:spcBef>
            </a:pPr>
            <a:r>
              <a:rPr sz="1100" spc="10" dirty="0">
                <a:latin typeface="Arial"/>
                <a:cs typeface="Arial"/>
              </a:rPr>
              <a:t>ele</a:t>
            </a:r>
            <a:r>
              <a:rPr sz="1100" spc="-265" dirty="0">
                <a:latin typeface="Arial"/>
                <a:cs typeface="Arial"/>
              </a:rPr>
              <a:t> </a:t>
            </a:r>
            <a:r>
              <a:rPr sz="1100" spc="-35" dirty="0">
                <a:latin typeface="Arial"/>
                <a:cs typeface="Arial"/>
              </a:rPr>
              <a:t>cti </a:t>
            </a:r>
            <a:r>
              <a:rPr sz="1100" spc="-15" dirty="0">
                <a:latin typeface="Arial"/>
                <a:cs typeface="Arial"/>
              </a:rPr>
              <a:t>on</a:t>
            </a:r>
            <a:endParaRPr sz="1100">
              <a:latin typeface="Arial"/>
              <a:cs typeface="Arial"/>
            </a:endParaRPr>
          </a:p>
        </p:txBody>
      </p:sp>
      <p:sp>
        <p:nvSpPr>
          <p:cNvPr id="30" name="object 30"/>
          <p:cNvSpPr txBox="1"/>
          <p:nvPr/>
        </p:nvSpPr>
        <p:spPr>
          <a:xfrm>
            <a:off x="5734461" y="1733734"/>
            <a:ext cx="478790" cy="195580"/>
          </a:xfrm>
          <a:prstGeom prst="rect">
            <a:avLst/>
          </a:prstGeom>
        </p:spPr>
        <p:txBody>
          <a:bodyPr vert="horz" wrap="square" lIns="0" tIns="14604" rIns="0" bIns="0" rtlCol="0">
            <a:spAutoFit/>
          </a:bodyPr>
          <a:lstStyle/>
          <a:p>
            <a:pPr marL="12700">
              <a:lnSpc>
                <a:spcPct val="100000"/>
              </a:lnSpc>
              <a:spcBef>
                <a:spcPts val="114"/>
              </a:spcBef>
            </a:pPr>
            <a:r>
              <a:rPr sz="1100" spc="-15" dirty="0">
                <a:latin typeface="Arial"/>
                <a:cs typeface="Arial"/>
              </a:rPr>
              <a:t>an</a:t>
            </a:r>
            <a:r>
              <a:rPr sz="1100" spc="-245" dirty="0">
                <a:latin typeface="Arial"/>
                <a:cs typeface="Arial"/>
              </a:rPr>
              <a:t> </a:t>
            </a:r>
            <a:r>
              <a:rPr sz="1100" spc="-100" dirty="0">
                <a:latin typeface="Arial"/>
                <a:cs typeface="Arial"/>
              </a:rPr>
              <a:t>swe </a:t>
            </a:r>
            <a:r>
              <a:rPr sz="1100" spc="-15" dirty="0">
                <a:latin typeface="Arial"/>
                <a:cs typeface="Arial"/>
              </a:rPr>
              <a:t>r</a:t>
            </a:r>
            <a:endParaRPr sz="1100">
              <a:latin typeface="Arial"/>
              <a:cs typeface="Arial"/>
            </a:endParaRPr>
          </a:p>
        </p:txBody>
      </p:sp>
      <p:sp>
        <p:nvSpPr>
          <p:cNvPr id="31" name="object 31"/>
          <p:cNvSpPr txBox="1"/>
          <p:nvPr/>
        </p:nvSpPr>
        <p:spPr>
          <a:xfrm>
            <a:off x="6315763" y="1814573"/>
            <a:ext cx="478790" cy="560705"/>
          </a:xfrm>
          <a:prstGeom prst="rect">
            <a:avLst/>
          </a:prstGeom>
        </p:spPr>
        <p:txBody>
          <a:bodyPr vert="horz" wrap="square" lIns="0" tIns="15875" rIns="0" bIns="0" rtlCol="0">
            <a:spAutoFit/>
          </a:bodyPr>
          <a:lstStyle/>
          <a:p>
            <a:pPr marR="86995" algn="ctr">
              <a:lnSpc>
                <a:spcPts val="1380"/>
              </a:lnSpc>
              <a:spcBef>
                <a:spcPts val="125"/>
              </a:spcBef>
            </a:pPr>
            <a:r>
              <a:rPr sz="1250" spc="-20" dirty="0">
                <a:latin typeface="Arial"/>
                <a:cs typeface="Arial"/>
              </a:rPr>
              <a:t>p</a:t>
            </a:r>
            <a:endParaRPr sz="1250">
              <a:latin typeface="Arial"/>
              <a:cs typeface="Arial"/>
            </a:endParaRPr>
          </a:p>
          <a:p>
            <a:pPr marL="37465" algn="ctr">
              <a:lnSpc>
                <a:spcPts val="1019"/>
              </a:lnSpc>
            </a:pPr>
            <a:r>
              <a:rPr sz="950" spc="-25" dirty="0">
                <a:latin typeface="Arial"/>
                <a:cs typeface="Arial"/>
              </a:rPr>
              <a:t>2</a:t>
            </a:r>
            <a:endParaRPr sz="950">
              <a:latin typeface="Arial"/>
              <a:cs typeface="Arial"/>
            </a:endParaRPr>
          </a:p>
          <a:p>
            <a:pPr algn="ctr">
              <a:lnSpc>
                <a:spcPct val="100000"/>
              </a:lnSpc>
              <a:spcBef>
                <a:spcPts val="470"/>
              </a:spcBef>
            </a:pPr>
            <a:r>
              <a:rPr sz="1100" spc="-15" dirty="0">
                <a:latin typeface="Arial"/>
                <a:cs typeface="Arial"/>
              </a:rPr>
              <a:t>an</a:t>
            </a:r>
            <a:r>
              <a:rPr sz="1100" spc="-245" dirty="0">
                <a:latin typeface="Arial"/>
                <a:cs typeface="Arial"/>
              </a:rPr>
              <a:t> </a:t>
            </a:r>
            <a:r>
              <a:rPr sz="1100" spc="-100" dirty="0">
                <a:latin typeface="Arial"/>
                <a:cs typeface="Arial"/>
              </a:rPr>
              <a:t>swe </a:t>
            </a:r>
            <a:r>
              <a:rPr sz="1100" spc="-15" dirty="0">
                <a:latin typeface="Arial"/>
                <a:cs typeface="Arial"/>
              </a:rPr>
              <a:t>r</a:t>
            </a:r>
            <a:endParaRPr sz="1100">
              <a:latin typeface="Arial"/>
              <a:cs typeface="Arial"/>
            </a:endParaRPr>
          </a:p>
        </p:txBody>
      </p:sp>
      <p:sp>
        <p:nvSpPr>
          <p:cNvPr id="32" name="object 32"/>
          <p:cNvSpPr txBox="1"/>
          <p:nvPr/>
        </p:nvSpPr>
        <p:spPr>
          <a:xfrm>
            <a:off x="5714880" y="1429611"/>
            <a:ext cx="548005"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rPr>
              <a:t>ele</a:t>
            </a:r>
            <a:r>
              <a:rPr sz="1100" spc="-245" dirty="0">
                <a:latin typeface="Arial"/>
                <a:cs typeface="Arial"/>
              </a:rPr>
              <a:t> </a:t>
            </a:r>
            <a:r>
              <a:rPr sz="1100" spc="-35" dirty="0">
                <a:latin typeface="Arial"/>
                <a:cs typeface="Arial"/>
              </a:rPr>
              <a:t>cti </a:t>
            </a:r>
            <a:r>
              <a:rPr sz="1100" spc="-15" dirty="0">
                <a:latin typeface="Arial"/>
                <a:cs typeface="Arial"/>
              </a:rPr>
              <a:t>on</a:t>
            </a:r>
            <a:endParaRPr sz="1100">
              <a:latin typeface="Arial"/>
              <a:cs typeface="Arial"/>
            </a:endParaRPr>
          </a:p>
        </p:txBody>
      </p:sp>
      <p:sp>
        <p:nvSpPr>
          <p:cNvPr id="33" name="object 33"/>
          <p:cNvSpPr txBox="1"/>
          <p:nvPr/>
        </p:nvSpPr>
        <p:spPr>
          <a:xfrm>
            <a:off x="4513579" y="1591985"/>
            <a:ext cx="528320" cy="195580"/>
          </a:xfrm>
          <a:prstGeom prst="rect">
            <a:avLst/>
          </a:prstGeom>
        </p:spPr>
        <p:txBody>
          <a:bodyPr vert="horz" wrap="square" lIns="0" tIns="14604" rIns="0" bIns="0" rtlCol="0">
            <a:spAutoFit/>
          </a:bodyPr>
          <a:lstStyle/>
          <a:p>
            <a:pPr marL="12700">
              <a:lnSpc>
                <a:spcPct val="100000"/>
              </a:lnSpc>
              <a:spcBef>
                <a:spcPts val="114"/>
              </a:spcBef>
            </a:pPr>
            <a:r>
              <a:rPr sz="1100" dirty="0">
                <a:latin typeface="Arial"/>
                <a:cs typeface="Arial"/>
              </a:rPr>
              <a:t>Stag </a:t>
            </a:r>
            <a:r>
              <a:rPr sz="1100" spc="-20" dirty="0">
                <a:latin typeface="Arial"/>
                <a:cs typeface="Arial"/>
              </a:rPr>
              <a:t>e</a:t>
            </a:r>
            <a:r>
              <a:rPr sz="1100" spc="-195" dirty="0">
                <a:latin typeface="Arial"/>
                <a:cs typeface="Arial"/>
              </a:rPr>
              <a:t> </a:t>
            </a:r>
            <a:r>
              <a:rPr sz="1100" spc="-20" dirty="0">
                <a:latin typeface="Arial"/>
                <a:cs typeface="Arial"/>
              </a:rPr>
              <a:t>1</a:t>
            </a:r>
            <a:endParaRPr sz="1100">
              <a:latin typeface="Arial"/>
              <a:cs typeface="Arial"/>
            </a:endParaRPr>
          </a:p>
        </p:txBody>
      </p:sp>
      <p:sp>
        <p:nvSpPr>
          <p:cNvPr id="34" name="object 34"/>
          <p:cNvSpPr txBox="1"/>
          <p:nvPr/>
        </p:nvSpPr>
        <p:spPr>
          <a:xfrm>
            <a:off x="5230533" y="3678381"/>
            <a:ext cx="529590"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hlinkClick r:id="rId2"/>
              </a:rPr>
              <a:t>tim</a:t>
            </a:r>
            <a:r>
              <a:rPr sz="1100" spc="-165" dirty="0">
                <a:latin typeface="Arial"/>
                <a:cs typeface="Arial"/>
                <a:hlinkClick r:id="rId2"/>
              </a:rPr>
              <a:t> </a:t>
            </a:r>
            <a:r>
              <a:rPr sz="1100" spc="-10" dirty="0">
                <a:latin typeface="Arial"/>
                <a:cs typeface="Arial"/>
                <a:hlinkClick r:id="rId2"/>
              </a:rPr>
              <a:t>eou</a:t>
            </a:r>
            <a:r>
              <a:rPr sz="1100" spc="-170" dirty="0">
                <a:latin typeface="Arial"/>
                <a:cs typeface="Arial"/>
                <a:hlinkClick r:id="rId2"/>
              </a:rPr>
              <a:t> </a:t>
            </a:r>
            <a:r>
              <a:rPr sz="1100" spc="-10" dirty="0">
                <a:latin typeface="Arial"/>
                <a:cs typeface="Arial"/>
                <a:hlinkClick r:id="rId2"/>
              </a:rPr>
              <a:t>t</a:t>
            </a:r>
            <a:endParaRPr sz="1100">
              <a:latin typeface="Arial"/>
              <a:cs typeface="Arial"/>
            </a:endParaRPr>
          </a:p>
        </p:txBody>
      </p:sp>
      <p:sp>
        <p:nvSpPr>
          <p:cNvPr id="35" name="object 35"/>
          <p:cNvSpPr txBox="1"/>
          <p:nvPr/>
        </p:nvSpPr>
        <p:spPr>
          <a:xfrm>
            <a:off x="4513579" y="3942001"/>
            <a:ext cx="528320" cy="195580"/>
          </a:xfrm>
          <a:prstGeom prst="rect">
            <a:avLst/>
          </a:prstGeom>
        </p:spPr>
        <p:txBody>
          <a:bodyPr vert="horz" wrap="square" lIns="0" tIns="14604" rIns="0" bIns="0" rtlCol="0">
            <a:spAutoFit/>
          </a:bodyPr>
          <a:lstStyle/>
          <a:p>
            <a:pPr marL="12700">
              <a:lnSpc>
                <a:spcPct val="100000"/>
              </a:lnSpc>
              <a:spcBef>
                <a:spcPts val="114"/>
              </a:spcBef>
            </a:pPr>
            <a:r>
              <a:rPr sz="1100" dirty="0">
                <a:latin typeface="Arial"/>
                <a:cs typeface="Arial"/>
              </a:rPr>
              <a:t>Stag </a:t>
            </a:r>
            <a:r>
              <a:rPr sz="1100" spc="-20" dirty="0">
                <a:latin typeface="Arial"/>
                <a:cs typeface="Arial"/>
              </a:rPr>
              <a:t>e</a:t>
            </a:r>
            <a:r>
              <a:rPr sz="1100" spc="-195" dirty="0">
                <a:latin typeface="Arial"/>
                <a:cs typeface="Arial"/>
              </a:rPr>
              <a:t> </a:t>
            </a:r>
            <a:r>
              <a:rPr sz="1100" spc="-20" dirty="0">
                <a:latin typeface="Arial"/>
                <a:cs typeface="Arial"/>
              </a:rPr>
              <a:t>3</a:t>
            </a:r>
            <a:endParaRPr sz="1100">
              <a:latin typeface="Arial"/>
              <a:cs typeface="Arial"/>
            </a:endParaRPr>
          </a:p>
        </p:txBody>
      </p:sp>
      <p:sp>
        <p:nvSpPr>
          <p:cNvPr id="36" name="object 36"/>
          <p:cNvSpPr txBox="1"/>
          <p:nvPr/>
        </p:nvSpPr>
        <p:spPr>
          <a:xfrm>
            <a:off x="4513579" y="4631009"/>
            <a:ext cx="919480"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rPr>
              <a:t>Eventu</a:t>
            </a:r>
            <a:r>
              <a:rPr sz="1100" spc="-170" dirty="0">
                <a:latin typeface="Arial"/>
                <a:cs typeface="Arial"/>
              </a:rPr>
              <a:t> </a:t>
            </a:r>
            <a:r>
              <a:rPr sz="1100" spc="15" dirty="0">
                <a:latin typeface="Arial"/>
                <a:cs typeface="Arial"/>
              </a:rPr>
              <a:t>ally.....</a:t>
            </a:r>
            <a:endParaRPr sz="1100">
              <a:latin typeface="Arial"/>
              <a:cs typeface="Arial"/>
            </a:endParaRPr>
          </a:p>
        </p:txBody>
      </p:sp>
      <p:sp>
        <p:nvSpPr>
          <p:cNvPr id="37" name="object 37"/>
          <p:cNvSpPr/>
          <p:nvPr/>
        </p:nvSpPr>
        <p:spPr>
          <a:xfrm>
            <a:off x="5301510" y="1543640"/>
            <a:ext cx="252095" cy="283845"/>
          </a:xfrm>
          <a:custGeom>
            <a:avLst/>
            <a:gdLst/>
            <a:ahLst/>
            <a:cxnLst/>
            <a:rect l="l" t="t" r="r" b="b"/>
            <a:pathLst>
              <a:path w="252095" h="283844">
                <a:moveTo>
                  <a:pt x="116070" y="0"/>
                </a:moveTo>
                <a:lnTo>
                  <a:pt x="73552" y="10773"/>
                </a:lnTo>
                <a:lnTo>
                  <a:pt x="36362" y="40542"/>
                </a:lnTo>
                <a:lnTo>
                  <a:pt x="10008" y="85477"/>
                </a:lnTo>
                <a:lnTo>
                  <a:pt x="0" y="141748"/>
                </a:lnTo>
                <a:lnTo>
                  <a:pt x="10008" y="198307"/>
                </a:lnTo>
                <a:lnTo>
                  <a:pt x="36362" y="243282"/>
                </a:lnTo>
                <a:lnTo>
                  <a:pt x="73553" y="272979"/>
                </a:lnTo>
                <a:lnTo>
                  <a:pt x="116070" y="283699"/>
                </a:lnTo>
                <a:lnTo>
                  <a:pt x="160075" y="276759"/>
                </a:lnTo>
                <a:lnTo>
                  <a:pt x="197454" y="257201"/>
                </a:lnTo>
                <a:lnTo>
                  <a:pt x="226395" y="226919"/>
                </a:lnTo>
                <a:lnTo>
                  <a:pt x="245088" y="187803"/>
                </a:lnTo>
                <a:lnTo>
                  <a:pt x="251721" y="141748"/>
                </a:lnTo>
                <a:lnTo>
                  <a:pt x="245088" y="95947"/>
                </a:lnTo>
                <a:lnTo>
                  <a:pt x="226395" y="56911"/>
                </a:lnTo>
                <a:lnTo>
                  <a:pt x="197454" y="26601"/>
                </a:lnTo>
                <a:lnTo>
                  <a:pt x="160075" y="6977"/>
                </a:lnTo>
                <a:lnTo>
                  <a:pt x="116070" y="0"/>
                </a:lnTo>
                <a:close/>
              </a:path>
            </a:pathLst>
          </a:custGeom>
          <a:solidFill>
            <a:srgbClr val="FFDC99"/>
          </a:solidFill>
        </p:spPr>
        <p:txBody>
          <a:bodyPr wrap="square" lIns="0" tIns="0" rIns="0" bIns="0" rtlCol="0"/>
          <a:lstStyle/>
          <a:p>
            <a:endParaRPr/>
          </a:p>
        </p:txBody>
      </p:sp>
      <p:sp>
        <p:nvSpPr>
          <p:cNvPr id="38" name="object 38"/>
          <p:cNvSpPr/>
          <p:nvPr/>
        </p:nvSpPr>
        <p:spPr>
          <a:xfrm>
            <a:off x="5301510" y="1543640"/>
            <a:ext cx="252095" cy="283845"/>
          </a:xfrm>
          <a:custGeom>
            <a:avLst/>
            <a:gdLst/>
            <a:ahLst/>
            <a:cxnLst/>
            <a:rect l="l" t="t" r="r" b="b"/>
            <a:pathLst>
              <a:path w="252095" h="283844">
                <a:moveTo>
                  <a:pt x="197454" y="257201"/>
                </a:moveTo>
                <a:lnTo>
                  <a:pt x="226395" y="226919"/>
                </a:lnTo>
                <a:lnTo>
                  <a:pt x="245088" y="187803"/>
                </a:lnTo>
                <a:lnTo>
                  <a:pt x="251721" y="141748"/>
                </a:lnTo>
                <a:lnTo>
                  <a:pt x="245088" y="95947"/>
                </a:lnTo>
                <a:lnTo>
                  <a:pt x="226395" y="56911"/>
                </a:lnTo>
                <a:lnTo>
                  <a:pt x="197454" y="26601"/>
                </a:lnTo>
                <a:lnTo>
                  <a:pt x="160075" y="6977"/>
                </a:lnTo>
                <a:lnTo>
                  <a:pt x="116070" y="0"/>
                </a:lnTo>
                <a:lnTo>
                  <a:pt x="73552" y="10773"/>
                </a:lnTo>
                <a:lnTo>
                  <a:pt x="36362" y="40542"/>
                </a:lnTo>
                <a:lnTo>
                  <a:pt x="10008" y="85477"/>
                </a:lnTo>
                <a:lnTo>
                  <a:pt x="0" y="141748"/>
                </a:lnTo>
                <a:lnTo>
                  <a:pt x="10008" y="198307"/>
                </a:lnTo>
                <a:lnTo>
                  <a:pt x="36362" y="243282"/>
                </a:lnTo>
                <a:lnTo>
                  <a:pt x="73553" y="272979"/>
                </a:lnTo>
                <a:lnTo>
                  <a:pt x="116070" y="283699"/>
                </a:lnTo>
                <a:lnTo>
                  <a:pt x="160075" y="276759"/>
                </a:lnTo>
                <a:lnTo>
                  <a:pt x="197454" y="257201"/>
                </a:lnTo>
              </a:path>
            </a:pathLst>
          </a:custGeom>
          <a:ln w="39944">
            <a:solidFill>
              <a:srgbClr val="FFECCC"/>
            </a:solidFill>
          </a:ln>
        </p:spPr>
        <p:txBody>
          <a:bodyPr wrap="square" lIns="0" tIns="0" rIns="0" bIns="0" rtlCol="0"/>
          <a:lstStyle/>
          <a:p>
            <a:endParaRPr/>
          </a:p>
        </p:txBody>
      </p:sp>
      <p:sp>
        <p:nvSpPr>
          <p:cNvPr id="39" name="object 39"/>
          <p:cNvSpPr/>
          <p:nvPr/>
        </p:nvSpPr>
        <p:spPr>
          <a:xfrm>
            <a:off x="6405857" y="1543640"/>
            <a:ext cx="252729" cy="283845"/>
          </a:xfrm>
          <a:custGeom>
            <a:avLst/>
            <a:gdLst/>
            <a:ahLst/>
            <a:cxnLst/>
            <a:rect l="l" t="t" r="r" b="b"/>
            <a:pathLst>
              <a:path w="252729" h="283844">
                <a:moveTo>
                  <a:pt x="116592" y="0"/>
                </a:moveTo>
                <a:lnTo>
                  <a:pt x="73805" y="10773"/>
                </a:lnTo>
                <a:lnTo>
                  <a:pt x="36457" y="40542"/>
                </a:lnTo>
                <a:lnTo>
                  <a:pt x="10027" y="85477"/>
                </a:lnTo>
                <a:lnTo>
                  <a:pt x="0" y="141748"/>
                </a:lnTo>
                <a:lnTo>
                  <a:pt x="10027" y="198307"/>
                </a:lnTo>
                <a:lnTo>
                  <a:pt x="36457" y="243282"/>
                </a:lnTo>
                <a:lnTo>
                  <a:pt x="73806" y="272979"/>
                </a:lnTo>
                <a:lnTo>
                  <a:pt x="116593" y="283699"/>
                </a:lnTo>
                <a:lnTo>
                  <a:pt x="160418" y="276759"/>
                </a:lnTo>
                <a:lnTo>
                  <a:pt x="197769" y="257201"/>
                </a:lnTo>
                <a:lnTo>
                  <a:pt x="226771" y="226919"/>
                </a:lnTo>
                <a:lnTo>
                  <a:pt x="245548" y="187803"/>
                </a:lnTo>
                <a:lnTo>
                  <a:pt x="252224" y="141748"/>
                </a:lnTo>
                <a:lnTo>
                  <a:pt x="245548" y="95947"/>
                </a:lnTo>
                <a:lnTo>
                  <a:pt x="226771" y="56911"/>
                </a:lnTo>
                <a:lnTo>
                  <a:pt x="197769" y="26601"/>
                </a:lnTo>
                <a:lnTo>
                  <a:pt x="160417" y="6977"/>
                </a:lnTo>
                <a:lnTo>
                  <a:pt x="116592" y="0"/>
                </a:lnTo>
                <a:close/>
              </a:path>
            </a:pathLst>
          </a:custGeom>
          <a:solidFill>
            <a:srgbClr val="FFDC99"/>
          </a:solidFill>
        </p:spPr>
        <p:txBody>
          <a:bodyPr wrap="square" lIns="0" tIns="0" rIns="0" bIns="0" rtlCol="0"/>
          <a:lstStyle/>
          <a:p>
            <a:endParaRPr/>
          </a:p>
        </p:txBody>
      </p:sp>
      <p:sp>
        <p:nvSpPr>
          <p:cNvPr id="40" name="object 40"/>
          <p:cNvSpPr/>
          <p:nvPr/>
        </p:nvSpPr>
        <p:spPr>
          <a:xfrm>
            <a:off x="6405857" y="1543640"/>
            <a:ext cx="252729" cy="283845"/>
          </a:xfrm>
          <a:custGeom>
            <a:avLst/>
            <a:gdLst/>
            <a:ahLst/>
            <a:cxnLst/>
            <a:rect l="l" t="t" r="r" b="b"/>
            <a:pathLst>
              <a:path w="252729" h="283844">
                <a:moveTo>
                  <a:pt x="197769" y="257201"/>
                </a:moveTo>
                <a:lnTo>
                  <a:pt x="226771" y="226919"/>
                </a:lnTo>
                <a:lnTo>
                  <a:pt x="245548" y="187803"/>
                </a:lnTo>
                <a:lnTo>
                  <a:pt x="252224" y="141748"/>
                </a:lnTo>
                <a:lnTo>
                  <a:pt x="245548" y="95947"/>
                </a:lnTo>
                <a:lnTo>
                  <a:pt x="226771" y="56911"/>
                </a:lnTo>
                <a:lnTo>
                  <a:pt x="197769" y="26601"/>
                </a:lnTo>
                <a:lnTo>
                  <a:pt x="160417" y="6977"/>
                </a:lnTo>
                <a:lnTo>
                  <a:pt x="116592" y="0"/>
                </a:lnTo>
                <a:lnTo>
                  <a:pt x="73805" y="10773"/>
                </a:lnTo>
                <a:lnTo>
                  <a:pt x="36457" y="40542"/>
                </a:lnTo>
                <a:lnTo>
                  <a:pt x="10027" y="85477"/>
                </a:lnTo>
                <a:lnTo>
                  <a:pt x="0" y="141748"/>
                </a:lnTo>
                <a:lnTo>
                  <a:pt x="10027" y="198307"/>
                </a:lnTo>
                <a:lnTo>
                  <a:pt x="36457" y="243282"/>
                </a:lnTo>
                <a:lnTo>
                  <a:pt x="73806" y="272979"/>
                </a:lnTo>
                <a:lnTo>
                  <a:pt x="116593" y="283699"/>
                </a:lnTo>
                <a:lnTo>
                  <a:pt x="160418" y="276759"/>
                </a:lnTo>
                <a:lnTo>
                  <a:pt x="197769" y="257201"/>
                </a:lnTo>
              </a:path>
            </a:pathLst>
          </a:custGeom>
          <a:ln w="39946">
            <a:solidFill>
              <a:srgbClr val="FFECCC"/>
            </a:solidFill>
          </a:ln>
        </p:spPr>
        <p:txBody>
          <a:bodyPr wrap="square" lIns="0" tIns="0" rIns="0" bIns="0" rtlCol="0"/>
          <a:lstStyle/>
          <a:p>
            <a:endParaRPr/>
          </a:p>
        </p:txBody>
      </p:sp>
      <p:sp>
        <p:nvSpPr>
          <p:cNvPr id="41" name="object 41"/>
          <p:cNvSpPr/>
          <p:nvPr/>
        </p:nvSpPr>
        <p:spPr>
          <a:xfrm>
            <a:off x="7510571" y="1543640"/>
            <a:ext cx="271780" cy="283845"/>
          </a:xfrm>
          <a:custGeom>
            <a:avLst/>
            <a:gdLst/>
            <a:ahLst/>
            <a:cxnLst/>
            <a:rect l="l" t="t" r="r" b="b"/>
            <a:pathLst>
              <a:path w="271779" h="283844">
                <a:moveTo>
                  <a:pt x="135825" y="0"/>
                </a:moveTo>
                <a:lnTo>
                  <a:pt x="91980" y="6977"/>
                </a:lnTo>
                <a:lnTo>
                  <a:pt x="54580" y="26601"/>
                </a:lnTo>
                <a:lnTo>
                  <a:pt x="25521" y="56911"/>
                </a:lnTo>
                <a:lnTo>
                  <a:pt x="6696" y="95947"/>
                </a:lnTo>
                <a:lnTo>
                  <a:pt x="0" y="141748"/>
                </a:lnTo>
                <a:lnTo>
                  <a:pt x="6696" y="187803"/>
                </a:lnTo>
                <a:lnTo>
                  <a:pt x="25521" y="226919"/>
                </a:lnTo>
                <a:lnTo>
                  <a:pt x="54581" y="257201"/>
                </a:lnTo>
                <a:lnTo>
                  <a:pt x="91980" y="276759"/>
                </a:lnTo>
                <a:lnTo>
                  <a:pt x="135825" y="283699"/>
                </a:lnTo>
                <a:lnTo>
                  <a:pt x="179650" y="276759"/>
                </a:lnTo>
                <a:lnTo>
                  <a:pt x="217001" y="257201"/>
                </a:lnTo>
                <a:lnTo>
                  <a:pt x="246004" y="226919"/>
                </a:lnTo>
                <a:lnTo>
                  <a:pt x="264781" y="187803"/>
                </a:lnTo>
                <a:lnTo>
                  <a:pt x="271457" y="141748"/>
                </a:lnTo>
                <a:lnTo>
                  <a:pt x="264781" y="95947"/>
                </a:lnTo>
                <a:lnTo>
                  <a:pt x="246003" y="56911"/>
                </a:lnTo>
                <a:lnTo>
                  <a:pt x="217001" y="26600"/>
                </a:lnTo>
                <a:lnTo>
                  <a:pt x="179649" y="6977"/>
                </a:lnTo>
                <a:lnTo>
                  <a:pt x="135825" y="0"/>
                </a:lnTo>
                <a:close/>
              </a:path>
            </a:pathLst>
          </a:custGeom>
          <a:solidFill>
            <a:srgbClr val="FFDC99"/>
          </a:solidFill>
        </p:spPr>
        <p:txBody>
          <a:bodyPr wrap="square" lIns="0" tIns="0" rIns="0" bIns="0" rtlCol="0"/>
          <a:lstStyle/>
          <a:p>
            <a:endParaRPr/>
          </a:p>
        </p:txBody>
      </p:sp>
      <p:sp>
        <p:nvSpPr>
          <p:cNvPr id="42" name="object 42"/>
          <p:cNvSpPr/>
          <p:nvPr/>
        </p:nvSpPr>
        <p:spPr>
          <a:xfrm>
            <a:off x="7510571" y="1543640"/>
            <a:ext cx="271780" cy="283845"/>
          </a:xfrm>
          <a:custGeom>
            <a:avLst/>
            <a:gdLst/>
            <a:ahLst/>
            <a:cxnLst/>
            <a:rect l="l" t="t" r="r" b="b"/>
            <a:pathLst>
              <a:path w="271779" h="283844">
                <a:moveTo>
                  <a:pt x="217001" y="257201"/>
                </a:moveTo>
                <a:lnTo>
                  <a:pt x="246004" y="226919"/>
                </a:lnTo>
                <a:lnTo>
                  <a:pt x="264781" y="187803"/>
                </a:lnTo>
                <a:lnTo>
                  <a:pt x="271457" y="141748"/>
                </a:lnTo>
                <a:lnTo>
                  <a:pt x="264781" y="95947"/>
                </a:lnTo>
                <a:lnTo>
                  <a:pt x="246004" y="56911"/>
                </a:lnTo>
                <a:lnTo>
                  <a:pt x="217001" y="26601"/>
                </a:lnTo>
                <a:lnTo>
                  <a:pt x="179649" y="6977"/>
                </a:lnTo>
                <a:lnTo>
                  <a:pt x="135825" y="0"/>
                </a:lnTo>
                <a:lnTo>
                  <a:pt x="91980" y="6977"/>
                </a:lnTo>
                <a:lnTo>
                  <a:pt x="54580" y="26600"/>
                </a:lnTo>
                <a:lnTo>
                  <a:pt x="25521" y="56911"/>
                </a:lnTo>
                <a:lnTo>
                  <a:pt x="6696" y="95947"/>
                </a:lnTo>
                <a:lnTo>
                  <a:pt x="0" y="141748"/>
                </a:lnTo>
                <a:lnTo>
                  <a:pt x="6696" y="187803"/>
                </a:lnTo>
                <a:lnTo>
                  <a:pt x="25521" y="226919"/>
                </a:lnTo>
                <a:lnTo>
                  <a:pt x="54580" y="257201"/>
                </a:lnTo>
                <a:lnTo>
                  <a:pt x="91980" y="276759"/>
                </a:lnTo>
                <a:lnTo>
                  <a:pt x="135825" y="283699"/>
                </a:lnTo>
                <a:lnTo>
                  <a:pt x="179650" y="276759"/>
                </a:lnTo>
                <a:lnTo>
                  <a:pt x="217001" y="257201"/>
                </a:lnTo>
              </a:path>
            </a:pathLst>
          </a:custGeom>
          <a:ln w="40011">
            <a:solidFill>
              <a:srgbClr val="FFECCC"/>
            </a:solidFill>
          </a:ln>
        </p:spPr>
        <p:txBody>
          <a:bodyPr wrap="square" lIns="0" tIns="0" rIns="0" bIns="0" rtlCol="0"/>
          <a:lstStyle/>
          <a:p>
            <a:endParaRPr/>
          </a:p>
        </p:txBody>
      </p:sp>
      <p:sp>
        <p:nvSpPr>
          <p:cNvPr id="43" name="object 43"/>
          <p:cNvSpPr txBox="1"/>
          <p:nvPr/>
        </p:nvSpPr>
        <p:spPr>
          <a:xfrm>
            <a:off x="5366184" y="5400391"/>
            <a:ext cx="167640" cy="334010"/>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pPr>
            <a:r>
              <a:rPr sz="950" spc="-25" dirty="0">
                <a:latin typeface="Arial"/>
                <a:cs typeface="Arial"/>
              </a:rPr>
              <a:t>1</a:t>
            </a:r>
            <a:endParaRPr sz="950">
              <a:latin typeface="Arial"/>
              <a:cs typeface="Arial"/>
            </a:endParaRPr>
          </a:p>
        </p:txBody>
      </p:sp>
      <p:sp>
        <p:nvSpPr>
          <p:cNvPr id="44" name="object 44"/>
          <p:cNvSpPr txBox="1"/>
          <p:nvPr/>
        </p:nvSpPr>
        <p:spPr>
          <a:xfrm>
            <a:off x="7556303" y="5440831"/>
            <a:ext cx="111760" cy="220345"/>
          </a:xfrm>
          <a:prstGeom prst="rect">
            <a:avLst/>
          </a:prstGeom>
        </p:spPr>
        <p:txBody>
          <a:bodyPr vert="horz" wrap="square" lIns="0" tIns="15875" rIns="0" bIns="0" rtlCol="0">
            <a:spAutoFit/>
          </a:bodyPr>
          <a:lstStyle/>
          <a:p>
            <a:pPr marL="12700">
              <a:lnSpc>
                <a:spcPct val="100000"/>
              </a:lnSpc>
              <a:spcBef>
                <a:spcPts val="125"/>
              </a:spcBef>
            </a:pPr>
            <a:r>
              <a:rPr sz="1250" spc="-20" dirty="0">
                <a:latin typeface="Arial"/>
                <a:cs typeface="Arial"/>
              </a:rPr>
              <a:t>p</a:t>
            </a:r>
            <a:endParaRPr sz="1250">
              <a:latin typeface="Arial"/>
              <a:cs typeface="Arial"/>
            </a:endParaRPr>
          </a:p>
        </p:txBody>
      </p:sp>
      <p:sp>
        <p:nvSpPr>
          <p:cNvPr id="45" name="object 45"/>
          <p:cNvSpPr txBox="1"/>
          <p:nvPr/>
        </p:nvSpPr>
        <p:spPr>
          <a:xfrm>
            <a:off x="6451512" y="5420860"/>
            <a:ext cx="1292225" cy="333375"/>
          </a:xfrm>
          <a:prstGeom prst="rect">
            <a:avLst/>
          </a:prstGeom>
        </p:spPr>
        <p:txBody>
          <a:bodyPr vert="horz" wrap="square" lIns="0" tIns="15875" rIns="0" bIns="0" rtlCol="0">
            <a:spAutoFit/>
          </a:bodyPr>
          <a:lstStyle/>
          <a:p>
            <a:pPr marL="12700">
              <a:lnSpc>
                <a:spcPts val="1380"/>
              </a:lnSpc>
              <a:spcBef>
                <a:spcPts val="125"/>
              </a:spcBef>
            </a:pPr>
            <a:r>
              <a:rPr sz="1250" spc="-20" dirty="0">
                <a:latin typeface="Arial"/>
                <a:cs typeface="Arial"/>
              </a:rPr>
              <a:t>p</a:t>
            </a:r>
            <a:endParaRPr sz="1250">
              <a:latin typeface="Arial"/>
              <a:cs typeface="Arial"/>
            </a:endParaRPr>
          </a:p>
          <a:p>
            <a:pPr marL="89535">
              <a:lnSpc>
                <a:spcPts val="1019"/>
              </a:lnSpc>
              <a:tabLst>
                <a:tab pos="1214120" algn="l"/>
              </a:tabLst>
            </a:pPr>
            <a:r>
              <a:rPr sz="950" spc="-25" dirty="0">
                <a:latin typeface="Arial"/>
                <a:cs typeface="Arial"/>
              </a:rPr>
              <a:t>2	3</a:t>
            </a:r>
            <a:endParaRPr sz="950">
              <a:latin typeface="Arial"/>
              <a:cs typeface="Arial"/>
            </a:endParaRPr>
          </a:p>
        </p:txBody>
      </p:sp>
      <p:sp>
        <p:nvSpPr>
          <p:cNvPr id="46" name="object 46"/>
          <p:cNvSpPr txBox="1"/>
          <p:nvPr/>
        </p:nvSpPr>
        <p:spPr>
          <a:xfrm>
            <a:off x="8680250" y="5461303"/>
            <a:ext cx="111760" cy="220345"/>
          </a:xfrm>
          <a:prstGeom prst="rect">
            <a:avLst/>
          </a:prstGeom>
        </p:spPr>
        <p:txBody>
          <a:bodyPr vert="horz" wrap="square" lIns="0" tIns="15875" rIns="0" bIns="0" rtlCol="0">
            <a:spAutoFit/>
          </a:bodyPr>
          <a:lstStyle/>
          <a:p>
            <a:pPr marL="12700">
              <a:lnSpc>
                <a:spcPct val="100000"/>
              </a:lnSpc>
              <a:spcBef>
                <a:spcPts val="125"/>
              </a:spcBef>
            </a:pPr>
            <a:r>
              <a:rPr sz="1250" spc="-20" dirty="0">
                <a:latin typeface="Arial"/>
                <a:cs typeface="Arial"/>
              </a:rPr>
              <a:t>p</a:t>
            </a:r>
            <a:endParaRPr sz="1250">
              <a:latin typeface="Arial"/>
              <a:cs typeface="Arial"/>
            </a:endParaRPr>
          </a:p>
        </p:txBody>
      </p:sp>
      <p:sp>
        <p:nvSpPr>
          <p:cNvPr id="47" name="object 47"/>
          <p:cNvSpPr txBox="1"/>
          <p:nvPr/>
        </p:nvSpPr>
        <p:spPr>
          <a:xfrm>
            <a:off x="8757449" y="5603589"/>
            <a:ext cx="90170" cy="171450"/>
          </a:xfrm>
          <a:prstGeom prst="rect">
            <a:avLst/>
          </a:prstGeom>
        </p:spPr>
        <p:txBody>
          <a:bodyPr vert="horz" wrap="square" lIns="0" tIns="13335" rIns="0" bIns="0" rtlCol="0">
            <a:spAutoFit/>
          </a:bodyPr>
          <a:lstStyle/>
          <a:p>
            <a:pPr marL="12700">
              <a:lnSpc>
                <a:spcPct val="100000"/>
              </a:lnSpc>
              <a:spcBef>
                <a:spcPts val="105"/>
              </a:spcBef>
            </a:pPr>
            <a:r>
              <a:rPr sz="950" spc="-25" dirty="0">
                <a:latin typeface="Arial"/>
                <a:cs typeface="Arial"/>
              </a:rPr>
              <a:t>4</a:t>
            </a:r>
            <a:endParaRPr sz="950">
              <a:latin typeface="Arial"/>
              <a:cs typeface="Arial"/>
            </a:endParaRPr>
          </a:p>
        </p:txBody>
      </p:sp>
      <p:sp>
        <p:nvSpPr>
          <p:cNvPr id="48" name="object 48"/>
          <p:cNvSpPr/>
          <p:nvPr/>
        </p:nvSpPr>
        <p:spPr>
          <a:xfrm>
            <a:off x="6502908" y="1300585"/>
            <a:ext cx="1046480" cy="223520"/>
          </a:xfrm>
          <a:custGeom>
            <a:avLst/>
            <a:gdLst/>
            <a:ahLst/>
            <a:cxnLst/>
            <a:rect l="l" t="t" r="r" b="b"/>
            <a:pathLst>
              <a:path w="1046479" h="223519">
                <a:moveTo>
                  <a:pt x="1046359" y="223036"/>
                </a:moveTo>
                <a:lnTo>
                  <a:pt x="1025237" y="172755"/>
                </a:lnTo>
                <a:lnTo>
                  <a:pt x="988951" y="142504"/>
                </a:lnTo>
                <a:lnTo>
                  <a:pt x="936313" y="114953"/>
                </a:lnTo>
                <a:lnTo>
                  <a:pt x="868537" y="90174"/>
                </a:lnTo>
                <a:lnTo>
                  <a:pt x="829350" y="78847"/>
                </a:lnTo>
                <a:lnTo>
                  <a:pt x="786834" y="68240"/>
                </a:lnTo>
                <a:lnTo>
                  <a:pt x="741139" y="58362"/>
                </a:lnTo>
                <a:lnTo>
                  <a:pt x="692416" y="49223"/>
                </a:lnTo>
                <a:lnTo>
                  <a:pt x="640818" y="40830"/>
                </a:lnTo>
                <a:lnTo>
                  <a:pt x="586495" y="33195"/>
                </a:lnTo>
                <a:lnTo>
                  <a:pt x="529600" y="26324"/>
                </a:lnTo>
                <a:lnTo>
                  <a:pt x="470284" y="20228"/>
                </a:lnTo>
                <a:lnTo>
                  <a:pt x="408697" y="14916"/>
                </a:lnTo>
                <a:lnTo>
                  <a:pt x="344993" y="10396"/>
                </a:lnTo>
                <a:lnTo>
                  <a:pt x="279322" y="6677"/>
                </a:lnTo>
                <a:lnTo>
                  <a:pt x="211835" y="3769"/>
                </a:lnTo>
                <a:lnTo>
                  <a:pt x="142685" y="1681"/>
                </a:lnTo>
                <a:lnTo>
                  <a:pt x="72023" y="421"/>
                </a:lnTo>
                <a:lnTo>
                  <a:pt x="0" y="0"/>
                </a:lnTo>
              </a:path>
            </a:pathLst>
          </a:custGeom>
          <a:ln w="20429">
            <a:solidFill>
              <a:srgbClr val="000000"/>
            </a:solidFill>
          </a:ln>
        </p:spPr>
        <p:txBody>
          <a:bodyPr wrap="square" lIns="0" tIns="0" rIns="0" bIns="0" rtlCol="0"/>
          <a:lstStyle/>
          <a:p>
            <a:endParaRPr/>
          </a:p>
        </p:txBody>
      </p:sp>
      <p:sp>
        <p:nvSpPr>
          <p:cNvPr id="49" name="object 49"/>
          <p:cNvSpPr/>
          <p:nvPr/>
        </p:nvSpPr>
        <p:spPr>
          <a:xfrm>
            <a:off x="5514555" y="1300585"/>
            <a:ext cx="1027430" cy="203200"/>
          </a:xfrm>
          <a:custGeom>
            <a:avLst/>
            <a:gdLst/>
            <a:ahLst/>
            <a:cxnLst/>
            <a:rect l="l" t="t" r="r" b="b"/>
            <a:pathLst>
              <a:path w="1027429" h="203200">
                <a:moveTo>
                  <a:pt x="1026856" y="0"/>
                </a:moveTo>
                <a:lnTo>
                  <a:pt x="951841" y="457"/>
                </a:lnTo>
                <a:lnTo>
                  <a:pt x="878516" y="1816"/>
                </a:lnTo>
                <a:lnTo>
                  <a:pt x="807034" y="4057"/>
                </a:lnTo>
                <a:lnTo>
                  <a:pt x="737549" y="7158"/>
                </a:lnTo>
                <a:lnTo>
                  <a:pt x="670213" y="11100"/>
                </a:lnTo>
                <a:lnTo>
                  <a:pt x="605179" y="15863"/>
                </a:lnTo>
                <a:lnTo>
                  <a:pt x="542600" y="21425"/>
                </a:lnTo>
                <a:lnTo>
                  <a:pt x="482629" y="27767"/>
                </a:lnTo>
                <a:lnTo>
                  <a:pt x="425419" y="34868"/>
                </a:lnTo>
                <a:lnTo>
                  <a:pt x="371122" y="42708"/>
                </a:lnTo>
                <a:lnTo>
                  <a:pt x="319893" y="51267"/>
                </a:lnTo>
                <a:lnTo>
                  <a:pt x="271883" y="60524"/>
                </a:lnTo>
                <a:lnTo>
                  <a:pt x="227245" y="70458"/>
                </a:lnTo>
                <a:lnTo>
                  <a:pt x="186133" y="81051"/>
                </a:lnTo>
                <a:lnTo>
                  <a:pt x="148699" y="92280"/>
                </a:lnTo>
                <a:lnTo>
                  <a:pt x="85478" y="116569"/>
                </a:lnTo>
                <a:lnTo>
                  <a:pt x="38805" y="143163"/>
                </a:lnTo>
                <a:lnTo>
                  <a:pt x="9905" y="171898"/>
                </a:lnTo>
                <a:lnTo>
                  <a:pt x="2501" y="187019"/>
                </a:lnTo>
                <a:lnTo>
                  <a:pt x="0" y="202613"/>
                </a:lnTo>
              </a:path>
            </a:pathLst>
          </a:custGeom>
          <a:ln w="20434">
            <a:solidFill>
              <a:srgbClr val="000000"/>
            </a:solidFill>
          </a:ln>
        </p:spPr>
        <p:txBody>
          <a:bodyPr wrap="square" lIns="0" tIns="0" rIns="0" bIns="0" rtlCol="0"/>
          <a:lstStyle/>
          <a:p>
            <a:endParaRPr/>
          </a:p>
        </p:txBody>
      </p:sp>
      <p:sp>
        <p:nvSpPr>
          <p:cNvPr id="50" name="object 50"/>
          <p:cNvSpPr/>
          <p:nvPr/>
        </p:nvSpPr>
        <p:spPr>
          <a:xfrm>
            <a:off x="5941090" y="1381873"/>
            <a:ext cx="484505" cy="121920"/>
          </a:xfrm>
          <a:custGeom>
            <a:avLst/>
            <a:gdLst/>
            <a:ahLst/>
            <a:cxnLst/>
            <a:rect l="l" t="t" r="r" b="b"/>
            <a:pathLst>
              <a:path w="484504" h="121919">
                <a:moveTo>
                  <a:pt x="484347" y="121325"/>
                </a:moveTo>
                <a:lnTo>
                  <a:pt x="464149" y="81217"/>
                </a:lnTo>
                <a:lnTo>
                  <a:pt x="407276" y="49131"/>
                </a:lnTo>
                <a:lnTo>
                  <a:pt x="366831" y="36096"/>
                </a:lnTo>
                <a:lnTo>
                  <a:pt x="319311" y="25067"/>
                </a:lnTo>
                <a:lnTo>
                  <a:pt x="265413" y="16043"/>
                </a:lnTo>
                <a:lnTo>
                  <a:pt x="205835" y="9024"/>
                </a:lnTo>
                <a:lnTo>
                  <a:pt x="141275" y="4010"/>
                </a:lnTo>
                <a:lnTo>
                  <a:pt x="72430" y="1002"/>
                </a:lnTo>
                <a:lnTo>
                  <a:pt x="0" y="0"/>
                </a:lnTo>
              </a:path>
            </a:pathLst>
          </a:custGeom>
          <a:ln w="20415">
            <a:solidFill>
              <a:srgbClr val="000000"/>
            </a:solidFill>
          </a:ln>
        </p:spPr>
        <p:txBody>
          <a:bodyPr wrap="square" lIns="0" tIns="0" rIns="0" bIns="0" rtlCol="0"/>
          <a:lstStyle/>
          <a:p>
            <a:endParaRPr/>
          </a:p>
        </p:txBody>
      </p:sp>
      <p:sp>
        <p:nvSpPr>
          <p:cNvPr id="51" name="object 51"/>
          <p:cNvSpPr/>
          <p:nvPr/>
        </p:nvSpPr>
        <p:spPr>
          <a:xfrm>
            <a:off x="5514555" y="1381873"/>
            <a:ext cx="465455" cy="100965"/>
          </a:xfrm>
          <a:custGeom>
            <a:avLst/>
            <a:gdLst/>
            <a:ahLst/>
            <a:cxnLst/>
            <a:rect l="l" t="t" r="r" b="b"/>
            <a:pathLst>
              <a:path w="465454" h="100965">
                <a:moveTo>
                  <a:pt x="465231" y="0"/>
                </a:moveTo>
                <a:lnTo>
                  <a:pt x="386273" y="1192"/>
                </a:lnTo>
                <a:lnTo>
                  <a:pt x="312659" y="4689"/>
                </a:lnTo>
                <a:lnTo>
                  <a:pt x="245088" y="10367"/>
                </a:lnTo>
                <a:lnTo>
                  <a:pt x="184258" y="18105"/>
                </a:lnTo>
                <a:lnTo>
                  <a:pt x="130869" y="27778"/>
                </a:lnTo>
                <a:lnTo>
                  <a:pt x="85620" y="39265"/>
                </a:lnTo>
                <a:lnTo>
                  <a:pt x="49210" y="52444"/>
                </a:lnTo>
                <a:lnTo>
                  <a:pt x="5700" y="83385"/>
                </a:lnTo>
                <a:lnTo>
                  <a:pt x="0" y="100902"/>
                </a:lnTo>
              </a:path>
            </a:pathLst>
          </a:custGeom>
          <a:ln w="20427">
            <a:solidFill>
              <a:srgbClr val="000000"/>
            </a:solidFill>
          </a:ln>
        </p:spPr>
        <p:txBody>
          <a:bodyPr wrap="square" lIns="0" tIns="0" rIns="0" bIns="0" rtlCol="0"/>
          <a:lstStyle/>
          <a:p>
            <a:endParaRPr/>
          </a:p>
        </p:txBody>
      </p:sp>
      <p:sp>
        <p:nvSpPr>
          <p:cNvPr id="52" name="object 52"/>
          <p:cNvSpPr/>
          <p:nvPr/>
        </p:nvSpPr>
        <p:spPr>
          <a:xfrm>
            <a:off x="5979786" y="1847763"/>
            <a:ext cx="465455" cy="101600"/>
          </a:xfrm>
          <a:custGeom>
            <a:avLst/>
            <a:gdLst/>
            <a:ahLst/>
            <a:cxnLst/>
            <a:rect l="l" t="t" r="r" b="b"/>
            <a:pathLst>
              <a:path w="465454" h="101600">
                <a:moveTo>
                  <a:pt x="0" y="101306"/>
                </a:moveTo>
                <a:lnTo>
                  <a:pt x="74194" y="100113"/>
                </a:lnTo>
                <a:lnTo>
                  <a:pt x="145045" y="96613"/>
                </a:lnTo>
                <a:lnTo>
                  <a:pt x="211499" y="90928"/>
                </a:lnTo>
                <a:lnTo>
                  <a:pt x="272505" y="83175"/>
                </a:lnTo>
                <a:lnTo>
                  <a:pt x="327011" y="73477"/>
                </a:lnTo>
                <a:lnTo>
                  <a:pt x="373965" y="61953"/>
                </a:lnTo>
                <a:lnTo>
                  <a:pt x="412316" y="48723"/>
                </a:lnTo>
                <a:lnTo>
                  <a:pt x="459001" y="17626"/>
                </a:lnTo>
                <a:lnTo>
                  <a:pt x="465231" y="0"/>
                </a:lnTo>
              </a:path>
            </a:pathLst>
          </a:custGeom>
          <a:ln w="20427">
            <a:solidFill>
              <a:srgbClr val="000000"/>
            </a:solidFill>
          </a:ln>
        </p:spPr>
        <p:txBody>
          <a:bodyPr wrap="square" lIns="0" tIns="0" rIns="0" bIns="0" rtlCol="0"/>
          <a:lstStyle/>
          <a:p>
            <a:endParaRPr/>
          </a:p>
        </p:txBody>
      </p:sp>
      <p:sp>
        <p:nvSpPr>
          <p:cNvPr id="53" name="object 53"/>
          <p:cNvSpPr/>
          <p:nvPr/>
        </p:nvSpPr>
        <p:spPr>
          <a:xfrm>
            <a:off x="5553232" y="1827340"/>
            <a:ext cx="445770" cy="121920"/>
          </a:xfrm>
          <a:custGeom>
            <a:avLst/>
            <a:gdLst/>
            <a:ahLst/>
            <a:cxnLst/>
            <a:rect l="l" t="t" r="r" b="b"/>
            <a:pathLst>
              <a:path w="445770" h="121919">
                <a:moveTo>
                  <a:pt x="0" y="0"/>
                </a:moveTo>
                <a:lnTo>
                  <a:pt x="22182" y="43874"/>
                </a:lnTo>
                <a:lnTo>
                  <a:pt x="84373" y="77965"/>
                </a:lnTo>
                <a:lnTo>
                  <a:pt x="128429" y="91348"/>
                </a:lnTo>
                <a:lnTo>
                  <a:pt x="180037" y="102292"/>
                </a:lnTo>
                <a:lnTo>
                  <a:pt x="238380" y="110799"/>
                </a:lnTo>
                <a:lnTo>
                  <a:pt x="302641" y="116873"/>
                </a:lnTo>
                <a:lnTo>
                  <a:pt x="372004" y="120516"/>
                </a:lnTo>
                <a:lnTo>
                  <a:pt x="445650" y="121729"/>
                </a:lnTo>
              </a:path>
            </a:pathLst>
          </a:custGeom>
          <a:ln w="20406">
            <a:solidFill>
              <a:srgbClr val="000000"/>
            </a:solidFill>
          </a:ln>
        </p:spPr>
        <p:txBody>
          <a:bodyPr wrap="square" lIns="0" tIns="0" rIns="0" bIns="0" rtlCol="0"/>
          <a:lstStyle/>
          <a:p>
            <a:endParaRPr/>
          </a:p>
        </p:txBody>
      </p:sp>
      <p:sp>
        <p:nvSpPr>
          <p:cNvPr id="54" name="object 54"/>
          <p:cNvSpPr/>
          <p:nvPr/>
        </p:nvSpPr>
        <p:spPr>
          <a:xfrm>
            <a:off x="6425437" y="1482775"/>
            <a:ext cx="19685" cy="20955"/>
          </a:xfrm>
          <a:custGeom>
            <a:avLst/>
            <a:gdLst/>
            <a:ahLst/>
            <a:cxnLst/>
            <a:rect l="l" t="t" r="r" b="b"/>
            <a:pathLst>
              <a:path w="19685" h="20955">
                <a:moveTo>
                  <a:pt x="0" y="0"/>
                </a:moveTo>
                <a:lnTo>
                  <a:pt x="19580" y="20422"/>
                </a:lnTo>
              </a:path>
            </a:pathLst>
          </a:custGeom>
          <a:ln w="40012">
            <a:solidFill>
              <a:srgbClr val="000000"/>
            </a:solidFill>
          </a:ln>
        </p:spPr>
        <p:txBody>
          <a:bodyPr wrap="square" lIns="0" tIns="0" rIns="0" bIns="0" rtlCol="0"/>
          <a:lstStyle/>
          <a:p>
            <a:endParaRPr/>
          </a:p>
        </p:txBody>
      </p:sp>
      <p:sp>
        <p:nvSpPr>
          <p:cNvPr id="55" name="object 55"/>
          <p:cNvSpPr/>
          <p:nvPr/>
        </p:nvSpPr>
        <p:spPr>
          <a:xfrm>
            <a:off x="6405857" y="1482775"/>
            <a:ext cx="39370" cy="20955"/>
          </a:xfrm>
          <a:custGeom>
            <a:avLst/>
            <a:gdLst/>
            <a:ahLst/>
            <a:cxnLst/>
            <a:rect l="l" t="t" r="r" b="b"/>
            <a:pathLst>
              <a:path w="39370" h="20955">
                <a:moveTo>
                  <a:pt x="19580" y="0"/>
                </a:moveTo>
                <a:lnTo>
                  <a:pt x="0" y="20423"/>
                </a:lnTo>
                <a:lnTo>
                  <a:pt x="39161" y="20423"/>
                </a:lnTo>
                <a:lnTo>
                  <a:pt x="19580" y="0"/>
                </a:lnTo>
                <a:close/>
              </a:path>
            </a:pathLst>
          </a:custGeom>
          <a:solidFill>
            <a:srgbClr val="000000"/>
          </a:solidFill>
        </p:spPr>
        <p:txBody>
          <a:bodyPr wrap="square" lIns="0" tIns="0" rIns="0" bIns="0" rtlCol="0"/>
          <a:lstStyle/>
          <a:p>
            <a:endParaRPr/>
          </a:p>
        </p:txBody>
      </p:sp>
      <p:sp>
        <p:nvSpPr>
          <p:cNvPr id="56" name="object 56"/>
          <p:cNvSpPr/>
          <p:nvPr/>
        </p:nvSpPr>
        <p:spPr>
          <a:xfrm>
            <a:off x="6405857" y="1462757"/>
            <a:ext cx="0" cy="20320"/>
          </a:xfrm>
          <a:custGeom>
            <a:avLst/>
            <a:gdLst/>
            <a:ahLst/>
            <a:cxnLst/>
            <a:rect l="l" t="t" r="r" b="b"/>
            <a:pathLst>
              <a:path h="20319">
                <a:moveTo>
                  <a:pt x="-9792" y="10009"/>
                </a:moveTo>
                <a:lnTo>
                  <a:pt x="9792" y="10009"/>
                </a:lnTo>
              </a:path>
            </a:pathLst>
          </a:custGeom>
          <a:ln w="20018">
            <a:solidFill>
              <a:srgbClr val="000000"/>
            </a:solidFill>
          </a:ln>
        </p:spPr>
        <p:txBody>
          <a:bodyPr wrap="square" lIns="0" tIns="0" rIns="0" bIns="0" rtlCol="0"/>
          <a:lstStyle/>
          <a:p>
            <a:endParaRPr/>
          </a:p>
        </p:txBody>
      </p:sp>
      <p:sp>
        <p:nvSpPr>
          <p:cNvPr id="57" name="object 57"/>
          <p:cNvSpPr/>
          <p:nvPr/>
        </p:nvSpPr>
        <p:spPr>
          <a:xfrm>
            <a:off x="7530306" y="1482775"/>
            <a:ext cx="38735" cy="41275"/>
          </a:xfrm>
          <a:custGeom>
            <a:avLst/>
            <a:gdLst/>
            <a:ahLst/>
            <a:cxnLst/>
            <a:rect l="l" t="t" r="r" b="b"/>
            <a:pathLst>
              <a:path w="38734" h="41275">
                <a:moveTo>
                  <a:pt x="18961" y="20423"/>
                </a:moveTo>
                <a:lnTo>
                  <a:pt x="38696" y="0"/>
                </a:lnTo>
                <a:lnTo>
                  <a:pt x="38696" y="40846"/>
                </a:lnTo>
                <a:lnTo>
                  <a:pt x="0" y="20423"/>
                </a:lnTo>
                <a:lnTo>
                  <a:pt x="18961" y="20423"/>
                </a:lnTo>
                <a:close/>
              </a:path>
            </a:pathLst>
          </a:custGeom>
          <a:ln w="20002">
            <a:solidFill>
              <a:srgbClr val="000000"/>
            </a:solidFill>
          </a:ln>
        </p:spPr>
        <p:txBody>
          <a:bodyPr wrap="square" lIns="0" tIns="0" rIns="0" bIns="0" rtlCol="0"/>
          <a:lstStyle/>
          <a:p>
            <a:endParaRPr/>
          </a:p>
        </p:txBody>
      </p:sp>
      <p:sp>
        <p:nvSpPr>
          <p:cNvPr id="58" name="object 58"/>
          <p:cNvSpPr/>
          <p:nvPr/>
        </p:nvSpPr>
        <p:spPr>
          <a:xfrm>
            <a:off x="7530306" y="1482775"/>
            <a:ext cx="38735" cy="41275"/>
          </a:xfrm>
          <a:custGeom>
            <a:avLst/>
            <a:gdLst/>
            <a:ahLst/>
            <a:cxnLst/>
            <a:rect l="l" t="t" r="r" b="b"/>
            <a:pathLst>
              <a:path w="38734" h="41275">
                <a:moveTo>
                  <a:pt x="38696" y="0"/>
                </a:moveTo>
                <a:lnTo>
                  <a:pt x="18961" y="20423"/>
                </a:lnTo>
                <a:lnTo>
                  <a:pt x="0" y="20423"/>
                </a:lnTo>
                <a:lnTo>
                  <a:pt x="38696" y="40846"/>
                </a:lnTo>
                <a:lnTo>
                  <a:pt x="38696" y="0"/>
                </a:lnTo>
                <a:close/>
              </a:path>
            </a:pathLst>
          </a:custGeom>
          <a:solidFill>
            <a:srgbClr val="000000"/>
          </a:solidFill>
        </p:spPr>
        <p:txBody>
          <a:bodyPr wrap="square" lIns="0" tIns="0" rIns="0" bIns="0" rtlCol="0"/>
          <a:lstStyle/>
          <a:p>
            <a:endParaRPr/>
          </a:p>
        </p:txBody>
      </p:sp>
      <p:sp>
        <p:nvSpPr>
          <p:cNvPr id="59" name="object 59"/>
          <p:cNvSpPr/>
          <p:nvPr/>
        </p:nvSpPr>
        <p:spPr>
          <a:xfrm>
            <a:off x="7530306" y="1482775"/>
            <a:ext cx="19050" cy="20955"/>
          </a:xfrm>
          <a:custGeom>
            <a:avLst/>
            <a:gdLst/>
            <a:ahLst/>
            <a:cxnLst/>
            <a:rect l="l" t="t" r="r" b="b"/>
            <a:pathLst>
              <a:path w="19050" h="20955">
                <a:moveTo>
                  <a:pt x="0" y="0"/>
                </a:moveTo>
                <a:lnTo>
                  <a:pt x="18961" y="20423"/>
                </a:lnTo>
              </a:path>
            </a:pathLst>
          </a:custGeom>
          <a:ln w="19993">
            <a:solidFill>
              <a:srgbClr val="000000"/>
            </a:solidFill>
          </a:ln>
        </p:spPr>
        <p:txBody>
          <a:bodyPr wrap="square" lIns="0" tIns="0" rIns="0" bIns="0" rtlCol="0"/>
          <a:lstStyle/>
          <a:p>
            <a:endParaRPr/>
          </a:p>
        </p:txBody>
      </p:sp>
      <p:sp>
        <p:nvSpPr>
          <p:cNvPr id="60" name="object 60"/>
          <p:cNvSpPr/>
          <p:nvPr/>
        </p:nvSpPr>
        <p:spPr>
          <a:xfrm>
            <a:off x="6541411" y="1867782"/>
            <a:ext cx="1028065" cy="263525"/>
          </a:xfrm>
          <a:custGeom>
            <a:avLst/>
            <a:gdLst/>
            <a:ahLst/>
            <a:cxnLst/>
            <a:rect l="l" t="t" r="r" b="b"/>
            <a:pathLst>
              <a:path w="1028065" h="263525">
                <a:moveTo>
                  <a:pt x="0" y="263478"/>
                </a:moveTo>
                <a:lnTo>
                  <a:pt x="72758" y="262796"/>
                </a:lnTo>
                <a:lnTo>
                  <a:pt x="144236" y="260784"/>
                </a:lnTo>
                <a:lnTo>
                  <a:pt x="214251" y="257491"/>
                </a:lnTo>
                <a:lnTo>
                  <a:pt x="282621" y="252968"/>
                </a:lnTo>
                <a:lnTo>
                  <a:pt x="349165" y="247265"/>
                </a:lnTo>
                <a:lnTo>
                  <a:pt x="413701" y="240432"/>
                </a:lnTo>
                <a:lnTo>
                  <a:pt x="476048" y="232519"/>
                </a:lnTo>
                <a:lnTo>
                  <a:pt x="536024" y="223577"/>
                </a:lnTo>
                <a:lnTo>
                  <a:pt x="593447" y="213655"/>
                </a:lnTo>
                <a:lnTo>
                  <a:pt x="648136" y="202804"/>
                </a:lnTo>
                <a:lnTo>
                  <a:pt x="699908" y="191074"/>
                </a:lnTo>
                <a:lnTo>
                  <a:pt x="748583" y="178515"/>
                </a:lnTo>
                <a:lnTo>
                  <a:pt x="793978" y="165177"/>
                </a:lnTo>
                <a:lnTo>
                  <a:pt x="835912" y="151110"/>
                </a:lnTo>
                <a:lnTo>
                  <a:pt x="874203" y="136365"/>
                </a:lnTo>
                <a:lnTo>
                  <a:pt x="939130" y="105041"/>
                </a:lnTo>
                <a:lnTo>
                  <a:pt x="987306" y="71604"/>
                </a:lnTo>
                <a:lnTo>
                  <a:pt x="1017278" y="36456"/>
                </a:lnTo>
                <a:lnTo>
                  <a:pt x="1024982" y="18367"/>
                </a:lnTo>
                <a:lnTo>
                  <a:pt x="1027591" y="0"/>
                </a:lnTo>
              </a:path>
            </a:pathLst>
          </a:custGeom>
          <a:ln w="20413">
            <a:solidFill>
              <a:srgbClr val="000000"/>
            </a:solidFill>
          </a:ln>
        </p:spPr>
        <p:txBody>
          <a:bodyPr wrap="square" lIns="0" tIns="0" rIns="0" bIns="0" rtlCol="0"/>
          <a:lstStyle/>
          <a:p>
            <a:endParaRPr/>
          </a:p>
        </p:txBody>
      </p:sp>
      <p:sp>
        <p:nvSpPr>
          <p:cNvPr id="61" name="object 61"/>
          <p:cNvSpPr/>
          <p:nvPr/>
        </p:nvSpPr>
        <p:spPr>
          <a:xfrm>
            <a:off x="5572813" y="1908628"/>
            <a:ext cx="988694" cy="222885"/>
          </a:xfrm>
          <a:custGeom>
            <a:avLst/>
            <a:gdLst/>
            <a:ahLst/>
            <a:cxnLst/>
            <a:rect l="l" t="t" r="r" b="b"/>
            <a:pathLst>
              <a:path w="988695" h="222885">
                <a:moveTo>
                  <a:pt x="0" y="0"/>
                </a:moveTo>
                <a:lnTo>
                  <a:pt x="10787" y="37134"/>
                </a:lnTo>
                <a:lnTo>
                  <a:pt x="42101" y="71160"/>
                </a:lnTo>
                <a:lnTo>
                  <a:pt x="92370" y="101988"/>
                </a:lnTo>
                <a:lnTo>
                  <a:pt x="160024" y="129527"/>
                </a:lnTo>
                <a:lnTo>
                  <a:pt x="199878" y="142035"/>
                </a:lnTo>
                <a:lnTo>
                  <a:pt x="243489" y="153687"/>
                </a:lnTo>
                <a:lnTo>
                  <a:pt x="290660" y="164471"/>
                </a:lnTo>
                <a:lnTo>
                  <a:pt x="341195" y="174377"/>
                </a:lnTo>
                <a:lnTo>
                  <a:pt x="394897" y="183394"/>
                </a:lnTo>
                <a:lnTo>
                  <a:pt x="451571" y="191508"/>
                </a:lnTo>
                <a:lnTo>
                  <a:pt x="511018" y="198711"/>
                </a:lnTo>
                <a:lnTo>
                  <a:pt x="573044" y="204990"/>
                </a:lnTo>
                <a:lnTo>
                  <a:pt x="637451" y="210333"/>
                </a:lnTo>
                <a:lnTo>
                  <a:pt x="704043" y="214731"/>
                </a:lnTo>
                <a:lnTo>
                  <a:pt x="772623" y="218171"/>
                </a:lnTo>
                <a:lnTo>
                  <a:pt x="842996" y="220642"/>
                </a:lnTo>
                <a:lnTo>
                  <a:pt x="914965" y="222132"/>
                </a:lnTo>
                <a:lnTo>
                  <a:pt x="988333" y="222632"/>
                </a:lnTo>
              </a:path>
            </a:pathLst>
          </a:custGeom>
          <a:ln w="20424">
            <a:solidFill>
              <a:srgbClr val="000000"/>
            </a:solidFill>
          </a:ln>
        </p:spPr>
        <p:txBody>
          <a:bodyPr wrap="square" lIns="0" tIns="0" rIns="0" bIns="0" rtlCol="0"/>
          <a:lstStyle/>
          <a:p>
            <a:endParaRPr/>
          </a:p>
        </p:txBody>
      </p:sp>
      <p:sp>
        <p:nvSpPr>
          <p:cNvPr id="62" name="object 62"/>
          <p:cNvSpPr/>
          <p:nvPr/>
        </p:nvSpPr>
        <p:spPr>
          <a:xfrm>
            <a:off x="5494263" y="1827471"/>
            <a:ext cx="79261" cy="70968"/>
          </a:xfrm>
          <a:prstGeom prst="rect">
            <a:avLst/>
          </a:prstGeom>
          <a:blipFill>
            <a:blip r:embed="rId3" cstate="print"/>
            <a:stretch>
              <a:fillRect/>
            </a:stretch>
          </a:blipFill>
        </p:spPr>
        <p:txBody>
          <a:bodyPr wrap="square" lIns="0" tIns="0" rIns="0" bIns="0" rtlCol="0"/>
          <a:lstStyle/>
          <a:p>
            <a:endParaRPr/>
          </a:p>
        </p:txBody>
      </p:sp>
      <p:sp>
        <p:nvSpPr>
          <p:cNvPr id="63" name="object 63"/>
          <p:cNvSpPr/>
          <p:nvPr/>
        </p:nvSpPr>
        <p:spPr>
          <a:xfrm>
            <a:off x="5572813" y="1949070"/>
            <a:ext cx="19685" cy="40640"/>
          </a:xfrm>
          <a:custGeom>
            <a:avLst/>
            <a:gdLst/>
            <a:ahLst/>
            <a:cxnLst/>
            <a:rect l="l" t="t" r="r" b="b"/>
            <a:pathLst>
              <a:path w="19685" h="40639">
                <a:moveTo>
                  <a:pt x="19116" y="20018"/>
                </a:moveTo>
                <a:lnTo>
                  <a:pt x="0" y="40441"/>
                </a:lnTo>
                <a:lnTo>
                  <a:pt x="0" y="0"/>
                </a:lnTo>
                <a:lnTo>
                  <a:pt x="19116" y="20018"/>
                </a:lnTo>
                <a:close/>
              </a:path>
            </a:pathLst>
          </a:custGeom>
          <a:ln w="19745">
            <a:solidFill>
              <a:srgbClr val="000000"/>
            </a:solidFill>
          </a:ln>
        </p:spPr>
        <p:txBody>
          <a:bodyPr wrap="square" lIns="0" tIns="0" rIns="0" bIns="0" rtlCol="0"/>
          <a:lstStyle/>
          <a:p>
            <a:endParaRPr/>
          </a:p>
        </p:txBody>
      </p:sp>
      <p:sp>
        <p:nvSpPr>
          <p:cNvPr id="64" name="object 64"/>
          <p:cNvSpPr/>
          <p:nvPr/>
        </p:nvSpPr>
        <p:spPr>
          <a:xfrm>
            <a:off x="5572813" y="1949070"/>
            <a:ext cx="19685" cy="40640"/>
          </a:xfrm>
          <a:custGeom>
            <a:avLst/>
            <a:gdLst/>
            <a:ahLst/>
            <a:cxnLst/>
            <a:rect l="l" t="t" r="r" b="b"/>
            <a:pathLst>
              <a:path w="19685" h="40639">
                <a:moveTo>
                  <a:pt x="0" y="0"/>
                </a:moveTo>
                <a:lnTo>
                  <a:pt x="0" y="40441"/>
                </a:lnTo>
                <a:lnTo>
                  <a:pt x="19116" y="20018"/>
                </a:lnTo>
                <a:lnTo>
                  <a:pt x="0" y="0"/>
                </a:lnTo>
                <a:close/>
              </a:path>
            </a:pathLst>
          </a:custGeom>
          <a:solidFill>
            <a:srgbClr val="000000"/>
          </a:solidFill>
        </p:spPr>
        <p:txBody>
          <a:bodyPr wrap="square" lIns="0" tIns="0" rIns="0" bIns="0" rtlCol="0"/>
          <a:lstStyle/>
          <a:p>
            <a:endParaRPr/>
          </a:p>
        </p:txBody>
      </p:sp>
      <p:sp>
        <p:nvSpPr>
          <p:cNvPr id="65" name="object 65"/>
          <p:cNvSpPr/>
          <p:nvPr/>
        </p:nvSpPr>
        <p:spPr>
          <a:xfrm>
            <a:off x="5591929" y="1989512"/>
            <a:ext cx="0" cy="0"/>
          </a:xfrm>
          <a:custGeom>
            <a:avLst/>
            <a:gdLst/>
            <a:ahLst/>
            <a:cxnLst/>
            <a:rect l="l" t="t" r="r" b="b"/>
            <a:pathLst>
              <a:path>
                <a:moveTo>
                  <a:pt x="0" y="0"/>
                </a:moveTo>
                <a:lnTo>
                  <a:pt x="0" y="0"/>
                </a:lnTo>
              </a:path>
            </a:pathLst>
          </a:custGeom>
          <a:ln w="20467">
            <a:solidFill>
              <a:srgbClr val="000000"/>
            </a:solidFill>
          </a:ln>
        </p:spPr>
        <p:txBody>
          <a:bodyPr wrap="square" lIns="0" tIns="0" rIns="0" bIns="0" rtlCol="0"/>
          <a:lstStyle/>
          <a:p>
            <a:endParaRPr/>
          </a:p>
        </p:txBody>
      </p:sp>
      <p:sp>
        <p:nvSpPr>
          <p:cNvPr id="66" name="object 66"/>
          <p:cNvSpPr/>
          <p:nvPr/>
        </p:nvSpPr>
        <p:spPr>
          <a:xfrm>
            <a:off x="8576278" y="1543640"/>
            <a:ext cx="368935" cy="304165"/>
          </a:xfrm>
          <a:custGeom>
            <a:avLst/>
            <a:gdLst/>
            <a:ahLst/>
            <a:cxnLst/>
            <a:rect l="l" t="t" r="r" b="b"/>
            <a:pathLst>
              <a:path w="368934" h="304164">
                <a:moveTo>
                  <a:pt x="0" y="304122"/>
                </a:moveTo>
                <a:lnTo>
                  <a:pt x="368392" y="0"/>
                </a:lnTo>
              </a:path>
            </a:pathLst>
          </a:custGeom>
          <a:ln w="20109">
            <a:solidFill>
              <a:srgbClr val="000000"/>
            </a:solidFill>
          </a:ln>
        </p:spPr>
        <p:txBody>
          <a:bodyPr wrap="square" lIns="0" tIns="0" rIns="0" bIns="0" rtlCol="0"/>
          <a:lstStyle/>
          <a:p>
            <a:endParaRPr/>
          </a:p>
        </p:txBody>
      </p:sp>
      <p:sp>
        <p:nvSpPr>
          <p:cNvPr id="67" name="object 67"/>
          <p:cNvSpPr/>
          <p:nvPr/>
        </p:nvSpPr>
        <p:spPr>
          <a:xfrm>
            <a:off x="8576278" y="1543640"/>
            <a:ext cx="368935" cy="304165"/>
          </a:xfrm>
          <a:custGeom>
            <a:avLst/>
            <a:gdLst/>
            <a:ahLst/>
            <a:cxnLst/>
            <a:rect l="l" t="t" r="r" b="b"/>
            <a:pathLst>
              <a:path w="368934" h="304164">
                <a:moveTo>
                  <a:pt x="0" y="0"/>
                </a:moveTo>
                <a:lnTo>
                  <a:pt x="368392" y="304122"/>
                </a:lnTo>
              </a:path>
            </a:pathLst>
          </a:custGeom>
          <a:ln w="20109">
            <a:solidFill>
              <a:srgbClr val="000000"/>
            </a:solidFill>
          </a:ln>
        </p:spPr>
        <p:txBody>
          <a:bodyPr wrap="square" lIns="0" tIns="0" rIns="0" bIns="0" rtlCol="0"/>
          <a:lstStyle/>
          <a:p>
            <a:endParaRPr/>
          </a:p>
        </p:txBody>
      </p:sp>
      <p:sp>
        <p:nvSpPr>
          <p:cNvPr id="68" name="object 68"/>
          <p:cNvSpPr/>
          <p:nvPr/>
        </p:nvSpPr>
        <p:spPr>
          <a:xfrm>
            <a:off x="8615556" y="2779341"/>
            <a:ext cx="252095" cy="264160"/>
          </a:xfrm>
          <a:custGeom>
            <a:avLst/>
            <a:gdLst/>
            <a:ahLst/>
            <a:cxnLst/>
            <a:rect l="l" t="t" r="r" b="b"/>
            <a:pathLst>
              <a:path w="252095" h="264160">
                <a:moveTo>
                  <a:pt x="115896" y="0"/>
                </a:moveTo>
                <a:lnTo>
                  <a:pt x="73218" y="10464"/>
                </a:lnTo>
                <a:lnTo>
                  <a:pt x="36108" y="38065"/>
                </a:lnTo>
                <a:lnTo>
                  <a:pt x="9918" y="77117"/>
                </a:lnTo>
                <a:lnTo>
                  <a:pt x="0" y="121932"/>
                </a:lnTo>
                <a:lnTo>
                  <a:pt x="9919" y="178203"/>
                </a:lnTo>
                <a:lnTo>
                  <a:pt x="36108" y="223137"/>
                </a:lnTo>
                <a:lnTo>
                  <a:pt x="73218" y="252906"/>
                </a:lnTo>
                <a:lnTo>
                  <a:pt x="115896" y="263680"/>
                </a:lnTo>
                <a:lnTo>
                  <a:pt x="159741" y="256703"/>
                </a:lnTo>
                <a:lnTo>
                  <a:pt x="197140" y="237079"/>
                </a:lnTo>
                <a:lnTo>
                  <a:pt x="226200" y="206769"/>
                </a:lnTo>
                <a:lnTo>
                  <a:pt x="245025" y="167733"/>
                </a:lnTo>
                <a:lnTo>
                  <a:pt x="251721" y="121932"/>
                </a:lnTo>
                <a:lnTo>
                  <a:pt x="241382" y="77117"/>
                </a:lnTo>
                <a:lnTo>
                  <a:pt x="212831" y="38065"/>
                </a:lnTo>
                <a:lnTo>
                  <a:pt x="169769" y="10464"/>
                </a:lnTo>
                <a:lnTo>
                  <a:pt x="115896" y="0"/>
                </a:lnTo>
                <a:close/>
              </a:path>
            </a:pathLst>
          </a:custGeom>
          <a:solidFill>
            <a:srgbClr val="FFDC99"/>
          </a:solidFill>
        </p:spPr>
        <p:txBody>
          <a:bodyPr wrap="square" lIns="0" tIns="0" rIns="0" bIns="0" rtlCol="0"/>
          <a:lstStyle/>
          <a:p>
            <a:endParaRPr/>
          </a:p>
        </p:txBody>
      </p:sp>
      <p:sp>
        <p:nvSpPr>
          <p:cNvPr id="69" name="object 69"/>
          <p:cNvSpPr/>
          <p:nvPr/>
        </p:nvSpPr>
        <p:spPr>
          <a:xfrm>
            <a:off x="8615556" y="2779341"/>
            <a:ext cx="252095" cy="264160"/>
          </a:xfrm>
          <a:custGeom>
            <a:avLst/>
            <a:gdLst/>
            <a:ahLst/>
            <a:cxnLst/>
            <a:rect l="l" t="t" r="r" b="b"/>
            <a:pathLst>
              <a:path w="252095" h="264160">
                <a:moveTo>
                  <a:pt x="197140" y="237079"/>
                </a:moveTo>
                <a:lnTo>
                  <a:pt x="226200" y="206769"/>
                </a:lnTo>
                <a:lnTo>
                  <a:pt x="245025" y="167733"/>
                </a:lnTo>
                <a:lnTo>
                  <a:pt x="251721" y="121932"/>
                </a:lnTo>
                <a:lnTo>
                  <a:pt x="241382" y="77117"/>
                </a:lnTo>
                <a:lnTo>
                  <a:pt x="212831" y="38065"/>
                </a:lnTo>
                <a:lnTo>
                  <a:pt x="169769" y="10464"/>
                </a:lnTo>
                <a:lnTo>
                  <a:pt x="115896" y="0"/>
                </a:lnTo>
                <a:lnTo>
                  <a:pt x="73218" y="10464"/>
                </a:lnTo>
                <a:lnTo>
                  <a:pt x="36108" y="38065"/>
                </a:lnTo>
                <a:lnTo>
                  <a:pt x="9919" y="77117"/>
                </a:lnTo>
                <a:lnTo>
                  <a:pt x="0" y="121932"/>
                </a:lnTo>
                <a:lnTo>
                  <a:pt x="9919" y="178203"/>
                </a:lnTo>
                <a:lnTo>
                  <a:pt x="36108" y="223137"/>
                </a:lnTo>
                <a:lnTo>
                  <a:pt x="73218" y="252906"/>
                </a:lnTo>
                <a:lnTo>
                  <a:pt x="115896" y="263680"/>
                </a:lnTo>
                <a:lnTo>
                  <a:pt x="159741" y="256703"/>
                </a:lnTo>
                <a:lnTo>
                  <a:pt x="197140" y="237079"/>
                </a:lnTo>
              </a:path>
            </a:pathLst>
          </a:custGeom>
          <a:ln w="40009">
            <a:solidFill>
              <a:srgbClr val="FFECCC"/>
            </a:solidFill>
          </a:ln>
        </p:spPr>
        <p:txBody>
          <a:bodyPr wrap="square" lIns="0" tIns="0" rIns="0" bIns="0" rtlCol="0"/>
          <a:lstStyle/>
          <a:p>
            <a:endParaRPr/>
          </a:p>
        </p:txBody>
      </p:sp>
      <p:sp>
        <p:nvSpPr>
          <p:cNvPr id="70" name="object 70"/>
          <p:cNvSpPr/>
          <p:nvPr/>
        </p:nvSpPr>
        <p:spPr>
          <a:xfrm>
            <a:off x="5301510" y="2779341"/>
            <a:ext cx="252095" cy="264160"/>
          </a:xfrm>
          <a:custGeom>
            <a:avLst/>
            <a:gdLst/>
            <a:ahLst/>
            <a:cxnLst/>
            <a:rect l="l" t="t" r="r" b="b"/>
            <a:pathLst>
              <a:path w="252095" h="264160">
                <a:moveTo>
                  <a:pt x="116070" y="0"/>
                </a:moveTo>
                <a:lnTo>
                  <a:pt x="73552" y="10464"/>
                </a:lnTo>
                <a:lnTo>
                  <a:pt x="36362" y="38065"/>
                </a:lnTo>
                <a:lnTo>
                  <a:pt x="10008" y="77117"/>
                </a:lnTo>
                <a:lnTo>
                  <a:pt x="0" y="121932"/>
                </a:lnTo>
                <a:lnTo>
                  <a:pt x="10008" y="178203"/>
                </a:lnTo>
                <a:lnTo>
                  <a:pt x="36362" y="223137"/>
                </a:lnTo>
                <a:lnTo>
                  <a:pt x="73553" y="252906"/>
                </a:lnTo>
                <a:lnTo>
                  <a:pt x="116070" y="263680"/>
                </a:lnTo>
                <a:lnTo>
                  <a:pt x="160075" y="256703"/>
                </a:lnTo>
                <a:lnTo>
                  <a:pt x="197454" y="237079"/>
                </a:lnTo>
                <a:lnTo>
                  <a:pt x="226395" y="206769"/>
                </a:lnTo>
                <a:lnTo>
                  <a:pt x="245088" y="167733"/>
                </a:lnTo>
                <a:lnTo>
                  <a:pt x="251721" y="121932"/>
                </a:lnTo>
                <a:lnTo>
                  <a:pt x="241474" y="77117"/>
                </a:lnTo>
                <a:lnTo>
                  <a:pt x="213092" y="38065"/>
                </a:lnTo>
                <a:lnTo>
                  <a:pt x="170112" y="10464"/>
                </a:lnTo>
                <a:lnTo>
                  <a:pt x="116070" y="0"/>
                </a:lnTo>
                <a:close/>
              </a:path>
            </a:pathLst>
          </a:custGeom>
          <a:solidFill>
            <a:srgbClr val="FFDC99"/>
          </a:solidFill>
        </p:spPr>
        <p:txBody>
          <a:bodyPr wrap="square" lIns="0" tIns="0" rIns="0" bIns="0" rtlCol="0"/>
          <a:lstStyle/>
          <a:p>
            <a:endParaRPr/>
          </a:p>
        </p:txBody>
      </p:sp>
      <p:sp>
        <p:nvSpPr>
          <p:cNvPr id="71" name="object 71"/>
          <p:cNvSpPr/>
          <p:nvPr/>
        </p:nvSpPr>
        <p:spPr>
          <a:xfrm>
            <a:off x="5301510" y="2779341"/>
            <a:ext cx="252095" cy="264160"/>
          </a:xfrm>
          <a:custGeom>
            <a:avLst/>
            <a:gdLst/>
            <a:ahLst/>
            <a:cxnLst/>
            <a:rect l="l" t="t" r="r" b="b"/>
            <a:pathLst>
              <a:path w="252095" h="264160">
                <a:moveTo>
                  <a:pt x="197454" y="237079"/>
                </a:moveTo>
                <a:lnTo>
                  <a:pt x="226395" y="206769"/>
                </a:lnTo>
                <a:lnTo>
                  <a:pt x="245088" y="167733"/>
                </a:lnTo>
                <a:lnTo>
                  <a:pt x="251721" y="121932"/>
                </a:lnTo>
                <a:lnTo>
                  <a:pt x="241475" y="77117"/>
                </a:lnTo>
                <a:lnTo>
                  <a:pt x="213092" y="38065"/>
                </a:lnTo>
                <a:lnTo>
                  <a:pt x="170112" y="10464"/>
                </a:lnTo>
                <a:lnTo>
                  <a:pt x="116070" y="0"/>
                </a:lnTo>
                <a:lnTo>
                  <a:pt x="73552" y="10464"/>
                </a:lnTo>
                <a:lnTo>
                  <a:pt x="36362" y="38065"/>
                </a:lnTo>
                <a:lnTo>
                  <a:pt x="10008" y="77117"/>
                </a:lnTo>
                <a:lnTo>
                  <a:pt x="0" y="121932"/>
                </a:lnTo>
                <a:lnTo>
                  <a:pt x="10008" y="178203"/>
                </a:lnTo>
                <a:lnTo>
                  <a:pt x="36362" y="223137"/>
                </a:lnTo>
                <a:lnTo>
                  <a:pt x="73553" y="252906"/>
                </a:lnTo>
                <a:lnTo>
                  <a:pt x="116070" y="263680"/>
                </a:lnTo>
                <a:lnTo>
                  <a:pt x="160075" y="256703"/>
                </a:lnTo>
                <a:lnTo>
                  <a:pt x="197454" y="237079"/>
                </a:lnTo>
              </a:path>
            </a:pathLst>
          </a:custGeom>
          <a:ln w="40009">
            <a:solidFill>
              <a:srgbClr val="FFECCC"/>
            </a:solidFill>
          </a:ln>
        </p:spPr>
        <p:txBody>
          <a:bodyPr wrap="square" lIns="0" tIns="0" rIns="0" bIns="0" rtlCol="0"/>
          <a:lstStyle/>
          <a:p>
            <a:endParaRPr/>
          </a:p>
        </p:txBody>
      </p:sp>
      <p:sp>
        <p:nvSpPr>
          <p:cNvPr id="72" name="object 72"/>
          <p:cNvSpPr/>
          <p:nvPr/>
        </p:nvSpPr>
        <p:spPr>
          <a:xfrm>
            <a:off x="6405857" y="2779341"/>
            <a:ext cx="252729" cy="264160"/>
          </a:xfrm>
          <a:custGeom>
            <a:avLst/>
            <a:gdLst/>
            <a:ahLst/>
            <a:cxnLst/>
            <a:rect l="l" t="t" r="r" b="b"/>
            <a:pathLst>
              <a:path w="252729" h="264160">
                <a:moveTo>
                  <a:pt x="116592" y="0"/>
                </a:moveTo>
                <a:lnTo>
                  <a:pt x="73805" y="10464"/>
                </a:lnTo>
                <a:lnTo>
                  <a:pt x="36456" y="38065"/>
                </a:lnTo>
                <a:lnTo>
                  <a:pt x="10027" y="77117"/>
                </a:lnTo>
                <a:lnTo>
                  <a:pt x="0" y="121932"/>
                </a:lnTo>
                <a:lnTo>
                  <a:pt x="10027" y="178203"/>
                </a:lnTo>
                <a:lnTo>
                  <a:pt x="36457" y="223137"/>
                </a:lnTo>
                <a:lnTo>
                  <a:pt x="73806" y="252906"/>
                </a:lnTo>
                <a:lnTo>
                  <a:pt x="116593" y="263680"/>
                </a:lnTo>
                <a:lnTo>
                  <a:pt x="160418" y="256703"/>
                </a:lnTo>
                <a:lnTo>
                  <a:pt x="197769" y="237079"/>
                </a:lnTo>
                <a:lnTo>
                  <a:pt x="226771" y="206769"/>
                </a:lnTo>
                <a:lnTo>
                  <a:pt x="245548" y="167733"/>
                </a:lnTo>
                <a:lnTo>
                  <a:pt x="252224" y="121932"/>
                </a:lnTo>
                <a:lnTo>
                  <a:pt x="241915" y="77117"/>
                </a:lnTo>
                <a:lnTo>
                  <a:pt x="213431" y="38065"/>
                </a:lnTo>
                <a:lnTo>
                  <a:pt x="170435" y="10464"/>
                </a:lnTo>
                <a:lnTo>
                  <a:pt x="116592" y="0"/>
                </a:lnTo>
                <a:close/>
              </a:path>
            </a:pathLst>
          </a:custGeom>
          <a:solidFill>
            <a:srgbClr val="FFDC99"/>
          </a:solidFill>
        </p:spPr>
        <p:txBody>
          <a:bodyPr wrap="square" lIns="0" tIns="0" rIns="0" bIns="0" rtlCol="0"/>
          <a:lstStyle/>
          <a:p>
            <a:endParaRPr/>
          </a:p>
        </p:txBody>
      </p:sp>
      <p:sp>
        <p:nvSpPr>
          <p:cNvPr id="73" name="object 73"/>
          <p:cNvSpPr/>
          <p:nvPr/>
        </p:nvSpPr>
        <p:spPr>
          <a:xfrm>
            <a:off x="6405857" y="2779341"/>
            <a:ext cx="252729" cy="264160"/>
          </a:xfrm>
          <a:custGeom>
            <a:avLst/>
            <a:gdLst/>
            <a:ahLst/>
            <a:cxnLst/>
            <a:rect l="l" t="t" r="r" b="b"/>
            <a:pathLst>
              <a:path w="252729" h="264160">
                <a:moveTo>
                  <a:pt x="197769" y="237079"/>
                </a:moveTo>
                <a:lnTo>
                  <a:pt x="226771" y="206769"/>
                </a:lnTo>
                <a:lnTo>
                  <a:pt x="245548" y="167733"/>
                </a:lnTo>
                <a:lnTo>
                  <a:pt x="252224" y="121932"/>
                </a:lnTo>
                <a:lnTo>
                  <a:pt x="241915" y="77117"/>
                </a:lnTo>
                <a:lnTo>
                  <a:pt x="213431" y="38065"/>
                </a:lnTo>
                <a:lnTo>
                  <a:pt x="170435" y="10464"/>
                </a:lnTo>
                <a:lnTo>
                  <a:pt x="116592" y="0"/>
                </a:lnTo>
                <a:lnTo>
                  <a:pt x="73805" y="10464"/>
                </a:lnTo>
                <a:lnTo>
                  <a:pt x="36457" y="38065"/>
                </a:lnTo>
                <a:lnTo>
                  <a:pt x="10027" y="77117"/>
                </a:lnTo>
                <a:lnTo>
                  <a:pt x="0" y="121932"/>
                </a:lnTo>
                <a:lnTo>
                  <a:pt x="10027" y="178203"/>
                </a:lnTo>
                <a:lnTo>
                  <a:pt x="36457" y="223137"/>
                </a:lnTo>
                <a:lnTo>
                  <a:pt x="73806" y="252906"/>
                </a:lnTo>
                <a:lnTo>
                  <a:pt x="116593" y="263680"/>
                </a:lnTo>
                <a:lnTo>
                  <a:pt x="160418" y="256703"/>
                </a:lnTo>
                <a:lnTo>
                  <a:pt x="197769" y="237079"/>
                </a:lnTo>
              </a:path>
            </a:pathLst>
          </a:custGeom>
          <a:ln w="40010">
            <a:solidFill>
              <a:srgbClr val="FFECCC"/>
            </a:solidFill>
          </a:ln>
        </p:spPr>
        <p:txBody>
          <a:bodyPr wrap="square" lIns="0" tIns="0" rIns="0" bIns="0" rtlCol="0"/>
          <a:lstStyle/>
          <a:p>
            <a:endParaRPr/>
          </a:p>
        </p:txBody>
      </p:sp>
      <p:sp>
        <p:nvSpPr>
          <p:cNvPr id="74" name="object 74"/>
          <p:cNvSpPr/>
          <p:nvPr/>
        </p:nvSpPr>
        <p:spPr>
          <a:xfrm>
            <a:off x="7510571" y="2779341"/>
            <a:ext cx="271780" cy="264160"/>
          </a:xfrm>
          <a:custGeom>
            <a:avLst/>
            <a:gdLst/>
            <a:ahLst/>
            <a:cxnLst/>
            <a:rect l="l" t="t" r="r" b="b"/>
            <a:pathLst>
              <a:path w="271779" h="264160">
                <a:moveTo>
                  <a:pt x="135825" y="0"/>
                </a:moveTo>
                <a:lnTo>
                  <a:pt x="81952" y="10464"/>
                </a:lnTo>
                <a:lnTo>
                  <a:pt x="38890" y="38065"/>
                </a:lnTo>
                <a:lnTo>
                  <a:pt x="10339" y="77117"/>
                </a:lnTo>
                <a:lnTo>
                  <a:pt x="0" y="121932"/>
                </a:lnTo>
                <a:lnTo>
                  <a:pt x="6696" y="167733"/>
                </a:lnTo>
                <a:lnTo>
                  <a:pt x="25521" y="206769"/>
                </a:lnTo>
                <a:lnTo>
                  <a:pt x="54581" y="237079"/>
                </a:lnTo>
                <a:lnTo>
                  <a:pt x="91980" y="256703"/>
                </a:lnTo>
                <a:lnTo>
                  <a:pt x="135825" y="263680"/>
                </a:lnTo>
                <a:lnTo>
                  <a:pt x="179650" y="256703"/>
                </a:lnTo>
                <a:lnTo>
                  <a:pt x="217001" y="237079"/>
                </a:lnTo>
                <a:lnTo>
                  <a:pt x="246004" y="206769"/>
                </a:lnTo>
                <a:lnTo>
                  <a:pt x="264781" y="167733"/>
                </a:lnTo>
                <a:lnTo>
                  <a:pt x="271457" y="121932"/>
                </a:lnTo>
                <a:lnTo>
                  <a:pt x="261147" y="77117"/>
                </a:lnTo>
                <a:lnTo>
                  <a:pt x="232663" y="38065"/>
                </a:lnTo>
                <a:lnTo>
                  <a:pt x="189668" y="10464"/>
                </a:lnTo>
                <a:lnTo>
                  <a:pt x="135825" y="0"/>
                </a:lnTo>
                <a:close/>
              </a:path>
            </a:pathLst>
          </a:custGeom>
          <a:solidFill>
            <a:srgbClr val="FFDC99"/>
          </a:solidFill>
        </p:spPr>
        <p:txBody>
          <a:bodyPr wrap="square" lIns="0" tIns="0" rIns="0" bIns="0" rtlCol="0"/>
          <a:lstStyle/>
          <a:p>
            <a:endParaRPr/>
          </a:p>
        </p:txBody>
      </p:sp>
      <p:sp>
        <p:nvSpPr>
          <p:cNvPr id="75" name="object 75"/>
          <p:cNvSpPr/>
          <p:nvPr/>
        </p:nvSpPr>
        <p:spPr>
          <a:xfrm>
            <a:off x="7510571" y="2779341"/>
            <a:ext cx="271780" cy="264160"/>
          </a:xfrm>
          <a:custGeom>
            <a:avLst/>
            <a:gdLst/>
            <a:ahLst/>
            <a:cxnLst/>
            <a:rect l="l" t="t" r="r" b="b"/>
            <a:pathLst>
              <a:path w="271779" h="264160">
                <a:moveTo>
                  <a:pt x="217001" y="237079"/>
                </a:moveTo>
                <a:lnTo>
                  <a:pt x="246004" y="206769"/>
                </a:lnTo>
                <a:lnTo>
                  <a:pt x="264781" y="167733"/>
                </a:lnTo>
                <a:lnTo>
                  <a:pt x="271457" y="121932"/>
                </a:lnTo>
                <a:lnTo>
                  <a:pt x="261148" y="77117"/>
                </a:lnTo>
                <a:lnTo>
                  <a:pt x="232663" y="38065"/>
                </a:lnTo>
                <a:lnTo>
                  <a:pt x="189668" y="10464"/>
                </a:lnTo>
                <a:lnTo>
                  <a:pt x="135825" y="0"/>
                </a:lnTo>
                <a:lnTo>
                  <a:pt x="81952" y="10464"/>
                </a:lnTo>
                <a:lnTo>
                  <a:pt x="38890" y="38065"/>
                </a:lnTo>
                <a:lnTo>
                  <a:pt x="10339" y="77117"/>
                </a:lnTo>
                <a:lnTo>
                  <a:pt x="0" y="121932"/>
                </a:lnTo>
                <a:lnTo>
                  <a:pt x="6696" y="167733"/>
                </a:lnTo>
                <a:lnTo>
                  <a:pt x="25521" y="206769"/>
                </a:lnTo>
                <a:lnTo>
                  <a:pt x="54580" y="237079"/>
                </a:lnTo>
                <a:lnTo>
                  <a:pt x="91980" y="256703"/>
                </a:lnTo>
                <a:lnTo>
                  <a:pt x="135825" y="263680"/>
                </a:lnTo>
                <a:lnTo>
                  <a:pt x="179650" y="256703"/>
                </a:lnTo>
                <a:lnTo>
                  <a:pt x="217001" y="237079"/>
                </a:lnTo>
              </a:path>
            </a:pathLst>
          </a:custGeom>
          <a:ln w="40075">
            <a:solidFill>
              <a:srgbClr val="FFECCC"/>
            </a:solidFill>
          </a:ln>
        </p:spPr>
        <p:txBody>
          <a:bodyPr wrap="square" lIns="0" tIns="0" rIns="0" bIns="0" rtlCol="0"/>
          <a:lstStyle/>
          <a:p>
            <a:endParaRPr/>
          </a:p>
        </p:txBody>
      </p:sp>
      <p:sp>
        <p:nvSpPr>
          <p:cNvPr id="76" name="object 76"/>
          <p:cNvSpPr/>
          <p:nvPr/>
        </p:nvSpPr>
        <p:spPr>
          <a:xfrm>
            <a:off x="8576278" y="2779341"/>
            <a:ext cx="368935" cy="304165"/>
          </a:xfrm>
          <a:custGeom>
            <a:avLst/>
            <a:gdLst/>
            <a:ahLst/>
            <a:cxnLst/>
            <a:rect l="l" t="t" r="r" b="b"/>
            <a:pathLst>
              <a:path w="368934" h="304164">
                <a:moveTo>
                  <a:pt x="0" y="304122"/>
                </a:moveTo>
                <a:lnTo>
                  <a:pt x="368392" y="0"/>
                </a:lnTo>
              </a:path>
            </a:pathLst>
          </a:custGeom>
          <a:ln w="20109">
            <a:solidFill>
              <a:srgbClr val="000000"/>
            </a:solidFill>
          </a:ln>
        </p:spPr>
        <p:txBody>
          <a:bodyPr wrap="square" lIns="0" tIns="0" rIns="0" bIns="0" rtlCol="0"/>
          <a:lstStyle/>
          <a:p>
            <a:endParaRPr/>
          </a:p>
        </p:txBody>
      </p:sp>
      <p:sp>
        <p:nvSpPr>
          <p:cNvPr id="77" name="object 77"/>
          <p:cNvSpPr/>
          <p:nvPr/>
        </p:nvSpPr>
        <p:spPr>
          <a:xfrm>
            <a:off x="8576278" y="2779341"/>
            <a:ext cx="368935" cy="304165"/>
          </a:xfrm>
          <a:custGeom>
            <a:avLst/>
            <a:gdLst/>
            <a:ahLst/>
            <a:cxnLst/>
            <a:rect l="l" t="t" r="r" b="b"/>
            <a:pathLst>
              <a:path w="368934" h="304164">
                <a:moveTo>
                  <a:pt x="0" y="0"/>
                </a:moveTo>
                <a:lnTo>
                  <a:pt x="368392" y="304122"/>
                </a:lnTo>
              </a:path>
            </a:pathLst>
          </a:custGeom>
          <a:ln w="20109">
            <a:solidFill>
              <a:srgbClr val="000000"/>
            </a:solidFill>
          </a:ln>
        </p:spPr>
        <p:txBody>
          <a:bodyPr wrap="square" lIns="0" tIns="0" rIns="0" bIns="0" rtlCol="0"/>
          <a:lstStyle/>
          <a:p>
            <a:endParaRPr/>
          </a:p>
        </p:txBody>
      </p:sp>
      <p:sp>
        <p:nvSpPr>
          <p:cNvPr id="78" name="object 78"/>
          <p:cNvSpPr/>
          <p:nvPr/>
        </p:nvSpPr>
        <p:spPr>
          <a:xfrm>
            <a:off x="5301510" y="3914221"/>
            <a:ext cx="251722" cy="263134"/>
          </a:xfrm>
          <a:prstGeom prst="rect">
            <a:avLst/>
          </a:prstGeom>
          <a:blipFill>
            <a:blip r:embed="rId4" cstate="print"/>
            <a:stretch>
              <a:fillRect/>
            </a:stretch>
          </a:blipFill>
        </p:spPr>
        <p:txBody>
          <a:bodyPr wrap="square" lIns="0" tIns="0" rIns="0" bIns="0" rtlCol="0"/>
          <a:lstStyle/>
          <a:p>
            <a:endParaRPr/>
          </a:p>
        </p:txBody>
      </p:sp>
      <p:sp>
        <p:nvSpPr>
          <p:cNvPr id="79" name="object 79"/>
          <p:cNvSpPr/>
          <p:nvPr/>
        </p:nvSpPr>
        <p:spPr>
          <a:xfrm>
            <a:off x="5301510" y="3914221"/>
            <a:ext cx="252095" cy="263525"/>
          </a:xfrm>
          <a:custGeom>
            <a:avLst/>
            <a:gdLst/>
            <a:ahLst/>
            <a:cxnLst/>
            <a:rect l="l" t="t" r="r" b="b"/>
            <a:pathLst>
              <a:path w="252095" h="263525">
                <a:moveTo>
                  <a:pt x="116070" y="0"/>
                </a:moveTo>
                <a:lnTo>
                  <a:pt x="73552" y="10463"/>
                </a:lnTo>
                <a:lnTo>
                  <a:pt x="36362" y="38012"/>
                </a:lnTo>
                <a:lnTo>
                  <a:pt x="10008" y="76887"/>
                </a:lnTo>
                <a:lnTo>
                  <a:pt x="0" y="121325"/>
                </a:lnTo>
                <a:lnTo>
                  <a:pt x="10008" y="177819"/>
                </a:lnTo>
                <a:lnTo>
                  <a:pt x="36362" y="222751"/>
                </a:lnTo>
                <a:lnTo>
                  <a:pt x="73553" y="252422"/>
                </a:lnTo>
                <a:lnTo>
                  <a:pt x="116070" y="263134"/>
                </a:lnTo>
                <a:lnTo>
                  <a:pt x="160075" y="256200"/>
                </a:lnTo>
                <a:lnTo>
                  <a:pt x="197454" y="236658"/>
                </a:lnTo>
                <a:lnTo>
                  <a:pt x="226395" y="206402"/>
                </a:lnTo>
                <a:lnTo>
                  <a:pt x="245088" y="167327"/>
                </a:lnTo>
                <a:lnTo>
                  <a:pt x="251721" y="121325"/>
                </a:lnTo>
                <a:lnTo>
                  <a:pt x="241474" y="76887"/>
                </a:lnTo>
                <a:lnTo>
                  <a:pt x="213092" y="38012"/>
                </a:lnTo>
                <a:lnTo>
                  <a:pt x="170112" y="10463"/>
                </a:lnTo>
                <a:lnTo>
                  <a:pt x="116070" y="0"/>
                </a:lnTo>
                <a:close/>
              </a:path>
            </a:pathLst>
          </a:custGeom>
          <a:solidFill>
            <a:srgbClr val="FFDC99"/>
          </a:solidFill>
        </p:spPr>
        <p:txBody>
          <a:bodyPr wrap="square" lIns="0" tIns="0" rIns="0" bIns="0" rtlCol="0"/>
          <a:lstStyle/>
          <a:p>
            <a:endParaRPr/>
          </a:p>
        </p:txBody>
      </p:sp>
      <p:sp>
        <p:nvSpPr>
          <p:cNvPr id="80" name="object 80"/>
          <p:cNvSpPr/>
          <p:nvPr/>
        </p:nvSpPr>
        <p:spPr>
          <a:xfrm>
            <a:off x="5301510" y="3914221"/>
            <a:ext cx="252095" cy="263525"/>
          </a:xfrm>
          <a:custGeom>
            <a:avLst/>
            <a:gdLst/>
            <a:ahLst/>
            <a:cxnLst/>
            <a:rect l="l" t="t" r="r" b="b"/>
            <a:pathLst>
              <a:path w="252095" h="263525">
                <a:moveTo>
                  <a:pt x="160075" y="256200"/>
                </a:moveTo>
                <a:lnTo>
                  <a:pt x="197454" y="236658"/>
                </a:lnTo>
                <a:lnTo>
                  <a:pt x="226395" y="206402"/>
                </a:lnTo>
                <a:lnTo>
                  <a:pt x="245088" y="167327"/>
                </a:lnTo>
                <a:lnTo>
                  <a:pt x="251721" y="121325"/>
                </a:lnTo>
                <a:lnTo>
                  <a:pt x="241475" y="76887"/>
                </a:lnTo>
                <a:lnTo>
                  <a:pt x="213092" y="38012"/>
                </a:lnTo>
                <a:lnTo>
                  <a:pt x="170112" y="10463"/>
                </a:lnTo>
                <a:lnTo>
                  <a:pt x="116070" y="0"/>
                </a:lnTo>
                <a:lnTo>
                  <a:pt x="73552" y="10463"/>
                </a:lnTo>
                <a:lnTo>
                  <a:pt x="36362" y="38012"/>
                </a:lnTo>
                <a:lnTo>
                  <a:pt x="10008" y="76887"/>
                </a:lnTo>
                <a:lnTo>
                  <a:pt x="0" y="121325"/>
                </a:lnTo>
                <a:lnTo>
                  <a:pt x="10008" y="177819"/>
                </a:lnTo>
                <a:lnTo>
                  <a:pt x="36362" y="222751"/>
                </a:lnTo>
                <a:lnTo>
                  <a:pt x="73553" y="252422"/>
                </a:lnTo>
                <a:lnTo>
                  <a:pt x="116070" y="263134"/>
                </a:lnTo>
                <a:lnTo>
                  <a:pt x="160075" y="256200"/>
                </a:lnTo>
              </a:path>
            </a:pathLst>
          </a:custGeom>
          <a:ln w="40010">
            <a:solidFill>
              <a:srgbClr val="FFECCC"/>
            </a:solidFill>
          </a:ln>
        </p:spPr>
        <p:txBody>
          <a:bodyPr wrap="square" lIns="0" tIns="0" rIns="0" bIns="0" rtlCol="0"/>
          <a:lstStyle/>
          <a:p>
            <a:endParaRPr/>
          </a:p>
        </p:txBody>
      </p:sp>
      <p:sp>
        <p:nvSpPr>
          <p:cNvPr id="81" name="object 81"/>
          <p:cNvSpPr/>
          <p:nvPr/>
        </p:nvSpPr>
        <p:spPr>
          <a:xfrm>
            <a:off x="6405857" y="3914221"/>
            <a:ext cx="271780" cy="263525"/>
          </a:xfrm>
          <a:custGeom>
            <a:avLst/>
            <a:gdLst/>
            <a:ahLst/>
            <a:cxnLst/>
            <a:rect l="l" t="t" r="r" b="b"/>
            <a:pathLst>
              <a:path w="271779" h="263525">
                <a:moveTo>
                  <a:pt x="135554" y="0"/>
                </a:moveTo>
                <a:lnTo>
                  <a:pt x="81805" y="10463"/>
                </a:lnTo>
                <a:lnTo>
                  <a:pt x="38827" y="38012"/>
                </a:lnTo>
                <a:lnTo>
                  <a:pt x="10324" y="76887"/>
                </a:lnTo>
                <a:lnTo>
                  <a:pt x="0" y="121325"/>
                </a:lnTo>
                <a:lnTo>
                  <a:pt x="6686" y="167327"/>
                </a:lnTo>
                <a:lnTo>
                  <a:pt x="25481" y="206402"/>
                </a:lnTo>
                <a:lnTo>
                  <a:pt x="54489" y="236658"/>
                </a:lnTo>
                <a:lnTo>
                  <a:pt x="91812" y="256200"/>
                </a:lnTo>
                <a:lnTo>
                  <a:pt x="135554" y="263134"/>
                </a:lnTo>
                <a:lnTo>
                  <a:pt x="179622" y="256200"/>
                </a:lnTo>
                <a:lnTo>
                  <a:pt x="217049" y="236658"/>
                </a:lnTo>
                <a:lnTo>
                  <a:pt x="246025" y="206402"/>
                </a:lnTo>
                <a:lnTo>
                  <a:pt x="264739" y="167327"/>
                </a:lnTo>
                <a:lnTo>
                  <a:pt x="271379" y="121325"/>
                </a:lnTo>
                <a:lnTo>
                  <a:pt x="261122" y="76887"/>
                </a:lnTo>
                <a:lnTo>
                  <a:pt x="232707" y="38012"/>
                </a:lnTo>
                <a:lnTo>
                  <a:pt x="189672" y="10463"/>
                </a:lnTo>
                <a:lnTo>
                  <a:pt x="135554" y="0"/>
                </a:lnTo>
                <a:close/>
              </a:path>
            </a:pathLst>
          </a:custGeom>
          <a:solidFill>
            <a:srgbClr val="FFDC99"/>
          </a:solidFill>
        </p:spPr>
        <p:txBody>
          <a:bodyPr wrap="square" lIns="0" tIns="0" rIns="0" bIns="0" rtlCol="0"/>
          <a:lstStyle/>
          <a:p>
            <a:endParaRPr/>
          </a:p>
        </p:txBody>
      </p:sp>
      <p:sp>
        <p:nvSpPr>
          <p:cNvPr id="82" name="object 82"/>
          <p:cNvSpPr/>
          <p:nvPr/>
        </p:nvSpPr>
        <p:spPr>
          <a:xfrm>
            <a:off x="6405857" y="3914221"/>
            <a:ext cx="271780" cy="263525"/>
          </a:xfrm>
          <a:custGeom>
            <a:avLst/>
            <a:gdLst/>
            <a:ahLst/>
            <a:cxnLst/>
            <a:rect l="l" t="t" r="r" b="b"/>
            <a:pathLst>
              <a:path w="271779" h="263525">
                <a:moveTo>
                  <a:pt x="179622" y="256200"/>
                </a:moveTo>
                <a:lnTo>
                  <a:pt x="217049" y="236658"/>
                </a:lnTo>
                <a:lnTo>
                  <a:pt x="246025" y="206402"/>
                </a:lnTo>
                <a:lnTo>
                  <a:pt x="264739" y="167327"/>
                </a:lnTo>
                <a:lnTo>
                  <a:pt x="271379" y="121325"/>
                </a:lnTo>
                <a:lnTo>
                  <a:pt x="261122" y="76887"/>
                </a:lnTo>
                <a:lnTo>
                  <a:pt x="232707" y="38012"/>
                </a:lnTo>
                <a:lnTo>
                  <a:pt x="189672" y="10463"/>
                </a:lnTo>
                <a:lnTo>
                  <a:pt x="135554" y="0"/>
                </a:lnTo>
                <a:lnTo>
                  <a:pt x="81805" y="10463"/>
                </a:lnTo>
                <a:lnTo>
                  <a:pt x="38827" y="38012"/>
                </a:lnTo>
                <a:lnTo>
                  <a:pt x="10324" y="76887"/>
                </a:lnTo>
                <a:lnTo>
                  <a:pt x="0" y="121325"/>
                </a:lnTo>
                <a:lnTo>
                  <a:pt x="6686" y="167327"/>
                </a:lnTo>
                <a:lnTo>
                  <a:pt x="25481" y="206402"/>
                </a:lnTo>
                <a:lnTo>
                  <a:pt x="54489" y="236658"/>
                </a:lnTo>
                <a:lnTo>
                  <a:pt x="91812" y="256200"/>
                </a:lnTo>
                <a:lnTo>
                  <a:pt x="135554" y="263134"/>
                </a:lnTo>
                <a:lnTo>
                  <a:pt x="179622" y="256200"/>
                </a:lnTo>
              </a:path>
            </a:pathLst>
          </a:custGeom>
          <a:ln w="40077">
            <a:solidFill>
              <a:srgbClr val="FFECCC"/>
            </a:solidFill>
          </a:ln>
        </p:spPr>
        <p:txBody>
          <a:bodyPr wrap="square" lIns="0" tIns="0" rIns="0" bIns="0" rtlCol="0"/>
          <a:lstStyle/>
          <a:p>
            <a:endParaRPr/>
          </a:p>
        </p:txBody>
      </p:sp>
      <p:sp>
        <p:nvSpPr>
          <p:cNvPr id="83" name="object 83"/>
          <p:cNvSpPr/>
          <p:nvPr/>
        </p:nvSpPr>
        <p:spPr>
          <a:xfrm>
            <a:off x="7530307" y="3914221"/>
            <a:ext cx="252095" cy="263525"/>
          </a:xfrm>
          <a:custGeom>
            <a:avLst/>
            <a:gdLst/>
            <a:ahLst/>
            <a:cxnLst/>
            <a:rect l="l" t="t" r="r" b="b"/>
            <a:pathLst>
              <a:path w="252095" h="263525">
                <a:moveTo>
                  <a:pt x="116089" y="0"/>
                </a:moveTo>
                <a:lnTo>
                  <a:pt x="73299" y="10463"/>
                </a:lnTo>
                <a:lnTo>
                  <a:pt x="36132" y="38012"/>
                </a:lnTo>
                <a:lnTo>
                  <a:pt x="9922" y="76887"/>
                </a:lnTo>
                <a:lnTo>
                  <a:pt x="0" y="121325"/>
                </a:lnTo>
                <a:lnTo>
                  <a:pt x="9922" y="177819"/>
                </a:lnTo>
                <a:lnTo>
                  <a:pt x="36133" y="222751"/>
                </a:lnTo>
                <a:lnTo>
                  <a:pt x="73300" y="252422"/>
                </a:lnTo>
                <a:lnTo>
                  <a:pt x="116090" y="263134"/>
                </a:lnTo>
                <a:lnTo>
                  <a:pt x="159914" y="256200"/>
                </a:lnTo>
                <a:lnTo>
                  <a:pt x="197266" y="236658"/>
                </a:lnTo>
                <a:lnTo>
                  <a:pt x="226268" y="206402"/>
                </a:lnTo>
                <a:lnTo>
                  <a:pt x="245045" y="167327"/>
                </a:lnTo>
                <a:lnTo>
                  <a:pt x="251721" y="121325"/>
                </a:lnTo>
                <a:lnTo>
                  <a:pt x="241412" y="76887"/>
                </a:lnTo>
                <a:lnTo>
                  <a:pt x="212928" y="38012"/>
                </a:lnTo>
                <a:lnTo>
                  <a:pt x="169932" y="10463"/>
                </a:lnTo>
                <a:lnTo>
                  <a:pt x="116089" y="0"/>
                </a:lnTo>
                <a:close/>
              </a:path>
            </a:pathLst>
          </a:custGeom>
          <a:solidFill>
            <a:srgbClr val="FFDC99"/>
          </a:solidFill>
        </p:spPr>
        <p:txBody>
          <a:bodyPr wrap="square" lIns="0" tIns="0" rIns="0" bIns="0" rtlCol="0"/>
          <a:lstStyle/>
          <a:p>
            <a:endParaRPr/>
          </a:p>
        </p:txBody>
      </p:sp>
      <p:sp>
        <p:nvSpPr>
          <p:cNvPr id="84" name="object 84"/>
          <p:cNvSpPr/>
          <p:nvPr/>
        </p:nvSpPr>
        <p:spPr>
          <a:xfrm>
            <a:off x="7530307" y="3914221"/>
            <a:ext cx="252095" cy="263525"/>
          </a:xfrm>
          <a:custGeom>
            <a:avLst/>
            <a:gdLst/>
            <a:ahLst/>
            <a:cxnLst/>
            <a:rect l="l" t="t" r="r" b="b"/>
            <a:pathLst>
              <a:path w="252095" h="263525">
                <a:moveTo>
                  <a:pt x="159914" y="256200"/>
                </a:moveTo>
                <a:lnTo>
                  <a:pt x="197266" y="236658"/>
                </a:lnTo>
                <a:lnTo>
                  <a:pt x="226268" y="206402"/>
                </a:lnTo>
                <a:lnTo>
                  <a:pt x="245045" y="167327"/>
                </a:lnTo>
                <a:lnTo>
                  <a:pt x="251721" y="121325"/>
                </a:lnTo>
                <a:lnTo>
                  <a:pt x="241412" y="76887"/>
                </a:lnTo>
                <a:lnTo>
                  <a:pt x="212928" y="38012"/>
                </a:lnTo>
                <a:lnTo>
                  <a:pt x="169932" y="10463"/>
                </a:lnTo>
                <a:lnTo>
                  <a:pt x="116089" y="0"/>
                </a:lnTo>
                <a:lnTo>
                  <a:pt x="73299" y="10463"/>
                </a:lnTo>
                <a:lnTo>
                  <a:pt x="36133" y="38012"/>
                </a:lnTo>
                <a:lnTo>
                  <a:pt x="9922" y="76887"/>
                </a:lnTo>
                <a:lnTo>
                  <a:pt x="0" y="121325"/>
                </a:lnTo>
                <a:lnTo>
                  <a:pt x="9922" y="177819"/>
                </a:lnTo>
                <a:lnTo>
                  <a:pt x="36133" y="222751"/>
                </a:lnTo>
                <a:lnTo>
                  <a:pt x="73300" y="252422"/>
                </a:lnTo>
                <a:lnTo>
                  <a:pt x="116090" y="263134"/>
                </a:lnTo>
                <a:lnTo>
                  <a:pt x="159914" y="256200"/>
                </a:lnTo>
              </a:path>
            </a:pathLst>
          </a:custGeom>
          <a:ln w="40010">
            <a:solidFill>
              <a:srgbClr val="FFECCC"/>
            </a:solidFill>
          </a:ln>
        </p:spPr>
        <p:txBody>
          <a:bodyPr wrap="square" lIns="0" tIns="0" rIns="0" bIns="0" rtlCol="0"/>
          <a:lstStyle/>
          <a:p>
            <a:endParaRPr/>
          </a:p>
        </p:txBody>
      </p:sp>
      <p:sp>
        <p:nvSpPr>
          <p:cNvPr id="85" name="object 85"/>
          <p:cNvSpPr/>
          <p:nvPr/>
        </p:nvSpPr>
        <p:spPr>
          <a:xfrm>
            <a:off x="8576278" y="3893757"/>
            <a:ext cx="368935" cy="324485"/>
          </a:xfrm>
          <a:custGeom>
            <a:avLst/>
            <a:gdLst/>
            <a:ahLst/>
            <a:cxnLst/>
            <a:rect l="l" t="t" r="r" b="b"/>
            <a:pathLst>
              <a:path w="368934" h="324485">
                <a:moveTo>
                  <a:pt x="0" y="324040"/>
                </a:moveTo>
                <a:lnTo>
                  <a:pt x="368392" y="0"/>
                </a:lnTo>
              </a:path>
            </a:pathLst>
          </a:custGeom>
          <a:ln w="20082">
            <a:solidFill>
              <a:srgbClr val="000000"/>
            </a:solidFill>
          </a:ln>
        </p:spPr>
        <p:txBody>
          <a:bodyPr wrap="square" lIns="0" tIns="0" rIns="0" bIns="0" rtlCol="0"/>
          <a:lstStyle/>
          <a:p>
            <a:endParaRPr/>
          </a:p>
        </p:txBody>
      </p:sp>
      <p:sp>
        <p:nvSpPr>
          <p:cNvPr id="86" name="object 86"/>
          <p:cNvSpPr/>
          <p:nvPr/>
        </p:nvSpPr>
        <p:spPr>
          <a:xfrm>
            <a:off x="8576278" y="3893757"/>
            <a:ext cx="368935" cy="324485"/>
          </a:xfrm>
          <a:custGeom>
            <a:avLst/>
            <a:gdLst/>
            <a:ahLst/>
            <a:cxnLst/>
            <a:rect l="l" t="t" r="r" b="b"/>
            <a:pathLst>
              <a:path w="368934" h="324485">
                <a:moveTo>
                  <a:pt x="0" y="0"/>
                </a:moveTo>
                <a:lnTo>
                  <a:pt x="368392" y="324040"/>
                </a:lnTo>
              </a:path>
            </a:pathLst>
          </a:custGeom>
          <a:ln w="20082">
            <a:solidFill>
              <a:srgbClr val="000000"/>
            </a:solidFill>
          </a:ln>
        </p:spPr>
        <p:txBody>
          <a:bodyPr wrap="square" lIns="0" tIns="0" rIns="0" bIns="0" rtlCol="0"/>
          <a:lstStyle/>
          <a:p>
            <a:endParaRPr/>
          </a:p>
        </p:txBody>
      </p:sp>
      <p:sp>
        <p:nvSpPr>
          <p:cNvPr id="87" name="object 87"/>
          <p:cNvSpPr/>
          <p:nvPr/>
        </p:nvSpPr>
        <p:spPr>
          <a:xfrm>
            <a:off x="8634517" y="5149942"/>
            <a:ext cx="252729" cy="264160"/>
          </a:xfrm>
          <a:custGeom>
            <a:avLst/>
            <a:gdLst/>
            <a:ahLst/>
            <a:cxnLst/>
            <a:rect l="l" t="t" r="r" b="b"/>
            <a:pathLst>
              <a:path w="252729" h="264160">
                <a:moveTo>
                  <a:pt x="116670" y="0"/>
                </a:moveTo>
                <a:lnTo>
                  <a:pt x="73871" y="10468"/>
                </a:lnTo>
                <a:lnTo>
                  <a:pt x="36495" y="38068"/>
                </a:lnTo>
                <a:lnTo>
                  <a:pt x="10039" y="77091"/>
                </a:lnTo>
                <a:lnTo>
                  <a:pt x="0" y="121831"/>
                </a:lnTo>
                <a:lnTo>
                  <a:pt x="10039" y="178108"/>
                </a:lnTo>
                <a:lnTo>
                  <a:pt x="36495" y="223056"/>
                </a:lnTo>
                <a:lnTo>
                  <a:pt x="73871" y="252839"/>
                </a:lnTo>
                <a:lnTo>
                  <a:pt x="116670" y="263620"/>
                </a:lnTo>
                <a:lnTo>
                  <a:pt x="160495" y="256638"/>
                </a:lnTo>
                <a:lnTo>
                  <a:pt x="197846" y="237004"/>
                </a:lnTo>
                <a:lnTo>
                  <a:pt x="226849" y="206682"/>
                </a:lnTo>
                <a:lnTo>
                  <a:pt x="245626" y="167636"/>
                </a:lnTo>
                <a:lnTo>
                  <a:pt x="252302" y="121831"/>
                </a:lnTo>
                <a:lnTo>
                  <a:pt x="241993" y="77091"/>
                </a:lnTo>
                <a:lnTo>
                  <a:pt x="213508" y="38068"/>
                </a:lnTo>
                <a:lnTo>
                  <a:pt x="170512" y="10468"/>
                </a:lnTo>
                <a:lnTo>
                  <a:pt x="116670" y="0"/>
                </a:lnTo>
                <a:close/>
              </a:path>
            </a:pathLst>
          </a:custGeom>
          <a:solidFill>
            <a:srgbClr val="FFDC99"/>
          </a:solidFill>
        </p:spPr>
        <p:txBody>
          <a:bodyPr wrap="square" lIns="0" tIns="0" rIns="0" bIns="0" rtlCol="0"/>
          <a:lstStyle/>
          <a:p>
            <a:endParaRPr/>
          </a:p>
        </p:txBody>
      </p:sp>
      <p:sp>
        <p:nvSpPr>
          <p:cNvPr id="88" name="object 88"/>
          <p:cNvSpPr/>
          <p:nvPr/>
        </p:nvSpPr>
        <p:spPr>
          <a:xfrm>
            <a:off x="8634517" y="5149942"/>
            <a:ext cx="252729" cy="264160"/>
          </a:xfrm>
          <a:custGeom>
            <a:avLst/>
            <a:gdLst/>
            <a:ahLst/>
            <a:cxnLst/>
            <a:rect l="l" t="t" r="r" b="b"/>
            <a:pathLst>
              <a:path w="252729" h="264160">
                <a:moveTo>
                  <a:pt x="160495" y="256638"/>
                </a:moveTo>
                <a:lnTo>
                  <a:pt x="197846" y="237004"/>
                </a:lnTo>
                <a:lnTo>
                  <a:pt x="226849" y="206682"/>
                </a:lnTo>
                <a:lnTo>
                  <a:pt x="245626" y="167636"/>
                </a:lnTo>
                <a:lnTo>
                  <a:pt x="252302" y="121831"/>
                </a:lnTo>
                <a:lnTo>
                  <a:pt x="241993" y="77091"/>
                </a:lnTo>
                <a:lnTo>
                  <a:pt x="213508" y="38068"/>
                </a:lnTo>
                <a:lnTo>
                  <a:pt x="170513" y="10468"/>
                </a:lnTo>
                <a:lnTo>
                  <a:pt x="116670" y="0"/>
                </a:lnTo>
                <a:lnTo>
                  <a:pt x="73871" y="10468"/>
                </a:lnTo>
                <a:lnTo>
                  <a:pt x="36495" y="38068"/>
                </a:lnTo>
                <a:lnTo>
                  <a:pt x="10039" y="77091"/>
                </a:lnTo>
                <a:lnTo>
                  <a:pt x="0" y="121831"/>
                </a:lnTo>
                <a:lnTo>
                  <a:pt x="10039" y="178108"/>
                </a:lnTo>
                <a:lnTo>
                  <a:pt x="36495" y="223056"/>
                </a:lnTo>
                <a:lnTo>
                  <a:pt x="73871" y="252839"/>
                </a:lnTo>
                <a:lnTo>
                  <a:pt x="116670" y="263620"/>
                </a:lnTo>
                <a:lnTo>
                  <a:pt x="160495" y="256638"/>
                </a:lnTo>
              </a:path>
            </a:pathLst>
          </a:custGeom>
          <a:ln w="40011">
            <a:solidFill>
              <a:srgbClr val="FFECCC"/>
            </a:solidFill>
          </a:ln>
        </p:spPr>
        <p:txBody>
          <a:bodyPr wrap="square" lIns="0" tIns="0" rIns="0" bIns="0" rtlCol="0"/>
          <a:lstStyle/>
          <a:p>
            <a:endParaRPr/>
          </a:p>
        </p:txBody>
      </p:sp>
      <p:sp>
        <p:nvSpPr>
          <p:cNvPr id="89" name="object 89"/>
          <p:cNvSpPr/>
          <p:nvPr/>
        </p:nvSpPr>
        <p:spPr>
          <a:xfrm>
            <a:off x="5301511" y="5149942"/>
            <a:ext cx="271780" cy="264160"/>
          </a:xfrm>
          <a:custGeom>
            <a:avLst/>
            <a:gdLst/>
            <a:ahLst/>
            <a:cxnLst/>
            <a:rect l="l" t="t" r="r" b="b"/>
            <a:pathLst>
              <a:path w="271779" h="264160">
                <a:moveTo>
                  <a:pt x="135651" y="0"/>
                </a:moveTo>
                <a:lnTo>
                  <a:pt x="81813" y="10468"/>
                </a:lnTo>
                <a:lnTo>
                  <a:pt x="38810" y="38068"/>
                </a:lnTo>
                <a:lnTo>
                  <a:pt x="10314" y="77091"/>
                </a:lnTo>
                <a:lnTo>
                  <a:pt x="0" y="121831"/>
                </a:lnTo>
                <a:lnTo>
                  <a:pt x="6679" y="167636"/>
                </a:lnTo>
                <a:lnTo>
                  <a:pt x="25465" y="206682"/>
                </a:lnTo>
                <a:lnTo>
                  <a:pt x="54476" y="237004"/>
                </a:lnTo>
                <a:lnTo>
                  <a:pt x="91832" y="256638"/>
                </a:lnTo>
                <a:lnTo>
                  <a:pt x="135651" y="263620"/>
                </a:lnTo>
                <a:lnTo>
                  <a:pt x="179478" y="256638"/>
                </a:lnTo>
                <a:lnTo>
                  <a:pt x="216834" y="237004"/>
                </a:lnTo>
                <a:lnTo>
                  <a:pt x="245842" y="206682"/>
                </a:lnTo>
                <a:lnTo>
                  <a:pt x="264624" y="167636"/>
                </a:lnTo>
                <a:lnTo>
                  <a:pt x="271302" y="121831"/>
                </a:lnTo>
                <a:lnTo>
                  <a:pt x="260990" y="77091"/>
                </a:lnTo>
                <a:lnTo>
                  <a:pt x="232499" y="38068"/>
                </a:lnTo>
                <a:lnTo>
                  <a:pt x="189496" y="10468"/>
                </a:lnTo>
                <a:lnTo>
                  <a:pt x="135651" y="0"/>
                </a:lnTo>
                <a:close/>
              </a:path>
            </a:pathLst>
          </a:custGeom>
          <a:solidFill>
            <a:srgbClr val="FFDC99"/>
          </a:solidFill>
        </p:spPr>
        <p:txBody>
          <a:bodyPr wrap="square" lIns="0" tIns="0" rIns="0" bIns="0" rtlCol="0"/>
          <a:lstStyle/>
          <a:p>
            <a:endParaRPr/>
          </a:p>
        </p:txBody>
      </p:sp>
      <p:sp>
        <p:nvSpPr>
          <p:cNvPr id="90" name="object 90"/>
          <p:cNvSpPr/>
          <p:nvPr/>
        </p:nvSpPr>
        <p:spPr>
          <a:xfrm>
            <a:off x="5301511" y="5149942"/>
            <a:ext cx="271780" cy="264160"/>
          </a:xfrm>
          <a:custGeom>
            <a:avLst/>
            <a:gdLst/>
            <a:ahLst/>
            <a:cxnLst/>
            <a:rect l="l" t="t" r="r" b="b"/>
            <a:pathLst>
              <a:path w="271779" h="264160">
                <a:moveTo>
                  <a:pt x="179477" y="256638"/>
                </a:moveTo>
                <a:lnTo>
                  <a:pt x="216834" y="237004"/>
                </a:lnTo>
                <a:lnTo>
                  <a:pt x="245842" y="206682"/>
                </a:lnTo>
                <a:lnTo>
                  <a:pt x="264624" y="167636"/>
                </a:lnTo>
                <a:lnTo>
                  <a:pt x="271302" y="121831"/>
                </a:lnTo>
                <a:lnTo>
                  <a:pt x="260990" y="77091"/>
                </a:lnTo>
                <a:lnTo>
                  <a:pt x="232499" y="38068"/>
                </a:lnTo>
                <a:lnTo>
                  <a:pt x="189496" y="10468"/>
                </a:lnTo>
                <a:lnTo>
                  <a:pt x="135651" y="0"/>
                </a:lnTo>
                <a:lnTo>
                  <a:pt x="81813" y="10468"/>
                </a:lnTo>
                <a:lnTo>
                  <a:pt x="38810" y="38068"/>
                </a:lnTo>
                <a:lnTo>
                  <a:pt x="10314" y="77091"/>
                </a:lnTo>
                <a:lnTo>
                  <a:pt x="0" y="121831"/>
                </a:lnTo>
                <a:lnTo>
                  <a:pt x="6679" y="167636"/>
                </a:lnTo>
                <a:lnTo>
                  <a:pt x="25465" y="206682"/>
                </a:lnTo>
                <a:lnTo>
                  <a:pt x="54476" y="237004"/>
                </a:lnTo>
                <a:lnTo>
                  <a:pt x="91831" y="256638"/>
                </a:lnTo>
                <a:lnTo>
                  <a:pt x="135651" y="263620"/>
                </a:lnTo>
                <a:lnTo>
                  <a:pt x="179477" y="256638"/>
                </a:lnTo>
              </a:path>
            </a:pathLst>
          </a:custGeom>
          <a:ln w="40075">
            <a:solidFill>
              <a:srgbClr val="FFECCC"/>
            </a:solidFill>
          </a:ln>
        </p:spPr>
        <p:txBody>
          <a:bodyPr wrap="square" lIns="0" tIns="0" rIns="0" bIns="0" rtlCol="0"/>
          <a:lstStyle/>
          <a:p>
            <a:endParaRPr/>
          </a:p>
        </p:txBody>
      </p:sp>
      <p:sp>
        <p:nvSpPr>
          <p:cNvPr id="91" name="object 91"/>
          <p:cNvSpPr/>
          <p:nvPr/>
        </p:nvSpPr>
        <p:spPr>
          <a:xfrm>
            <a:off x="6425438" y="5149942"/>
            <a:ext cx="252095" cy="264160"/>
          </a:xfrm>
          <a:custGeom>
            <a:avLst/>
            <a:gdLst/>
            <a:ahLst/>
            <a:cxnLst/>
            <a:rect l="l" t="t" r="r" b="b"/>
            <a:pathLst>
              <a:path w="252095" h="264160">
                <a:moveTo>
                  <a:pt x="115973" y="0"/>
                </a:moveTo>
                <a:lnTo>
                  <a:pt x="73528" y="10468"/>
                </a:lnTo>
                <a:lnTo>
                  <a:pt x="36365" y="38068"/>
                </a:lnTo>
                <a:lnTo>
                  <a:pt x="10012" y="77091"/>
                </a:lnTo>
                <a:lnTo>
                  <a:pt x="0" y="121831"/>
                </a:lnTo>
                <a:lnTo>
                  <a:pt x="10012" y="178108"/>
                </a:lnTo>
                <a:lnTo>
                  <a:pt x="36365" y="223056"/>
                </a:lnTo>
                <a:lnTo>
                  <a:pt x="73528" y="252839"/>
                </a:lnTo>
                <a:lnTo>
                  <a:pt x="115974" y="263620"/>
                </a:lnTo>
                <a:lnTo>
                  <a:pt x="160041" y="256638"/>
                </a:lnTo>
                <a:lnTo>
                  <a:pt x="197469" y="237004"/>
                </a:lnTo>
                <a:lnTo>
                  <a:pt x="226445" y="206682"/>
                </a:lnTo>
                <a:lnTo>
                  <a:pt x="245158" y="167636"/>
                </a:lnTo>
                <a:lnTo>
                  <a:pt x="251799" y="121831"/>
                </a:lnTo>
                <a:lnTo>
                  <a:pt x="241541" y="77091"/>
                </a:lnTo>
                <a:lnTo>
                  <a:pt x="213126" y="38068"/>
                </a:lnTo>
                <a:lnTo>
                  <a:pt x="170091" y="10468"/>
                </a:lnTo>
                <a:lnTo>
                  <a:pt x="115973" y="0"/>
                </a:lnTo>
                <a:close/>
              </a:path>
            </a:pathLst>
          </a:custGeom>
          <a:solidFill>
            <a:srgbClr val="FFDC99"/>
          </a:solidFill>
        </p:spPr>
        <p:txBody>
          <a:bodyPr wrap="square" lIns="0" tIns="0" rIns="0" bIns="0" rtlCol="0"/>
          <a:lstStyle/>
          <a:p>
            <a:endParaRPr/>
          </a:p>
        </p:txBody>
      </p:sp>
      <p:sp>
        <p:nvSpPr>
          <p:cNvPr id="92" name="object 92"/>
          <p:cNvSpPr/>
          <p:nvPr/>
        </p:nvSpPr>
        <p:spPr>
          <a:xfrm>
            <a:off x="6425438" y="5149942"/>
            <a:ext cx="252095" cy="264160"/>
          </a:xfrm>
          <a:custGeom>
            <a:avLst/>
            <a:gdLst/>
            <a:ahLst/>
            <a:cxnLst/>
            <a:rect l="l" t="t" r="r" b="b"/>
            <a:pathLst>
              <a:path w="252095" h="264160">
                <a:moveTo>
                  <a:pt x="160041" y="256638"/>
                </a:moveTo>
                <a:lnTo>
                  <a:pt x="197469" y="237004"/>
                </a:lnTo>
                <a:lnTo>
                  <a:pt x="226445" y="206682"/>
                </a:lnTo>
                <a:lnTo>
                  <a:pt x="245158" y="167636"/>
                </a:lnTo>
                <a:lnTo>
                  <a:pt x="251799" y="121831"/>
                </a:lnTo>
                <a:lnTo>
                  <a:pt x="241541" y="77091"/>
                </a:lnTo>
                <a:lnTo>
                  <a:pt x="213126" y="38068"/>
                </a:lnTo>
                <a:lnTo>
                  <a:pt x="170091" y="10468"/>
                </a:lnTo>
                <a:lnTo>
                  <a:pt x="115973" y="0"/>
                </a:lnTo>
                <a:lnTo>
                  <a:pt x="73528" y="10468"/>
                </a:lnTo>
                <a:lnTo>
                  <a:pt x="36365" y="38068"/>
                </a:lnTo>
                <a:lnTo>
                  <a:pt x="10012" y="77091"/>
                </a:lnTo>
                <a:lnTo>
                  <a:pt x="0" y="121831"/>
                </a:lnTo>
                <a:lnTo>
                  <a:pt x="10012" y="178108"/>
                </a:lnTo>
                <a:lnTo>
                  <a:pt x="36365" y="223056"/>
                </a:lnTo>
                <a:lnTo>
                  <a:pt x="73528" y="252839"/>
                </a:lnTo>
                <a:lnTo>
                  <a:pt x="115974" y="263620"/>
                </a:lnTo>
                <a:lnTo>
                  <a:pt x="160041" y="256638"/>
                </a:lnTo>
              </a:path>
            </a:pathLst>
          </a:custGeom>
          <a:ln w="40009">
            <a:solidFill>
              <a:srgbClr val="FFECCC"/>
            </a:solidFill>
          </a:ln>
        </p:spPr>
        <p:txBody>
          <a:bodyPr wrap="square" lIns="0" tIns="0" rIns="0" bIns="0" rtlCol="0"/>
          <a:lstStyle/>
          <a:p>
            <a:endParaRPr/>
          </a:p>
        </p:txBody>
      </p:sp>
      <p:sp>
        <p:nvSpPr>
          <p:cNvPr id="93" name="object 93"/>
          <p:cNvSpPr/>
          <p:nvPr/>
        </p:nvSpPr>
        <p:spPr>
          <a:xfrm>
            <a:off x="7530307" y="5149942"/>
            <a:ext cx="252095" cy="264160"/>
          </a:xfrm>
          <a:custGeom>
            <a:avLst/>
            <a:gdLst/>
            <a:ahLst/>
            <a:cxnLst/>
            <a:rect l="l" t="t" r="r" b="b"/>
            <a:pathLst>
              <a:path w="252095" h="264160">
                <a:moveTo>
                  <a:pt x="116089" y="0"/>
                </a:moveTo>
                <a:lnTo>
                  <a:pt x="73299" y="10468"/>
                </a:lnTo>
                <a:lnTo>
                  <a:pt x="36132" y="38068"/>
                </a:lnTo>
                <a:lnTo>
                  <a:pt x="9922" y="77091"/>
                </a:lnTo>
                <a:lnTo>
                  <a:pt x="0" y="121831"/>
                </a:lnTo>
                <a:lnTo>
                  <a:pt x="9922" y="178108"/>
                </a:lnTo>
                <a:lnTo>
                  <a:pt x="36133" y="223056"/>
                </a:lnTo>
                <a:lnTo>
                  <a:pt x="73300" y="252839"/>
                </a:lnTo>
                <a:lnTo>
                  <a:pt x="116090" y="263620"/>
                </a:lnTo>
                <a:lnTo>
                  <a:pt x="159914" y="256638"/>
                </a:lnTo>
                <a:lnTo>
                  <a:pt x="197266" y="237004"/>
                </a:lnTo>
                <a:lnTo>
                  <a:pt x="226268" y="206682"/>
                </a:lnTo>
                <a:lnTo>
                  <a:pt x="245045" y="167636"/>
                </a:lnTo>
                <a:lnTo>
                  <a:pt x="251721" y="121831"/>
                </a:lnTo>
                <a:lnTo>
                  <a:pt x="241412" y="77091"/>
                </a:lnTo>
                <a:lnTo>
                  <a:pt x="212928" y="38068"/>
                </a:lnTo>
                <a:lnTo>
                  <a:pt x="169932" y="10468"/>
                </a:lnTo>
                <a:lnTo>
                  <a:pt x="116089" y="0"/>
                </a:lnTo>
                <a:close/>
              </a:path>
            </a:pathLst>
          </a:custGeom>
          <a:solidFill>
            <a:srgbClr val="FFDC99"/>
          </a:solidFill>
        </p:spPr>
        <p:txBody>
          <a:bodyPr wrap="square" lIns="0" tIns="0" rIns="0" bIns="0" rtlCol="0"/>
          <a:lstStyle/>
          <a:p>
            <a:endParaRPr/>
          </a:p>
        </p:txBody>
      </p:sp>
      <p:sp>
        <p:nvSpPr>
          <p:cNvPr id="94" name="object 94"/>
          <p:cNvSpPr/>
          <p:nvPr/>
        </p:nvSpPr>
        <p:spPr>
          <a:xfrm>
            <a:off x="7530307" y="5149942"/>
            <a:ext cx="252095" cy="264160"/>
          </a:xfrm>
          <a:custGeom>
            <a:avLst/>
            <a:gdLst/>
            <a:ahLst/>
            <a:cxnLst/>
            <a:rect l="l" t="t" r="r" b="b"/>
            <a:pathLst>
              <a:path w="252095" h="264160">
                <a:moveTo>
                  <a:pt x="159914" y="256638"/>
                </a:moveTo>
                <a:lnTo>
                  <a:pt x="197266" y="237004"/>
                </a:lnTo>
                <a:lnTo>
                  <a:pt x="226268" y="206682"/>
                </a:lnTo>
                <a:lnTo>
                  <a:pt x="245045" y="167636"/>
                </a:lnTo>
                <a:lnTo>
                  <a:pt x="251721" y="121831"/>
                </a:lnTo>
                <a:lnTo>
                  <a:pt x="241412" y="77091"/>
                </a:lnTo>
                <a:lnTo>
                  <a:pt x="212928" y="38068"/>
                </a:lnTo>
                <a:lnTo>
                  <a:pt x="169932" y="10468"/>
                </a:lnTo>
                <a:lnTo>
                  <a:pt x="116089" y="0"/>
                </a:lnTo>
                <a:lnTo>
                  <a:pt x="73300" y="10468"/>
                </a:lnTo>
                <a:lnTo>
                  <a:pt x="36133" y="38068"/>
                </a:lnTo>
                <a:lnTo>
                  <a:pt x="9922" y="77091"/>
                </a:lnTo>
                <a:lnTo>
                  <a:pt x="0" y="121831"/>
                </a:lnTo>
                <a:lnTo>
                  <a:pt x="9922" y="178108"/>
                </a:lnTo>
                <a:lnTo>
                  <a:pt x="36133" y="223056"/>
                </a:lnTo>
                <a:lnTo>
                  <a:pt x="73300" y="252839"/>
                </a:lnTo>
                <a:lnTo>
                  <a:pt x="116090" y="263620"/>
                </a:lnTo>
                <a:lnTo>
                  <a:pt x="159914" y="256638"/>
                </a:lnTo>
              </a:path>
            </a:pathLst>
          </a:custGeom>
          <a:ln w="40009">
            <a:solidFill>
              <a:srgbClr val="FFECCC"/>
            </a:solidFill>
          </a:ln>
        </p:spPr>
        <p:txBody>
          <a:bodyPr wrap="square" lIns="0" tIns="0" rIns="0" bIns="0" rtlCol="0"/>
          <a:lstStyle/>
          <a:p>
            <a:endParaRPr/>
          </a:p>
        </p:txBody>
      </p:sp>
      <p:sp>
        <p:nvSpPr>
          <p:cNvPr id="95" name="object 95"/>
          <p:cNvSpPr/>
          <p:nvPr/>
        </p:nvSpPr>
        <p:spPr>
          <a:xfrm>
            <a:off x="8595821" y="5129478"/>
            <a:ext cx="368935" cy="304165"/>
          </a:xfrm>
          <a:custGeom>
            <a:avLst/>
            <a:gdLst/>
            <a:ahLst/>
            <a:cxnLst/>
            <a:rect l="l" t="t" r="r" b="b"/>
            <a:pathLst>
              <a:path w="368934" h="304164">
                <a:moveTo>
                  <a:pt x="0" y="304062"/>
                </a:moveTo>
                <a:lnTo>
                  <a:pt x="368392" y="0"/>
                </a:lnTo>
              </a:path>
            </a:pathLst>
          </a:custGeom>
          <a:ln w="20109">
            <a:solidFill>
              <a:srgbClr val="000000"/>
            </a:solidFill>
          </a:ln>
        </p:spPr>
        <p:txBody>
          <a:bodyPr wrap="square" lIns="0" tIns="0" rIns="0" bIns="0" rtlCol="0"/>
          <a:lstStyle/>
          <a:p>
            <a:endParaRPr/>
          </a:p>
        </p:txBody>
      </p:sp>
      <p:sp>
        <p:nvSpPr>
          <p:cNvPr id="96" name="object 96"/>
          <p:cNvSpPr/>
          <p:nvPr/>
        </p:nvSpPr>
        <p:spPr>
          <a:xfrm>
            <a:off x="8595821" y="5129478"/>
            <a:ext cx="368935" cy="304165"/>
          </a:xfrm>
          <a:custGeom>
            <a:avLst/>
            <a:gdLst/>
            <a:ahLst/>
            <a:cxnLst/>
            <a:rect l="l" t="t" r="r" b="b"/>
            <a:pathLst>
              <a:path w="368934" h="304164">
                <a:moveTo>
                  <a:pt x="0" y="0"/>
                </a:moveTo>
                <a:lnTo>
                  <a:pt x="368392" y="304062"/>
                </a:lnTo>
              </a:path>
            </a:pathLst>
          </a:custGeom>
          <a:ln w="20109">
            <a:solidFill>
              <a:srgbClr val="000000"/>
            </a:solidFill>
          </a:ln>
        </p:spPr>
        <p:txBody>
          <a:bodyPr wrap="square" lIns="0" tIns="0" rIns="0" bIns="0" rtlCol="0"/>
          <a:lstStyle/>
          <a:p>
            <a:endParaRPr/>
          </a:p>
        </p:txBody>
      </p:sp>
      <p:sp>
        <p:nvSpPr>
          <p:cNvPr id="97" name="object 97"/>
          <p:cNvSpPr/>
          <p:nvPr/>
        </p:nvSpPr>
        <p:spPr>
          <a:xfrm>
            <a:off x="7472067" y="3893757"/>
            <a:ext cx="368300" cy="324485"/>
          </a:xfrm>
          <a:custGeom>
            <a:avLst/>
            <a:gdLst/>
            <a:ahLst/>
            <a:cxnLst/>
            <a:rect l="l" t="t" r="r" b="b"/>
            <a:pathLst>
              <a:path w="368300" h="324485">
                <a:moveTo>
                  <a:pt x="0" y="324040"/>
                </a:moveTo>
                <a:lnTo>
                  <a:pt x="368199" y="0"/>
                </a:lnTo>
              </a:path>
            </a:pathLst>
          </a:custGeom>
          <a:ln w="20082">
            <a:solidFill>
              <a:srgbClr val="000000"/>
            </a:solidFill>
          </a:ln>
        </p:spPr>
        <p:txBody>
          <a:bodyPr wrap="square" lIns="0" tIns="0" rIns="0" bIns="0" rtlCol="0"/>
          <a:lstStyle/>
          <a:p>
            <a:endParaRPr/>
          </a:p>
        </p:txBody>
      </p:sp>
      <p:sp>
        <p:nvSpPr>
          <p:cNvPr id="98" name="object 98"/>
          <p:cNvSpPr/>
          <p:nvPr/>
        </p:nvSpPr>
        <p:spPr>
          <a:xfrm>
            <a:off x="7472067" y="3893757"/>
            <a:ext cx="368300" cy="324485"/>
          </a:xfrm>
          <a:custGeom>
            <a:avLst/>
            <a:gdLst/>
            <a:ahLst/>
            <a:cxnLst/>
            <a:rect l="l" t="t" r="r" b="b"/>
            <a:pathLst>
              <a:path w="368300" h="324485">
                <a:moveTo>
                  <a:pt x="0" y="0"/>
                </a:moveTo>
                <a:lnTo>
                  <a:pt x="368199" y="324040"/>
                </a:lnTo>
              </a:path>
            </a:pathLst>
          </a:custGeom>
          <a:ln w="20082">
            <a:solidFill>
              <a:srgbClr val="000000"/>
            </a:solidFill>
          </a:ln>
        </p:spPr>
        <p:txBody>
          <a:bodyPr wrap="square" lIns="0" tIns="0" rIns="0" bIns="0" rtlCol="0"/>
          <a:lstStyle/>
          <a:p>
            <a:endParaRPr/>
          </a:p>
        </p:txBody>
      </p:sp>
      <p:sp>
        <p:nvSpPr>
          <p:cNvPr id="99" name="object 99"/>
          <p:cNvSpPr/>
          <p:nvPr/>
        </p:nvSpPr>
        <p:spPr>
          <a:xfrm>
            <a:off x="7491029" y="5129478"/>
            <a:ext cx="368935" cy="304165"/>
          </a:xfrm>
          <a:custGeom>
            <a:avLst/>
            <a:gdLst/>
            <a:ahLst/>
            <a:cxnLst/>
            <a:rect l="l" t="t" r="r" b="b"/>
            <a:pathLst>
              <a:path w="368934" h="304164">
                <a:moveTo>
                  <a:pt x="0" y="304062"/>
                </a:moveTo>
                <a:lnTo>
                  <a:pt x="368392" y="0"/>
                </a:lnTo>
              </a:path>
            </a:pathLst>
          </a:custGeom>
          <a:ln w="20109">
            <a:solidFill>
              <a:srgbClr val="000000"/>
            </a:solidFill>
          </a:ln>
        </p:spPr>
        <p:txBody>
          <a:bodyPr wrap="square" lIns="0" tIns="0" rIns="0" bIns="0" rtlCol="0"/>
          <a:lstStyle/>
          <a:p>
            <a:endParaRPr/>
          </a:p>
        </p:txBody>
      </p:sp>
      <p:sp>
        <p:nvSpPr>
          <p:cNvPr id="100" name="object 100"/>
          <p:cNvSpPr/>
          <p:nvPr/>
        </p:nvSpPr>
        <p:spPr>
          <a:xfrm>
            <a:off x="7491029" y="5129478"/>
            <a:ext cx="368935" cy="304165"/>
          </a:xfrm>
          <a:custGeom>
            <a:avLst/>
            <a:gdLst/>
            <a:ahLst/>
            <a:cxnLst/>
            <a:rect l="l" t="t" r="r" b="b"/>
            <a:pathLst>
              <a:path w="368934" h="304164">
                <a:moveTo>
                  <a:pt x="0" y="0"/>
                </a:moveTo>
                <a:lnTo>
                  <a:pt x="368392" y="304062"/>
                </a:lnTo>
              </a:path>
            </a:pathLst>
          </a:custGeom>
          <a:ln w="20109">
            <a:solidFill>
              <a:srgbClr val="000000"/>
            </a:solidFill>
          </a:ln>
        </p:spPr>
        <p:txBody>
          <a:bodyPr wrap="square" lIns="0" tIns="0" rIns="0" bIns="0" rtlCol="0"/>
          <a:lstStyle/>
          <a:p>
            <a:endParaRPr/>
          </a:p>
        </p:txBody>
      </p:sp>
      <p:sp>
        <p:nvSpPr>
          <p:cNvPr id="101" name="object 101"/>
          <p:cNvSpPr/>
          <p:nvPr/>
        </p:nvSpPr>
        <p:spPr>
          <a:xfrm>
            <a:off x="7045436" y="2617574"/>
            <a:ext cx="465455" cy="121920"/>
          </a:xfrm>
          <a:custGeom>
            <a:avLst/>
            <a:gdLst/>
            <a:ahLst/>
            <a:cxnLst/>
            <a:rect l="l" t="t" r="r" b="b"/>
            <a:pathLst>
              <a:path w="465454" h="121919">
                <a:moveTo>
                  <a:pt x="465134" y="121325"/>
                </a:moveTo>
                <a:lnTo>
                  <a:pt x="445053" y="81217"/>
                </a:lnTo>
                <a:lnTo>
                  <a:pt x="388992" y="49131"/>
                </a:lnTo>
                <a:lnTo>
                  <a:pt x="349429" y="36096"/>
                </a:lnTo>
                <a:lnTo>
                  <a:pt x="303224" y="25067"/>
                </a:lnTo>
                <a:lnTo>
                  <a:pt x="251160" y="16043"/>
                </a:lnTo>
                <a:lnTo>
                  <a:pt x="194021" y="9024"/>
                </a:lnTo>
                <a:lnTo>
                  <a:pt x="132592" y="4010"/>
                </a:lnTo>
                <a:lnTo>
                  <a:pt x="67657" y="1002"/>
                </a:lnTo>
                <a:lnTo>
                  <a:pt x="0" y="0"/>
                </a:lnTo>
              </a:path>
            </a:pathLst>
          </a:custGeom>
          <a:ln w="20411">
            <a:solidFill>
              <a:srgbClr val="000000"/>
            </a:solidFill>
          </a:ln>
        </p:spPr>
        <p:txBody>
          <a:bodyPr wrap="square" lIns="0" tIns="0" rIns="0" bIns="0" rtlCol="0"/>
          <a:lstStyle/>
          <a:p>
            <a:endParaRPr/>
          </a:p>
        </p:txBody>
      </p:sp>
      <p:sp>
        <p:nvSpPr>
          <p:cNvPr id="102" name="object 102"/>
          <p:cNvSpPr/>
          <p:nvPr/>
        </p:nvSpPr>
        <p:spPr>
          <a:xfrm>
            <a:off x="6619385" y="2617574"/>
            <a:ext cx="464820" cy="101600"/>
          </a:xfrm>
          <a:custGeom>
            <a:avLst/>
            <a:gdLst/>
            <a:ahLst/>
            <a:cxnLst/>
            <a:rect l="l" t="t" r="r" b="b"/>
            <a:pathLst>
              <a:path w="464820" h="101600">
                <a:moveTo>
                  <a:pt x="464747" y="0"/>
                </a:moveTo>
                <a:lnTo>
                  <a:pt x="385817" y="1193"/>
                </a:lnTo>
                <a:lnTo>
                  <a:pt x="312248" y="4692"/>
                </a:lnTo>
                <a:lnTo>
                  <a:pt x="244734" y="10378"/>
                </a:lnTo>
                <a:lnTo>
                  <a:pt x="183970" y="18130"/>
                </a:lnTo>
                <a:lnTo>
                  <a:pt x="130649" y="27829"/>
                </a:lnTo>
                <a:lnTo>
                  <a:pt x="85467" y="39353"/>
                </a:lnTo>
                <a:lnTo>
                  <a:pt x="49116" y="52583"/>
                </a:lnTo>
                <a:lnTo>
                  <a:pt x="5688" y="83680"/>
                </a:lnTo>
                <a:lnTo>
                  <a:pt x="0" y="101306"/>
                </a:lnTo>
              </a:path>
            </a:pathLst>
          </a:custGeom>
          <a:ln w="20427">
            <a:solidFill>
              <a:srgbClr val="000000"/>
            </a:solidFill>
          </a:ln>
        </p:spPr>
        <p:txBody>
          <a:bodyPr wrap="square" lIns="0" tIns="0" rIns="0" bIns="0" rtlCol="0"/>
          <a:lstStyle/>
          <a:p>
            <a:endParaRPr/>
          </a:p>
        </p:txBody>
      </p:sp>
      <p:sp>
        <p:nvSpPr>
          <p:cNvPr id="103" name="object 103"/>
          <p:cNvSpPr/>
          <p:nvPr/>
        </p:nvSpPr>
        <p:spPr>
          <a:xfrm>
            <a:off x="7530306" y="2698458"/>
            <a:ext cx="0" cy="40640"/>
          </a:xfrm>
          <a:custGeom>
            <a:avLst/>
            <a:gdLst/>
            <a:ahLst/>
            <a:cxnLst/>
            <a:rect l="l" t="t" r="r" b="b"/>
            <a:pathLst>
              <a:path h="40639">
                <a:moveTo>
                  <a:pt x="-19583" y="20220"/>
                </a:moveTo>
                <a:lnTo>
                  <a:pt x="19583" y="20220"/>
                </a:lnTo>
              </a:path>
            </a:pathLst>
          </a:custGeom>
          <a:ln w="40441">
            <a:solidFill>
              <a:srgbClr val="000000"/>
            </a:solidFill>
          </a:ln>
        </p:spPr>
        <p:txBody>
          <a:bodyPr wrap="square" lIns="0" tIns="0" rIns="0" bIns="0" rtlCol="0"/>
          <a:lstStyle/>
          <a:p>
            <a:endParaRPr/>
          </a:p>
        </p:txBody>
      </p:sp>
      <p:sp>
        <p:nvSpPr>
          <p:cNvPr id="104" name="object 104"/>
          <p:cNvSpPr/>
          <p:nvPr/>
        </p:nvSpPr>
        <p:spPr>
          <a:xfrm>
            <a:off x="7491029" y="2698457"/>
            <a:ext cx="39370" cy="40640"/>
          </a:xfrm>
          <a:custGeom>
            <a:avLst/>
            <a:gdLst/>
            <a:ahLst/>
            <a:cxnLst/>
            <a:rect l="l" t="t" r="r" b="b"/>
            <a:pathLst>
              <a:path w="39370" h="40639">
                <a:moveTo>
                  <a:pt x="39277" y="0"/>
                </a:moveTo>
                <a:lnTo>
                  <a:pt x="19541" y="20423"/>
                </a:lnTo>
                <a:lnTo>
                  <a:pt x="0" y="40441"/>
                </a:lnTo>
                <a:lnTo>
                  <a:pt x="39277" y="40441"/>
                </a:lnTo>
                <a:lnTo>
                  <a:pt x="39277" y="0"/>
                </a:lnTo>
                <a:close/>
              </a:path>
            </a:pathLst>
          </a:custGeom>
          <a:solidFill>
            <a:srgbClr val="000000"/>
          </a:solidFill>
        </p:spPr>
        <p:txBody>
          <a:bodyPr wrap="square" lIns="0" tIns="0" rIns="0" bIns="0" rtlCol="0"/>
          <a:lstStyle/>
          <a:p>
            <a:endParaRPr/>
          </a:p>
        </p:txBody>
      </p:sp>
      <p:sp>
        <p:nvSpPr>
          <p:cNvPr id="105" name="object 105"/>
          <p:cNvSpPr/>
          <p:nvPr/>
        </p:nvSpPr>
        <p:spPr>
          <a:xfrm>
            <a:off x="7491029" y="2698458"/>
            <a:ext cx="19685" cy="20955"/>
          </a:xfrm>
          <a:custGeom>
            <a:avLst/>
            <a:gdLst/>
            <a:ahLst/>
            <a:cxnLst/>
            <a:rect l="l" t="t" r="r" b="b"/>
            <a:pathLst>
              <a:path w="19684" h="20955">
                <a:moveTo>
                  <a:pt x="0" y="0"/>
                </a:moveTo>
                <a:lnTo>
                  <a:pt x="19541" y="20423"/>
                </a:lnTo>
              </a:path>
            </a:pathLst>
          </a:custGeom>
          <a:ln w="20006">
            <a:solidFill>
              <a:srgbClr val="000000"/>
            </a:solidFill>
          </a:ln>
        </p:spPr>
        <p:txBody>
          <a:bodyPr wrap="square" lIns="0" tIns="0" rIns="0" bIns="0" rtlCol="0"/>
          <a:lstStyle/>
          <a:p>
            <a:endParaRPr/>
          </a:p>
        </p:txBody>
      </p:sp>
      <p:sp>
        <p:nvSpPr>
          <p:cNvPr id="106" name="object 106"/>
          <p:cNvSpPr/>
          <p:nvPr/>
        </p:nvSpPr>
        <p:spPr>
          <a:xfrm>
            <a:off x="7587964" y="2516267"/>
            <a:ext cx="1047115" cy="222885"/>
          </a:xfrm>
          <a:custGeom>
            <a:avLst/>
            <a:gdLst/>
            <a:ahLst/>
            <a:cxnLst/>
            <a:rect l="l" t="t" r="r" b="b"/>
            <a:pathLst>
              <a:path w="1047115" h="222885">
                <a:moveTo>
                  <a:pt x="1046552" y="222632"/>
                </a:moveTo>
                <a:lnTo>
                  <a:pt x="1025431" y="172368"/>
                </a:lnTo>
                <a:lnTo>
                  <a:pt x="989142" y="142145"/>
                </a:lnTo>
                <a:lnTo>
                  <a:pt x="936502" y="114632"/>
                </a:lnTo>
                <a:lnTo>
                  <a:pt x="868720" y="89898"/>
                </a:lnTo>
                <a:lnTo>
                  <a:pt x="829530" y="78595"/>
                </a:lnTo>
                <a:lnTo>
                  <a:pt x="787009" y="68013"/>
                </a:lnTo>
                <a:lnTo>
                  <a:pt x="741308" y="58160"/>
                </a:lnTo>
                <a:lnTo>
                  <a:pt x="692579" y="49046"/>
                </a:lnTo>
                <a:lnTo>
                  <a:pt x="640973" y="40678"/>
                </a:lnTo>
                <a:lnTo>
                  <a:pt x="586641" y="33067"/>
                </a:lnTo>
                <a:lnTo>
                  <a:pt x="529736" y="26219"/>
                </a:lnTo>
                <a:lnTo>
                  <a:pt x="470408" y="20145"/>
                </a:lnTo>
                <a:lnTo>
                  <a:pt x="408809" y="14852"/>
                </a:lnTo>
                <a:lnTo>
                  <a:pt x="345090" y="10350"/>
                </a:lnTo>
                <a:lnTo>
                  <a:pt x="279403" y="6647"/>
                </a:lnTo>
                <a:lnTo>
                  <a:pt x="211899" y="3752"/>
                </a:lnTo>
                <a:lnTo>
                  <a:pt x="142730" y="1673"/>
                </a:lnTo>
                <a:lnTo>
                  <a:pt x="72046" y="419"/>
                </a:lnTo>
                <a:lnTo>
                  <a:pt x="0" y="0"/>
                </a:lnTo>
              </a:path>
            </a:pathLst>
          </a:custGeom>
          <a:ln w="20429">
            <a:solidFill>
              <a:srgbClr val="000000"/>
            </a:solidFill>
          </a:ln>
        </p:spPr>
        <p:txBody>
          <a:bodyPr wrap="square" lIns="0" tIns="0" rIns="0" bIns="0" rtlCol="0"/>
          <a:lstStyle/>
          <a:p>
            <a:endParaRPr/>
          </a:p>
        </p:txBody>
      </p:sp>
      <p:sp>
        <p:nvSpPr>
          <p:cNvPr id="107" name="object 107"/>
          <p:cNvSpPr/>
          <p:nvPr/>
        </p:nvSpPr>
        <p:spPr>
          <a:xfrm>
            <a:off x="6619385" y="2516267"/>
            <a:ext cx="1027430" cy="203200"/>
          </a:xfrm>
          <a:custGeom>
            <a:avLst/>
            <a:gdLst/>
            <a:ahLst/>
            <a:cxnLst/>
            <a:rect l="l" t="t" r="r" b="b"/>
            <a:pathLst>
              <a:path w="1027429" h="203200">
                <a:moveTo>
                  <a:pt x="1027011" y="0"/>
                </a:moveTo>
                <a:lnTo>
                  <a:pt x="951969" y="455"/>
                </a:lnTo>
                <a:lnTo>
                  <a:pt x="878621" y="1808"/>
                </a:lnTo>
                <a:lnTo>
                  <a:pt x="807119" y="4039"/>
                </a:lnTo>
                <a:lnTo>
                  <a:pt x="737616" y="7128"/>
                </a:lnTo>
                <a:lnTo>
                  <a:pt x="670264" y="11056"/>
                </a:lnTo>
                <a:lnTo>
                  <a:pt x="605217" y="15802"/>
                </a:lnTo>
                <a:lnTo>
                  <a:pt x="542627" y="21347"/>
                </a:lnTo>
                <a:lnTo>
                  <a:pt x="482646" y="27671"/>
                </a:lnTo>
                <a:lnTo>
                  <a:pt x="425429" y="34755"/>
                </a:lnTo>
                <a:lnTo>
                  <a:pt x="371126" y="42579"/>
                </a:lnTo>
                <a:lnTo>
                  <a:pt x="319892" y="51122"/>
                </a:lnTo>
                <a:lnTo>
                  <a:pt x="271879" y="60366"/>
                </a:lnTo>
                <a:lnTo>
                  <a:pt x="227239" y="70290"/>
                </a:lnTo>
                <a:lnTo>
                  <a:pt x="186126" y="80875"/>
                </a:lnTo>
                <a:lnTo>
                  <a:pt x="148692" y="92101"/>
                </a:lnTo>
                <a:lnTo>
                  <a:pt x="85472" y="116396"/>
                </a:lnTo>
                <a:lnTo>
                  <a:pt x="38802" y="143019"/>
                </a:lnTo>
                <a:lnTo>
                  <a:pt x="9904" y="171810"/>
                </a:lnTo>
                <a:lnTo>
                  <a:pt x="2501" y="186970"/>
                </a:lnTo>
                <a:lnTo>
                  <a:pt x="0" y="202613"/>
                </a:lnTo>
              </a:path>
            </a:pathLst>
          </a:custGeom>
          <a:ln w="20434">
            <a:solidFill>
              <a:srgbClr val="000000"/>
            </a:solidFill>
          </a:ln>
        </p:spPr>
        <p:txBody>
          <a:bodyPr wrap="square" lIns="0" tIns="0" rIns="0" bIns="0" rtlCol="0"/>
          <a:lstStyle/>
          <a:p>
            <a:endParaRPr/>
          </a:p>
        </p:txBody>
      </p:sp>
      <p:sp>
        <p:nvSpPr>
          <p:cNvPr id="108" name="object 108"/>
          <p:cNvSpPr/>
          <p:nvPr/>
        </p:nvSpPr>
        <p:spPr>
          <a:xfrm>
            <a:off x="8605549" y="2688451"/>
            <a:ext cx="68741" cy="70486"/>
          </a:xfrm>
          <a:prstGeom prst="rect">
            <a:avLst/>
          </a:prstGeom>
          <a:blipFill>
            <a:blip r:embed="rId5" cstate="print"/>
            <a:stretch>
              <a:fillRect/>
            </a:stretch>
          </a:blipFill>
        </p:spPr>
        <p:txBody>
          <a:bodyPr wrap="square" lIns="0" tIns="0" rIns="0" bIns="0" rtlCol="0"/>
          <a:lstStyle/>
          <a:p>
            <a:endParaRPr/>
          </a:p>
        </p:txBody>
      </p:sp>
      <p:sp>
        <p:nvSpPr>
          <p:cNvPr id="109" name="object 109"/>
          <p:cNvSpPr txBox="1"/>
          <p:nvPr/>
        </p:nvSpPr>
        <p:spPr>
          <a:xfrm>
            <a:off x="7924502" y="2645294"/>
            <a:ext cx="548005" cy="195580"/>
          </a:xfrm>
          <a:prstGeom prst="rect">
            <a:avLst/>
          </a:prstGeom>
        </p:spPr>
        <p:txBody>
          <a:bodyPr vert="horz" wrap="square" lIns="0" tIns="14604" rIns="0" bIns="0" rtlCol="0">
            <a:spAutoFit/>
          </a:bodyPr>
          <a:lstStyle/>
          <a:p>
            <a:pPr marL="12700">
              <a:lnSpc>
                <a:spcPct val="100000"/>
              </a:lnSpc>
              <a:spcBef>
                <a:spcPts val="114"/>
              </a:spcBef>
            </a:pPr>
            <a:r>
              <a:rPr sz="1100" spc="10" dirty="0">
                <a:latin typeface="Arial"/>
                <a:cs typeface="Arial"/>
              </a:rPr>
              <a:t>ele</a:t>
            </a:r>
            <a:r>
              <a:rPr sz="1100" spc="-245" dirty="0">
                <a:latin typeface="Arial"/>
                <a:cs typeface="Arial"/>
              </a:rPr>
              <a:t> </a:t>
            </a:r>
            <a:r>
              <a:rPr sz="1100" spc="-35" dirty="0">
                <a:latin typeface="Arial"/>
                <a:cs typeface="Arial"/>
              </a:rPr>
              <a:t>cti </a:t>
            </a:r>
            <a:r>
              <a:rPr sz="1100" spc="-15" dirty="0">
                <a:latin typeface="Arial"/>
                <a:cs typeface="Arial"/>
              </a:rPr>
              <a:t>on</a:t>
            </a:r>
            <a:endParaRPr sz="1100">
              <a:latin typeface="Arial"/>
              <a:cs typeface="Arial"/>
            </a:endParaRPr>
          </a:p>
        </p:txBody>
      </p:sp>
      <p:sp>
        <p:nvSpPr>
          <p:cNvPr id="110" name="object 110"/>
          <p:cNvSpPr/>
          <p:nvPr/>
        </p:nvSpPr>
        <p:spPr>
          <a:xfrm>
            <a:off x="8091989" y="2617574"/>
            <a:ext cx="445770" cy="121920"/>
          </a:xfrm>
          <a:custGeom>
            <a:avLst/>
            <a:gdLst/>
            <a:ahLst/>
            <a:cxnLst/>
            <a:rect l="l" t="t" r="r" b="b"/>
            <a:pathLst>
              <a:path w="445770" h="121919">
                <a:moveTo>
                  <a:pt x="445592" y="121325"/>
                </a:moveTo>
                <a:lnTo>
                  <a:pt x="421577" y="77648"/>
                </a:lnTo>
                <a:lnTo>
                  <a:pt x="355723" y="43677"/>
                </a:lnTo>
                <a:lnTo>
                  <a:pt x="310009" y="30331"/>
                </a:lnTo>
                <a:lnTo>
                  <a:pt x="257317" y="19412"/>
                </a:lnTo>
                <a:lnTo>
                  <a:pt x="198810" y="10919"/>
                </a:lnTo>
                <a:lnTo>
                  <a:pt x="135647" y="4853"/>
                </a:lnTo>
                <a:lnTo>
                  <a:pt x="68990" y="1213"/>
                </a:lnTo>
                <a:lnTo>
                  <a:pt x="0" y="0"/>
                </a:lnTo>
              </a:path>
            </a:pathLst>
          </a:custGeom>
          <a:ln w="20406">
            <a:solidFill>
              <a:srgbClr val="000000"/>
            </a:solidFill>
          </a:ln>
        </p:spPr>
        <p:txBody>
          <a:bodyPr wrap="square" lIns="0" tIns="0" rIns="0" bIns="0" rtlCol="0"/>
          <a:lstStyle/>
          <a:p>
            <a:endParaRPr/>
          </a:p>
        </p:txBody>
      </p:sp>
      <p:sp>
        <p:nvSpPr>
          <p:cNvPr id="111" name="object 111"/>
          <p:cNvSpPr/>
          <p:nvPr/>
        </p:nvSpPr>
        <p:spPr>
          <a:xfrm>
            <a:off x="7685093" y="2617574"/>
            <a:ext cx="445770" cy="101600"/>
          </a:xfrm>
          <a:custGeom>
            <a:avLst/>
            <a:gdLst/>
            <a:ahLst/>
            <a:cxnLst/>
            <a:rect l="l" t="t" r="r" b="b"/>
            <a:pathLst>
              <a:path w="445770" h="101600">
                <a:moveTo>
                  <a:pt x="445592" y="0"/>
                </a:moveTo>
                <a:lnTo>
                  <a:pt x="371947" y="1193"/>
                </a:lnTo>
                <a:lnTo>
                  <a:pt x="302589" y="4692"/>
                </a:lnTo>
                <a:lnTo>
                  <a:pt x="238335" y="10378"/>
                </a:lnTo>
                <a:lnTo>
                  <a:pt x="180000" y="18130"/>
                </a:lnTo>
                <a:lnTo>
                  <a:pt x="128400" y="27829"/>
                </a:lnTo>
                <a:lnTo>
                  <a:pt x="84352" y="39353"/>
                </a:lnTo>
                <a:lnTo>
                  <a:pt x="22176" y="67398"/>
                </a:lnTo>
                <a:lnTo>
                  <a:pt x="5680" y="83680"/>
                </a:lnTo>
                <a:lnTo>
                  <a:pt x="0" y="101306"/>
                </a:lnTo>
              </a:path>
            </a:pathLst>
          </a:custGeom>
          <a:ln w="20424">
            <a:solidFill>
              <a:srgbClr val="000000"/>
            </a:solidFill>
          </a:ln>
        </p:spPr>
        <p:txBody>
          <a:bodyPr wrap="square" lIns="0" tIns="0" rIns="0" bIns="0" rtlCol="0"/>
          <a:lstStyle/>
          <a:p>
            <a:endParaRPr/>
          </a:p>
        </p:txBody>
      </p:sp>
      <p:sp>
        <p:nvSpPr>
          <p:cNvPr id="112" name="object 112"/>
          <p:cNvSpPr/>
          <p:nvPr/>
        </p:nvSpPr>
        <p:spPr>
          <a:xfrm>
            <a:off x="8557124" y="2698458"/>
            <a:ext cx="0" cy="40640"/>
          </a:xfrm>
          <a:custGeom>
            <a:avLst/>
            <a:gdLst/>
            <a:ahLst/>
            <a:cxnLst/>
            <a:rect l="l" t="t" r="r" b="b"/>
            <a:pathLst>
              <a:path h="40639">
                <a:moveTo>
                  <a:pt x="-19583" y="20220"/>
                </a:moveTo>
                <a:lnTo>
                  <a:pt x="19583" y="20220"/>
                </a:lnTo>
              </a:path>
            </a:pathLst>
          </a:custGeom>
          <a:ln w="40441">
            <a:solidFill>
              <a:srgbClr val="000000"/>
            </a:solidFill>
          </a:ln>
        </p:spPr>
        <p:txBody>
          <a:bodyPr wrap="square" lIns="0" tIns="0" rIns="0" bIns="0" rtlCol="0"/>
          <a:lstStyle/>
          <a:p>
            <a:endParaRPr/>
          </a:p>
        </p:txBody>
      </p:sp>
      <p:sp>
        <p:nvSpPr>
          <p:cNvPr id="113" name="object 113"/>
          <p:cNvSpPr/>
          <p:nvPr/>
        </p:nvSpPr>
        <p:spPr>
          <a:xfrm>
            <a:off x="8537581" y="2698457"/>
            <a:ext cx="19685" cy="40640"/>
          </a:xfrm>
          <a:custGeom>
            <a:avLst/>
            <a:gdLst/>
            <a:ahLst/>
            <a:cxnLst/>
            <a:rect l="l" t="t" r="r" b="b"/>
            <a:pathLst>
              <a:path w="19684" h="40639">
                <a:moveTo>
                  <a:pt x="19541" y="0"/>
                </a:moveTo>
                <a:lnTo>
                  <a:pt x="0" y="20423"/>
                </a:lnTo>
                <a:lnTo>
                  <a:pt x="0" y="40441"/>
                </a:lnTo>
                <a:lnTo>
                  <a:pt x="19541" y="40441"/>
                </a:lnTo>
                <a:lnTo>
                  <a:pt x="19541" y="0"/>
                </a:lnTo>
                <a:close/>
              </a:path>
            </a:pathLst>
          </a:custGeom>
          <a:solidFill>
            <a:srgbClr val="000000"/>
          </a:solidFill>
        </p:spPr>
        <p:txBody>
          <a:bodyPr wrap="square" lIns="0" tIns="0" rIns="0" bIns="0" rtlCol="0"/>
          <a:lstStyle/>
          <a:p>
            <a:endParaRPr/>
          </a:p>
        </p:txBody>
      </p:sp>
      <p:sp>
        <p:nvSpPr>
          <p:cNvPr id="114" name="object 114"/>
          <p:cNvSpPr/>
          <p:nvPr/>
        </p:nvSpPr>
        <p:spPr>
          <a:xfrm>
            <a:off x="8537581" y="2698458"/>
            <a:ext cx="0" cy="20955"/>
          </a:xfrm>
          <a:custGeom>
            <a:avLst/>
            <a:gdLst/>
            <a:ahLst/>
            <a:cxnLst/>
            <a:rect l="l" t="t" r="r" b="b"/>
            <a:pathLst>
              <a:path h="20955">
                <a:moveTo>
                  <a:pt x="-9792" y="10211"/>
                </a:moveTo>
                <a:lnTo>
                  <a:pt x="9792" y="10211"/>
                </a:lnTo>
              </a:path>
            </a:pathLst>
          </a:custGeom>
          <a:ln w="20423">
            <a:solidFill>
              <a:srgbClr val="000000"/>
            </a:solidFill>
          </a:ln>
        </p:spPr>
        <p:txBody>
          <a:bodyPr wrap="square" lIns="0" tIns="0" rIns="0" bIns="0" rtlCol="0"/>
          <a:lstStyle/>
          <a:p>
            <a:endParaRPr/>
          </a:p>
        </p:txBody>
      </p:sp>
      <p:sp>
        <p:nvSpPr>
          <p:cNvPr id="115" name="object 115"/>
          <p:cNvSpPr txBox="1"/>
          <p:nvPr/>
        </p:nvSpPr>
        <p:spPr>
          <a:xfrm>
            <a:off x="6839253" y="2969435"/>
            <a:ext cx="478790" cy="195580"/>
          </a:xfrm>
          <a:prstGeom prst="rect">
            <a:avLst/>
          </a:prstGeom>
        </p:spPr>
        <p:txBody>
          <a:bodyPr vert="horz" wrap="square" lIns="0" tIns="14604" rIns="0" bIns="0" rtlCol="0">
            <a:spAutoFit/>
          </a:bodyPr>
          <a:lstStyle/>
          <a:p>
            <a:pPr marL="12700">
              <a:lnSpc>
                <a:spcPct val="100000"/>
              </a:lnSpc>
              <a:spcBef>
                <a:spcPts val="114"/>
              </a:spcBef>
            </a:pPr>
            <a:r>
              <a:rPr sz="1100" spc="-15" dirty="0">
                <a:latin typeface="Arial"/>
                <a:cs typeface="Arial"/>
                <a:hlinkClick r:id="rId2"/>
              </a:rPr>
              <a:t>an</a:t>
            </a:r>
            <a:r>
              <a:rPr sz="1100" spc="-245" dirty="0">
                <a:latin typeface="Arial"/>
                <a:cs typeface="Arial"/>
                <a:hlinkClick r:id="rId2"/>
              </a:rPr>
              <a:t> </a:t>
            </a:r>
            <a:r>
              <a:rPr sz="1100" spc="-100" dirty="0">
                <a:latin typeface="Arial"/>
                <a:cs typeface="Arial"/>
                <a:hlinkClick r:id="rId2"/>
              </a:rPr>
              <a:t>swe </a:t>
            </a:r>
            <a:r>
              <a:rPr sz="1100" spc="-15" dirty="0">
                <a:latin typeface="Arial"/>
                <a:cs typeface="Arial"/>
                <a:hlinkClick r:id="rId2"/>
              </a:rPr>
              <a:t>r</a:t>
            </a:r>
            <a:endParaRPr sz="1100">
              <a:latin typeface="Arial"/>
              <a:cs typeface="Arial"/>
            </a:endParaRPr>
          </a:p>
        </p:txBody>
      </p:sp>
      <p:sp>
        <p:nvSpPr>
          <p:cNvPr id="116" name="object 116"/>
          <p:cNvSpPr/>
          <p:nvPr/>
        </p:nvSpPr>
        <p:spPr>
          <a:xfrm>
            <a:off x="7064978" y="3103887"/>
            <a:ext cx="465455" cy="101600"/>
          </a:xfrm>
          <a:custGeom>
            <a:avLst/>
            <a:gdLst/>
            <a:ahLst/>
            <a:cxnLst/>
            <a:rect l="l" t="t" r="r" b="b"/>
            <a:pathLst>
              <a:path w="465454" h="101600">
                <a:moveTo>
                  <a:pt x="0" y="101306"/>
                </a:moveTo>
                <a:lnTo>
                  <a:pt x="74197" y="100102"/>
                </a:lnTo>
                <a:lnTo>
                  <a:pt x="145055" y="96575"/>
                </a:lnTo>
                <a:lnTo>
                  <a:pt x="211520" y="90851"/>
                </a:lnTo>
                <a:lnTo>
                  <a:pt x="272539" y="83059"/>
                </a:lnTo>
                <a:lnTo>
                  <a:pt x="327059" y="73326"/>
                </a:lnTo>
                <a:lnTo>
                  <a:pt x="374028" y="61778"/>
                </a:lnTo>
                <a:lnTo>
                  <a:pt x="412392" y="48545"/>
                </a:lnTo>
                <a:lnTo>
                  <a:pt x="459095" y="17528"/>
                </a:lnTo>
                <a:lnTo>
                  <a:pt x="465328" y="0"/>
                </a:lnTo>
              </a:path>
            </a:pathLst>
          </a:custGeom>
          <a:ln w="20427">
            <a:solidFill>
              <a:srgbClr val="000000"/>
            </a:solidFill>
          </a:ln>
        </p:spPr>
        <p:txBody>
          <a:bodyPr wrap="square" lIns="0" tIns="0" rIns="0" bIns="0" rtlCol="0"/>
          <a:lstStyle/>
          <a:p>
            <a:endParaRPr/>
          </a:p>
        </p:txBody>
      </p:sp>
      <p:sp>
        <p:nvSpPr>
          <p:cNvPr id="117" name="object 117"/>
          <p:cNvSpPr/>
          <p:nvPr/>
        </p:nvSpPr>
        <p:spPr>
          <a:xfrm>
            <a:off x="6638540" y="3083464"/>
            <a:ext cx="445770" cy="121920"/>
          </a:xfrm>
          <a:custGeom>
            <a:avLst/>
            <a:gdLst/>
            <a:ahLst/>
            <a:cxnLst/>
            <a:rect l="l" t="t" r="r" b="b"/>
            <a:pathLst>
              <a:path w="445770" h="121919">
                <a:moveTo>
                  <a:pt x="0" y="0"/>
                </a:moveTo>
                <a:lnTo>
                  <a:pt x="22176" y="43719"/>
                </a:lnTo>
                <a:lnTo>
                  <a:pt x="84352" y="77790"/>
                </a:lnTo>
                <a:lnTo>
                  <a:pt x="128400" y="91196"/>
                </a:lnTo>
                <a:lnTo>
                  <a:pt x="180000" y="102175"/>
                </a:lnTo>
                <a:lnTo>
                  <a:pt x="238335" y="110723"/>
                </a:lnTo>
                <a:lnTo>
                  <a:pt x="302589" y="116834"/>
                </a:lnTo>
                <a:lnTo>
                  <a:pt x="371947" y="120505"/>
                </a:lnTo>
                <a:lnTo>
                  <a:pt x="445592" y="121729"/>
                </a:lnTo>
              </a:path>
            </a:pathLst>
          </a:custGeom>
          <a:ln w="20406">
            <a:solidFill>
              <a:srgbClr val="000000"/>
            </a:solidFill>
          </a:ln>
        </p:spPr>
        <p:txBody>
          <a:bodyPr wrap="square" lIns="0" tIns="0" rIns="0" bIns="0" rtlCol="0"/>
          <a:lstStyle/>
          <a:p>
            <a:endParaRPr/>
          </a:p>
        </p:txBody>
      </p:sp>
      <p:sp>
        <p:nvSpPr>
          <p:cNvPr id="118" name="object 118"/>
          <p:cNvSpPr/>
          <p:nvPr/>
        </p:nvSpPr>
        <p:spPr>
          <a:xfrm>
            <a:off x="6619385" y="3123906"/>
            <a:ext cx="0" cy="20955"/>
          </a:xfrm>
          <a:custGeom>
            <a:avLst/>
            <a:gdLst/>
            <a:ahLst/>
            <a:cxnLst/>
            <a:rect l="l" t="t" r="r" b="b"/>
            <a:pathLst>
              <a:path h="20955">
                <a:moveTo>
                  <a:pt x="-19583" y="10211"/>
                </a:moveTo>
                <a:lnTo>
                  <a:pt x="19583" y="10211"/>
                </a:lnTo>
              </a:path>
            </a:pathLst>
          </a:custGeom>
          <a:ln w="20422">
            <a:solidFill>
              <a:srgbClr val="000000"/>
            </a:solidFill>
          </a:ln>
        </p:spPr>
        <p:txBody>
          <a:bodyPr wrap="square" lIns="0" tIns="0" rIns="0" bIns="0" rtlCol="0"/>
          <a:lstStyle/>
          <a:p>
            <a:endParaRPr/>
          </a:p>
        </p:txBody>
      </p:sp>
      <p:sp>
        <p:nvSpPr>
          <p:cNvPr id="119" name="object 119"/>
          <p:cNvSpPr/>
          <p:nvPr/>
        </p:nvSpPr>
        <p:spPr>
          <a:xfrm>
            <a:off x="6599844" y="3103887"/>
            <a:ext cx="38735" cy="20320"/>
          </a:xfrm>
          <a:custGeom>
            <a:avLst/>
            <a:gdLst/>
            <a:ahLst/>
            <a:cxnLst/>
            <a:rect l="l" t="t" r="r" b="b"/>
            <a:pathLst>
              <a:path w="38734" h="20319">
                <a:moveTo>
                  <a:pt x="0" y="0"/>
                </a:moveTo>
                <a:lnTo>
                  <a:pt x="38696" y="0"/>
                </a:lnTo>
                <a:lnTo>
                  <a:pt x="19541" y="20018"/>
                </a:lnTo>
              </a:path>
            </a:pathLst>
          </a:custGeom>
          <a:ln w="40560">
            <a:solidFill>
              <a:srgbClr val="000000"/>
            </a:solidFill>
          </a:ln>
        </p:spPr>
        <p:txBody>
          <a:bodyPr wrap="square" lIns="0" tIns="0" rIns="0" bIns="0" rtlCol="0"/>
          <a:lstStyle/>
          <a:p>
            <a:endParaRPr/>
          </a:p>
        </p:txBody>
      </p:sp>
      <p:sp>
        <p:nvSpPr>
          <p:cNvPr id="120" name="object 120"/>
          <p:cNvSpPr/>
          <p:nvPr/>
        </p:nvSpPr>
        <p:spPr>
          <a:xfrm>
            <a:off x="6599843" y="3103887"/>
            <a:ext cx="38735" cy="40640"/>
          </a:xfrm>
          <a:custGeom>
            <a:avLst/>
            <a:gdLst/>
            <a:ahLst/>
            <a:cxnLst/>
            <a:rect l="l" t="t" r="r" b="b"/>
            <a:pathLst>
              <a:path w="38734" h="40639">
                <a:moveTo>
                  <a:pt x="38696" y="0"/>
                </a:moveTo>
                <a:lnTo>
                  <a:pt x="0" y="0"/>
                </a:lnTo>
                <a:lnTo>
                  <a:pt x="19541" y="40441"/>
                </a:lnTo>
                <a:lnTo>
                  <a:pt x="19541" y="20018"/>
                </a:lnTo>
                <a:lnTo>
                  <a:pt x="38696" y="0"/>
                </a:lnTo>
                <a:close/>
              </a:path>
            </a:pathLst>
          </a:custGeom>
          <a:solidFill>
            <a:srgbClr val="000000"/>
          </a:solidFill>
        </p:spPr>
        <p:txBody>
          <a:bodyPr wrap="square" lIns="0" tIns="0" rIns="0" bIns="0" rtlCol="0"/>
          <a:lstStyle/>
          <a:p>
            <a:endParaRPr/>
          </a:p>
        </p:txBody>
      </p:sp>
      <p:sp>
        <p:nvSpPr>
          <p:cNvPr id="121" name="object 121"/>
          <p:cNvSpPr/>
          <p:nvPr/>
        </p:nvSpPr>
        <p:spPr>
          <a:xfrm>
            <a:off x="6638540" y="3123906"/>
            <a:ext cx="0" cy="20955"/>
          </a:xfrm>
          <a:custGeom>
            <a:avLst/>
            <a:gdLst/>
            <a:ahLst/>
            <a:cxnLst/>
            <a:rect l="l" t="t" r="r" b="b"/>
            <a:pathLst>
              <a:path h="20955">
                <a:moveTo>
                  <a:pt x="-9792" y="10211"/>
                </a:moveTo>
                <a:lnTo>
                  <a:pt x="9792" y="10211"/>
                </a:lnTo>
              </a:path>
            </a:pathLst>
          </a:custGeom>
          <a:ln w="20423">
            <a:solidFill>
              <a:srgbClr val="000000"/>
            </a:solidFill>
          </a:ln>
        </p:spPr>
        <p:txBody>
          <a:bodyPr wrap="square" lIns="0" tIns="0" rIns="0" bIns="0" rtlCol="0"/>
          <a:lstStyle/>
          <a:p>
            <a:endParaRPr/>
          </a:p>
        </p:txBody>
      </p:sp>
      <p:sp>
        <p:nvSpPr>
          <p:cNvPr id="122" name="object 122"/>
          <p:cNvSpPr/>
          <p:nvPr/>
        </p:nvSpPr>
        <p:spPr>
          <a:xfrm>
            <a:off x="5514555" y="4987669"/>
            <a:ext cx="465455" cy="121920"/>
          </a:xfrm>
          <a:custGeom>
            <a:avLst/>
            <a:gdLst/>
            <a:ahLst/>
            <a:cxnLst/>
            <a:rect l="l" t="t" r="r" b="b"/>
            <a:pathLst>
              <a:path w="465454" h="121920">
                <a:moveTo>
                  <a:pt x="465231" y="0"/>
                </a:moveTo>
                <a:lnTo>
                  <a:pt x="393241" y="1014"/>
                </a:lnTo>
                <a:lnTo>
                  <a:pt x="325614" y="4054"/>
                </a:lnTo>
                <a:lnTo>
                  <a:pt x="262877" y="9116"/>
                </a:lnTo>
                <a:lnTo>
                  <a:pt x="205554" y="16194"/>
                </a:lnTo>
                <a:lnTo>
                  <a:pt x="154170" y="25285"/>
                </a:lnTo>
                <a:lnTo>
                  <a:pt x="109251" y="36383"/>
                </a:lnTo>
                <a:lnTo>
                  <a:pt x="71321" y="49485"/>
                </a:lnTo>
                <a:lnTo>
                  <a:pt x="18530" y="81679"/>
                </a:lnTo>
                <a:lnTo>
                  <a:pt x="0" y="121831"/>
                </a:lnTo>
              </a:path>
            </a:pathLst>
          </a:custGeom>
          <a:ln w="20410">
            <a:solidFill>
              <a:srgbClr val="000000"/>
            </a:solidFill>
          </a:ln>
        </p:spPr>
        <p:txBody>
          <a:bodyPr wrap="square" lIns="0" tIns="0" rIns="0" bIns="0" rtlCol="0"/>
          <a:lstStyle/>
          <a:p>
            <a:endParaRPr/>
          </a:p>
        </p:txBody>
      </p:sp>
      <p:sp>
        <p:nvSpPr>
          <p:cNvPr id="123" name="object 123"/>
          <p:cNvSpPr/>
          <p:nvPr/>
        </p:nvSpPr>
        <p:spPr>
          <a:xfrm>
            <a:off x="5960206" y="4987669"/>
            <a:ext cx="465455" cy="121920"/>
          </a:xfrm>
          <a:custGeom>
            <a:avLst/>
            <a:gdLst/>
            <a:ahLst/>
            <a:cxnLst/>
            <a:rect l="l" t="t" r="r" b="b"/>
            <a:pathLst>
              <a:path w="465454" h="121920">
                <a:moveTo>
                  <a:pt x="445650" y="121831"/>
                </a:moveTo>
                <a:lnTo>
                  <a:pt x="465231" y="121831"/>
                </a:lnTo>
                <a:lnTo>
                  <a:pt x="460079" y="100762"/>
                </a:lnTo>
                <a:lnTo>
                  <a:pt x="445148" y="81679"/>
                </a:lnTo>
                <a:lnTo>
                  <a:pt x="389079" y="49485"/>
                </a:lnTo>
                <a:lnTo>
                  <a:pt x="349510" y="36384"/>
                </a:lnTo>
                <a:lnTo>
                  <a:pt x="303297" y="25285"/>
                </a:lnTo>
                <a:lnTo>
                  <a:pt x="251223" y="16194"/>
                </a:lnTo>
                <a:lnTo>
                  <a:pt x="194072" y="9116"/>
                </a:lnTo>
                <a:lnTo>
                  <a:pt x="132629" y="4054"/>
                </a:lnTo>
                <a:lnTo>
                  <a:pt x="67677" y="1014"/>
                </a:lnTo>
                <a:lnTo>
                  <a:pt x="0" y="0"/>
                </a:lnTo>
              </a:path>
            </a:pathLst>
          </a:custGeom>
          <a:ln w="20410">
            <a:solidFill>
              <a:srgbClr val="000000"/>
            </a:solidFill>
          </a:ln>
        </p:spPr>
        <p:txBody>
          <a:bodyPr wrap="square" lIns="0" tIns="0" rIns="0" bIns="0" rtlCol="0"/>
          <a:lstStyle/>
          <a:p>
            <a:endParaRPr/>
          </a:p>
        </p:txBody>
      </p:sp>
      <p:sp>
        <p:nvSpPr>
          <p:cNvPr id="124" name="object 124"/>
          <p:cNvSpPr/>
          <p:nvPr/>
        </p:nvSpPr>
        <p:spPr>
          <a:xfrm>
            <a:off x="5494531" y="5069012"/>
            <a:ext cx="78726" cy="80491"/>
          </a:xfrm>
          <a:prstGeom prst="rect">
            <a:avLst/>
          </a:prstGeom>
          <a:blipFill>
            <a:blip r:embed="rId6" cstate="print"/>
            <a:stretch>
              <a:fillRect/>
            </a:stretch>
          </a:blipFill>
        </p:spPr>
        <p:txBody>
          <a:bodyPr wrap="square" lIns="0" tIns="0" rIns="0" bIns="0" rtlCol="0"/>
          <a:lstStyle/>
          <a:p>
            <a:endParaRPr/>
          </a:p>
        </p:txBody>
      </p:sp>
      <p:sp>
        <p:nvSpPr>
          <p:cNvPr id="126" name="object 126"/>
          <p:cNvSpPr txBox="1"/>
          <p:nvPr/>
        </p:nvSpPr>
        <p:spPr>
          <a:xfrm>
            <a:off x="78739" y="1172921"/>
            <a:ext cx="4327525" cy="1672589"/>
          </a:xfrm>
          <a:prstGeom prst="rect">
            <a:avLst/>
          </a:prstGeom>
        </p:spPr>
        <p:txBody>
          <a:bodyPr vert="horz" wrap="square" lIns="0" tIns="12700" rIns="0" bIns="0" rtlCol="0">
            <a:spAutoFit/>
          </a:bodyPr>
          <a:lstStyle/>
          <a:p>
            <a:pPr marL="355600" marR="128905" indent="-342900">
              <a:lnSpc>
                <a:spcPct val="100000"/>
              </a:lnSpc>
              <a:spcBef>
                <a:spcPts val="100"/>
              </a:spcBef>
              <a:buAutoNum type="arabicPeriod"/>
              <a:tabLst>
                <a:tab pos="354965" algn="l"/>
                <a:tab pos="355600" algn="l"/>
              </a:tabLst>
            </a:pPr>
            <a:r>
              <a:rPr sz="1800" dirty="0">
                <a:latin typeface="Arial"/>
                <a:cs typeface="Arial"/>
              </a:rPr>
              <a:t>The </a:t>
            </a:r>
            <a:r>
              <a:rPr sz="1800" spc="-5" dirty="0">
                <a:latin typeface="Arial"/>
                <a:cs typeface="Arial"/>
              </a:rPr>
              <a:t>process </a:t>
            </a:r>
            <a:r>
              <a:rPr sz="1800" spc="-10" dirty="0">
                <a:latin typeface="Arial"/>
                <a:cs typeface="Arial"/>
              </a:rPr>
              <a:t>begins </a:t>
            </a:r>
            <a:r>
              <a:rPr sz="1800" spc="-5" dirty="0">
                <a:latin typeface="Arial"/>
                <a:cs typeface="Arial"/>
              </a:rPr>
              <a:t>an election by  sending an election message </a:t>
            </a:r>
            <a:r>
              <a:rPr sz="1800" dirty="0">
                <a:latin typeface="Arial"/>
                <a:cs typeface="Arial"/>
              </a:rPr>
              <a:t>to </a:t>
            </a:r>
            <a:r>
              <a:rPr sz="1800" spc="-5" dirty="0">
                <a:latin typeface="Arial"/>
                <a:cs typeface="Arial"/>
              </a:rPr>
              <a:t>these  processes that have a higher </a:t>
            </a:r>
            <a:r>
              <a:rPr sz="1800" dirty="0">
                <a:latin typeface="Arial"/>
                <a:cs typeface="Arial"/>
              </a:rPr>
              <a:t>ID </a:t>
            </a:r>
            <a:r>
              <a:rPr sz="1800" spc="-5" dirty="0">
                <a:latin typeface="Arial"/>
                <a:cs typeface="Arial"/>
              </a:rPr>
              <a:t>and  </a:t>
            </a:r>
            <a:r>
              <a:rPr sz="1800" spc="-10" dirty="0">
                <a:latin typeface="Arial"/>
                <a:cs typeface="Arial"/>
              </a:rPr>
              <a:t>awaits </a:t>
            </a:r>
            <a:r>
              <a:rPr sz="1800" spc="-5" dirty="0">
                <a:latin typeface="Arial"/>
                <a:cs typeface="Arial"/>
              </a:rPr>
              <a:t>an </a:t>
            </a:r>
            <a:r>
              <a:rPr sz="1800" spc="-10" dirty="0">
                <a:latin typeface="Arial"/>
                <a:cs typeface="Arial"/>
              </a:rPr>
              <a:t>answer </a:t>
            </a:r>
            <a:r>
              <a:rPr sz="1800" spc="-5" dirty="0">
                <a:latin typeface="Arial"/>
                <a:cs typeface="Arial"/>
              </a:rPr>
              <a:t>in</a:t>
            </a:r>
            <a:r>
              <a:rPr sz="1800" spc="85" dirty="0">
                <a:latin typeface="Arial"/>
                <a:cs typeface="Arial"/>
              </a:rPr>
              <a:t> </a:t>
            </a:r>
            <a:r>
              <a:rPr sz="1800" spc="-5" dirty="0">
                <a:latin typeface="Arial"/>
                <a:cs typeface="Arial"/>
              </a:rPr>
              <a:t>response.</a:t>
            </a:r>
            <a:endParaRPr sz="1800" dirty="0">
              <a:latin typeface="Arial"/>
              <a:cs typeface="Arial"/>
            </a:endParaRPr>
          </a:p>
          <a:p>
            <a:pPr marL="355600" indent="-342900">
              <a:lnSpc>
                <a:spcPct val="100000"/>
              </a:lnSpc>
              <a:spcBef>
                <a:spcPts val="5"/>
              </a:spcBef>
              <a:buAutoNum type="arabicPeriod"/>
              <a:tabLst>
                <a:tab pos="354965" algn="l"/>
                <a:tab pos="355600" algn="l"/>
              </a:tabLst>
            </a:pPr>
            <a:r>
              <a:rPr sz="1800" dirty="0">
                <a:latin typeface="Arial"/>
                <a:cs typeface="Arial"/>
              </a:rPr>
              <a:t>If </a:t>
            </a:r>
            <a:r>
              <a:rPr sz="1800" spc="-10" dirty="0">
                <a:latin typeface="Arial"/>
                <a:cs typeface="Arial"/>
              </a:rPr>
              <a:t>none </a:t>
            </a:r>
            <a:r>
              <a:rPr sz="1800" spc="-5" dirty="0">
                <a:latin typeface="Arial"/>
                <a:cs typeface="Arial"/>
              </a:rPr>
              <a:t>arrives </a:t>
            </a:r>
            <a:r>
              <a:rPr sz="1800" spc="-10" dirty="0">
                <a:latin typeface="Arial"/>
                <a:cs typeface="Arial"/>
              </a:rPr>
              <a:t>within </a:t>
            </a:r>
            <a:r>
              <a:rPr sz="1800" dirty="0">
                <a:latin typeface="Arial"/>
                <a:cs typeface="Arial"/>
              </a:rPr>
              <a:t>time </a:t>
            </a:r>
            <a:r>
              <a:rPr sz="1800" spc="-95" dirty="0">
                <a:latin typeface="Arial"/>
                <a:cs typeface="Arial"/>
              </a:rPr>
              <a:t>T,</a:t>
            </a:r>
            <a:r>
              <a:rPr sz="1800" spc="-15" dirty="0">
                <a:latin typeface="Arial"/>
                <a:cs typeface="Arial"/>
              </a:rPr>
              <a:t> </a:t>
            </a:r>
            <a:r>
              <a:rPr sz="1800" dirty="0">
                <a:latin typeface="Arial"/>
                <a:cs typeface="Arial"/>
              </a:rPr>
              <a:t>the</a:t>
            </a:r>
          </a:p>
          <a:p>
            <a:pPr marL="355600">
              <a:lnSpc>
                <a:spcPct val="100000"/>
              </a:lnSpc>
            </a:pPr>
            <a:r>
              <a:rPr sz="1800" spc="-5" dirty="0">
                <a:latin typeface="Arial"/>
                <a:cs typeface="Arial"/>
              </a:rPr>
              <a:t>process considers itself </a:t>
            </a:r>
            <a:r>
              <a:rPr sz="1800" dirty="0">
                <a:latin typeface="Arial"/>
                <a:cs typeface="Arial"/>
              </a:rPr>
              <a:t>the</a:t>
            </a:r>
            <a:r>
              <a:rPr sz="1800" spc="10" dirty="0">
                <a:latin typeface="Arial"/>
                <a:cs typeface="Arial"/>
              </a:rPr>
              <a:t> </a:t>
            </a:r>
            <a:r>
              <a:rPr sz="1800" spc="-5" dirty="0">
                <a:latin typeface="Arial"/>
                <a:cs typeface="Arial"/>
              </a:rPr>
              <a:t>coordinator</a:t>
            </a:r>
            <a:endParaRPr sz="1800" dirty="0">
              <a:latin typeface="Arial"/>
              <a:cs typeface="Arial"/>
            </a:endParaRPr>
          </a:p>
        </p:txBody>
      </p:sp>
      <p:sp>
        <p:nvSpPr>
          <p:cNvPr id="127" name="object 127"/>
          <p:cNvSpPr txBox="1"/>
          <p:nvPr/>
        </p:nvSpPr>
        <p:spPr>
          <a:xfrm>
            <a:off x="421640" y="2819780"/>
            <a:ext cx="382206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and sen</a:t>
            </a:r>
            <a:r>
              <a:rPr sz="1800" spc="-5" dirty="0">
                <a:latin typeface="Arial"/>
                <a:cs typeface="Arial"/>
                <a:hlinkClick r:id="rId2"/>
              </a:rPr>
              <a:t>ds coordinator message </a:t>
            </a:r>
            <a:r>
              <a:rPr sz="1800" dirty="0">
                <a:latin typeface="Arial"/>
                <a:cs typeface="Arial"/>
                <a:hlinkClick r:id="rId2"/>
              </a:rPr>
              <a:t>to</a:t>
            </a:r>
            <a:r>
              <a:rPr sz="1800" spc="15" dirty="0">
                <a:latin typeface="Arial"/>
                <a:cs typeface="Arial"/>
                <a:hlinkClick r:id="rId2"/>
              </a:rPr>
              <a:t> </a:t>
            </a:r>
            <a:r>
              <a:rPr sz="1800" spc="-5" dirty="0">
                <a:latin typeface="Arial"/>
                <a:cs typeface="Arial"/>
                <a:hlinkClick r:id="rId2"/>
              </a:rPr>
              <a:t>all</a:t>
            </a:r>
            <a:endParaRPr sz="1800">
              <a:latin typeface="Arial"/>
              <a:cs typeface="Arial"/>
            </a:endParaRPr>
          </a:p>
        </p:txBody>
      </p:sp>
      <p:sp>
        <p:nvSpPr>
          <p:cNvPr id="128" name="object 128"/>
          <p:cNvSpPr txBox="1"/>
          <p:nvPr/>
        </p:nvSpPr>
        <p:spPr>
          <a:xfrm>
            <a:off x="421640" y="3094101"/>
            <a:ext cx="324802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processe</a:t>
            </a:r>
            <a:r>
              <a:rPr sz="1800" spc="-5" dirty="0">
                <a:latin typeface="Arial"/>
                <a:cs typeface="Arial"/>
                <a:hlinkClick r:id="rId2"/>
              </a:rPr>
              <a:t>s </a:t>
            </a:r>
            <a:r>
              <a:rPr sz="1800" spc="-15" dirty="0">
                <a:latin typeface="Arial"/>
                <a:cs typeface="Arial"/>
                <a:hlinkClick r:id="rId2"/>
              </a:rPr>
              <a:t>with lower</a:t>
            </a:r>
            <a:r>
              <a:rPr sz="1800" spc="110" dirty="0">
                <a:latin typeface="Arial"/>
                <a:cs typeface="Arial"/>
                <a:hlinkClick r:id="rId2"/>
              </a:rPr>
              <a:t> </a:t>
            </a:r>
            <a:r>
              <a:rPr sz="1800" spc="-5" dirty="0">
                <a:latin typeface="Arial"/>
                <a:cs typeface="Arial"/>
                <a:hlinkClick r:id="rId2"/>
              </a:rPr>
              <a:t>identifiers.</a:t>
            </a:r>
            <a:endParaRPr sz="1800" dirty="0">
              <a:latin typeface="Arial"/>
              <a:cs typeface="Arial"/>
            </a:endParaRPr>
          </a:p>
        </p:txBody>
      </p:sp>
      <p:sp>
        <p:nvSpPr>
          <p:cNvPr id="129" name="object 129"/>
          <p:cNvSpPr txBox="1"/>
          <p:nvPr/>
        </p:nvSpPr>
        <p:spPr>
          <a:xfrm>
            <a:off x="78739" y="3368420"/>
            <a:ext cx="4204970" cy="299720"/>
          </a:xfrm>
          <a:prstGeom prst="rect">
            <a:avLst/>
          </a:prstGeom>
        </p:spPr>
        <p:txBody>
          <a:bodyPr vert="horz" wrap="square" lIns="0" tIns="12700" rIns="0" bIns="0" rtlCol="0">
            <a:spAutoFit/>
          </a:bodyPr>
          <a:lstStyle/>
          <a:p>
            <a:pPr marL="12700">
              <a:lnSpc>
                <a:spcPct val="100000"/>
              </a:lnSpc>
              <a:spcBef>
                <a:spcPts val="100"/>
              </a:spcBef>
              <a:tabLst>
                <a:tab pos="354965" algn="l"/>
              </a:tabLst>
            </a:pPr>
            <a:r>
              <a:rPr sz="1800" spc="-5" dirty="0">
                <a:latin typeface="Arial"/>
                <a:cs typeface="Arial"/>
              </a:rPr>
              <a:t>3.	</a:t>
            </a:r>
            <a:r>
              <a:rPr sz="1800" spc="-10" dirty="0">
                <a:latin typeface="Arial"/>
                <a:cs typeface="Arial"/>
              </a:rPr>
              <a:t>Otherwise</a:t>
            </a:r>
            <a:r>
              <a:rPr sz="1800" spc="-10" dirty="0">
                <a:latin typeface="Arial"/>
                <a:cs typeface="Arial"/>
                <a:hlinkClick r:id="rId2"/>
              </a:rPr>
              <a:t>, </a:t>
            </a:r>
            <a:r>
              <a:rPr sz="1800" spc="-5" dirty="0">
                <a:latin typeface="Arial"/>
                <a:cs typeface="Arial"/>
                <a:hlinkClick r:id="rId2"/>
              </a:rPr>
              <a:t>it </a:t>
            </a:r>
            <a:r>
              <a:rPr sz="1800" spc="-15" dirty="0">
                <a:latin typeface="Arial"/>
                <a:cs typeface="Arial"/>
                <a:hlinkClick r:id="rId2"/>
              </a:rPr>
              <a:t>waits </a:t>
            </a:r>
            <a:r>
              <a:rPr sz="1800" dirty="0">
                <a:latin typeface="Arial"/>
                <a:cs typeface="Arial"/>
                <a:hlinkClick r:id="rId2"/>
              </a:rPr>
              <a:t>a </a:t>
            </a:r>
            <a:r>
              <a:rPr sz="1800" spc="-5" dirty="0">
                <a:latin typeface="Arial"/>
                <a:cs typeface="Arial"/>
                <a:hlinkClick r:id="rId2"/>
              </a:rPr>
              <a:t>further time </a:t>
            </a:r>
            <a:r>
              <a:rPr sz="1800" spc="5" dirty="0">
                <a:latin typeface="Arial"/>
                <a:cs typeface="Arial"/>
                <a:hlinkClick r:id="rId2"/>
              </a:rPr>
              <a:t>T’</a:t>
            </a:r>
            <a:r>
              <a:rPr sz="1800" dirty="0">
                <a:latin typeface="Arial"/>
                <a:cs typeface="Arial"/>
                <a:hlinkClick r:id="rId2"/>
              </a:rPr>
              <a:t> for</a:t>
            </a:r>
            <a:endParaRPr sz="1800">
              <a:latin typeface="Arial"/>
              <a:cs typeface="Arial"/>
            </a:endParaRPr>
          </a:p>
        </p:txBody>
      </p:sp>
      <p:sp>
        <p:nvSpPr>
          <p:cNvPr id="130" name="object 130"/>
          <p:cNvSpPr txBox="1"/>
          <p:nvPr/>
        </p:nvSpPr>
        <p:spPr>
          <a:xfrm>
            <a:off x="421640" y="3642436"/>
            <a:ext cx="3935729"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coordina</a:t>
            </a:r>
            <a:r>
              <a:rPr sz="1800" spc="-5" dirty="0">
                <a:latin typeface="Arial"/>
                <a:cs typeface="Arial"/>
                <a:hlinkClick r:id="rId2"/>
              </a:rPr>
              <a:t>tor message </a:t>
            </a:r>
            <a:r>
              <a:rPr sz="1800" dirty="0">
                <a:latin typeface="Arial"/>
                <a:cs typeface="Arial"/>
                <a:hlinkClick r:id="rId2"/>
              </a:rPr>
              <a:t>to </a:t>
            </a:r>
            <a:r>
              <a:rPr sz="1800" spc="-5" dirty="0">
                <a:latin typeface="Arial"/>
                <a:cs typeface="Arial"/>
                <a:hlinkClick r:id="rId2"/>
              </a:rPr>
              <a:t>arrive. </a:t>
            </a:r>
            <a:r>
              <a:rPr sz="1800" dirty="0">
                <a:latin typeface="Arial"/>
                <a:cs typeface="Arial"/>
                <a:hlinkClick r:id="rId2"/>
              </a:rPr>
              <a:t>If</a:t>
            </a:r>
            <a:r>
              <a:rPr sz="1800" spc="-10" dirty="0">
                <a:latin typeface="Arial"/>
                <a:cs typeface="Arial"/>
                <a:hlinkClick r:id="rId2"/>
              </a:rPr>
              <a:t> none,</a:t>
            </a:r>
            <a:endParaRPr sz="1800">
              <a:latin typeface="Arial"/>
              <a:cs typeface="Arial"/>
            </a:endParaRPr>
          </a:p>
        </p:txBody>
      </p:sp>
      <p:sp>
        <p:nvSpPr>
          <p:cNvPr id="131" name="object 131"/>
          <p:cNvSpPr txBox="1"/>
          <p:nvPr/>
        </p:nvSpPr>
        <p:spPr>
          <a:xfrm>
            <a:off x="421640" y="3917442"/>
            <a:ext cx="244856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begins another</a:t>
            </a:r>
            <a:r>
              <a:rPr sz="1800" spc="-35" dirty="0">
                <a:latin typeface="Arial"/>
                <a:cs typeface="Arial"/>
              </a:rPr>
              <a:t> </a:t>
            </a:r>
            <a:r>
              <a:rPr sz="1800" spc="-5" dirty="0">
                <a:latin typeface="Arial"/>
                <a:cs typeface="Arial"/>
              </a:rPr>
              <a:t>election.</a:t>
            </a:r>
            <a:endParaRPr sz="1800">
              <a:latin typeface="Arial"/>
              <a:cs typeface="Arial"/>
            </a:endParaRPr>
          </a:p>
        </p:txBody>
      </p:sp>
      <p:sp>
        <p:nvSpPr>
          <p:cNvPr id="132" name="object 132"/>
          <p:cNvSpPr txBox="1"/>
          <p:nvPr/>
        </p:nvSpPr>
        <p:spPr>
          <a:xfrm>
            <a:off x="78739" y="4191761"/>
            <a:ext cx="4324350" cy="1946275"/>
          </a:xfrm>
          <a:prstGeom prst="rect">
            <a:avLst/>
          </a:prstGeom>
        </p:spPr>
        <p:txBody>
          <a:bodyPr vert="horz" wrap="square" lIns="0" tIns="12700" rIns="0" bIns="0" rtlCol="0">
            <a:spAutoFit/>
          </a:bodyPr>
          <a:lstStyle/>
          <a:p>
            <a:pPr marL="355600" marR="5080" indent="-342900">
              <a:lnSpc>
                <a:spcPct val="100000"/>
              </a:lnSpc>
              <a:spcBef>
                <a:spcPts val="100"/>
              </a:spcBef>
              <a:buAutoNum type="arabicPeriod" startAt="4"/>
              <a:tabLst>
                <a:tab pos="419100" algn="l"/>
                <a:tab pos="419734" algn="l"/>
              </a:tabLst>
            </a:pPr>
            <a:r>
              <a:rPr sz="1800" dirty="0">
                <a:latin typeface="Arial"/>
                <a:cs typeface="Arial"/>
              </a:rPr>
              <a:t>If </a:t>
            </a:r>
            <a:r>
              <a:rPr sz="1800" spc="-5" dirty="0">
                <a:latin typeface="Arial"/>
                <a:cs typeface="Arial"/>
              </a:rPr>
              <a:t>a process receives a coordinator  message, </a:t>
            </a:r>
            <a:r>
              <a:rPr sz="1800" dirty="0">
                <a:latin typeface="Arial"/>
                <a:cs typeface="Arial"/>
              </a:rPr>
              <a:t>it sets its </a:t>
            </a:r>
            <a:r>
              <a:rPr sz="1800" spc="-5" dirty="0">
                <a:latin typeface="Arial"/>
                <a:cs typeface="Arial"/>
              </a:rPr>
              <a:t>variable </a:t>
            </a:r>
            <a:r>
              <a:rPr sz="1800" b="1" spc="-5" dirty="0">
                <a:solidFill>
                  <a:srgbClr val="006FC0"/>
                </a:solidFill>
                <a:latin typeface="Arial"/>
                <a:cs typeface="Arial"/>
              </a:rPr>
              <a:t>elected</a:t>
            </a:r>
            <a:r>
              <a:rPr sz="1800" b="1" spc="-7" baseline="-20833" dirty="0">
                <a:solidFill>
                  <a:srgbClr val="006FC0"/>
                </a:solidFill>
                <a:latin typeface="Arial"/>
                <a:cs typeface="Arial"/>
              </a:rPr>
              <a:t>i </a:t>
            </a:r>
            <a:r>
              <a:rPr sz="1800" dirty="0">
                <a:latin typeface="Arial"/>
                <a:cs typeface="Arial"/>
              </a:rPr>
              <a:t>to  </a:t>
            </a:r>
            <a:r>
              <a:rPr sz="1800" spc="-5" dirty="0">
                <a:latin typeface="Arial"/>
                <a:cs typeface="Arial"/>
              </a:rPr>
              <a:t>be </a:t>
            </a:r>
            <a:r>
              <a:rPr sz="1800" dirty="0">
                <a:latin typeface="Arial"/>
                <a:cs typeface="Arial"/>
              </a:rPr>
              <a:t>the </a:t>
            </a:r>
            <a:r>
              <a:rPr sz="1800" spc="-5" dirty="0">
                <a:latin typeface="Arial"/>
                <a:cs typeface="Arial"/>
              </a:rPr>
              <a:t>coordinator</a:t>
            </a:r>
            <a:r>
              <a:rPr sz="1800" dirty="0">
                <a:latin typeface="Arial"/>
                <a:cs typeface="Arial"/>
              </a:rPr>
              <a:t> ID.</a:t>
            </a:r>
          </a:p>
          <a:p>
            <a:pPr marL="355600" marR="165735" indent="-342900">
              <a:lnSpc>
                <a:spcPct val="100000"/>
              </a:lnSpc>
              <a:buAutoNum type="arabicPeriod" startAt="4"/>
              <a:tabLst>
                <a:tab pos="419100" algn="l"/>
                <a:tab pos="419734" algn="l"/>
              </a:tabLst>
            </a:pPr>
            <a:r>
              <a:rPr sz="1800" dirty="0">
                <a:latin typeface="Arial"/>
                <a:cs typeface="Arial"/>
              </a:rPr>
              <a:t>If a </a:t>
            </a:r>
            <a:r>
              <a:rPr sz="1800" spc="-5" dirty="0">
                <a:latin typeface="Arial"/>
                <a:cs typeface="Arial"/>
              </a:rPr>
              <a:t>process receives an election  message, </a:t>
            </a:r>
            <a:r>
              <a:rPr sz="1800" dirty="0">
                <a:latin typeface="Arial"/>
                <a:cs typeface="Arial"/>
              </a:rPr>
              <a:t>it </a:t>
            </a:r>
            <a:r>
              <a:rPr sz="1800" spc="-5" dirty="0">
                <a:latin typeface="Arial"/>
                <a:cs typeface="Arial"/>
              </a:rPr>
              <a:t>sends back an </a:t>
            </a:r>
            <a:r>
              <a:rPr sz="1800" spc="-10" dirty="0">
                <a:latin typeface="Arial"/>
                <a:cs typeface="Arial"/>
              </a:rPr>
              <a:t>answer  </a:t>
            </a:r>
            <a:r>
              <a:rPr sz="1800" spc="-5" dirty="0">
                <a:latin typeface="Arial"/>
                <a:cs typeface="Arial"/>
              </a:rPr>
              <a:t>message and begins another election  unless </a:t>
            </a:r>
            <a:r>
              <a:rPr sz="1800" dirty="0">
                <a:latin typeface="Arial"/>
                <a:cs typeface="Arial"/>
              </a:rPr>
              <a:t>it </a:t>
            </a:r>
            <a:r>
              <a:rPr sz="1800" spc="-5" dirty="0">
                <a:latin typeface="Arial"/>
                <a:cs typeface="Arial"/>
              </a:rPr>
              <a:t>has begun one</a:t>
            </a:r>
            <a:r>
              <a:rPr sz="1800" spc="10" dirty="0">
                <a:latin typeface="Arial"/>
                <a:cs typeface="Arial"/>
              </a:rPr>
              <a:t> </a:t>
            </a:r>
            <a:r>
              <a:rPr sz="1800" spc="-25" dirty="0">
                <a:latin typeface="Arial"/>
                <a:cs typeface="Arial"/>
              </a:rPr>
              <a:t>already.</a:t>
            </a:r>
            <a:endParaRPr sz="1800" dirty="0">
              <a:latin typeface="Arial"/>
              <a:cs typeface="Arial"/>
            </a:endParaRPr>
          </a:p>
        </p:txBody>
      </p:sp>
    </p:spTree>
    <p:extLst>
      <p:ext uri="{BB962C8B-B14F-4D97-AF65-F5344CB8AC3E}">
        <p14:creationId xmlns="" xmlns:p14="http://schemas.microsoft.com/office/powerpoint/2010/main" val="15290425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pc="-5" dirty="0">
                <a:solidFill>
                  <a:srgbClr val="FF3300"/>
                </a:solidFill>
              </a:rPr>
              <a:t>The bully</a:t>
            </a:r>
            <a:r>
              <a:rPr lang="en-IN" spc="-20" dirty="0">
                <a:solidFill>
                  <a:srgbClr val="FF3300"/>
                </a:solidFill>
              </a:rPr>
              <a:t> </a:t>
            </a:r>
            <a:r>
              <a:rPr lang="en-IN" spc="-5" dirty="0">
                <a:solidFill>
                  <a:srgbClr val="FF3300"/>
                </a:solidFill>
              </a:rPr>
              <a:t>algorithm</a:t>
            </a:r>
            <a:endParaRPr lang="en-US" dirty="0"/>
          </a:p>
        </p:txBody>
      </p:sp>
      <p:pic>
        <p:nvPicPr>
          <p:cNvPr id="6"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1524000"/>
            <a:ext cx="9055724" cy="42872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9340247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Ring algorithm – work out </a:t>
            </a:r>
            <a:endParaRPr lang="en-US" dirty="0"/>
          </a:p>
        </p:txBody>
      </p:sp>
      <p:sp>
        <p:nvSpPr>
          <p:cNvPr id="3" name="Content Placeholder 2"/>
          <p:cNvSpPr>
            <a:spLocks noGrp="1"/>
          </p:cNvSpPr>
          <p:nvPr>
            <p:ph idx="1"/>
          </p:nvPr>
        </p:nvSpPr>
        <p:spPr/>
        <p:txBody>
          <a:bodyPr>
            <a:normAutofit/>
          </a:bodyPr>
          <a:lstStyle/>
          <a:p>
            <a:pPr algn="just"/>
            <a:r>
              <a:rPr lang="en-US" sz="2000" dirty="0" smtClean="0"/>
              <a:t>In a ring topology 7 processes are connected with different ID’s as shown: P20-&gt;P5-&gt;P10-&gt;P18-&gt;P3-&gt;P16-&gt;P9 If process P10 initiates election after how many message passes will the coordinator be elected and known to all the processes. What modification will take place to the election message as it passes through all the </a:t>
            </a:r>
            <a:r>
              <a:rPr lang="en-US" sz="2000" dirty="0" err="1" smtClean="0"/>
              <a:t>processes?Calculate</a:t>
            </a:r>
            <a:r>
              <a:rPr lang="en-US" sz="2000" dirty="0" smtClean="0"/>
              <a:t> total number of election messages and coordinator messages </a:t>
            </a:r>
            <a:endParaRPr lang="en-US" sz="2000" dirty="0"/>
          </a:p>
        </p:txBody>
      </p:sp>
    </p:spTree>
    <p:extLst>
      <p:ext uri="{BB962C8B-B14F-4D97-AF65-F5344CB8AC3E}">
        <p14:creationId xmlns="" xmlns:p14="http://schemas.microsoft.com/office/powerpoint/2010/main" val="7365671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571604" y="428604"/>
            <a:ext cx="6357982" cy="6215082"/>
            <a:chOff x="2000232" y="928670"/>
            <a:chExt cx="6357982" cy="6215082"/>
          </a:xfrm>
        </p:grpSpPr>
        <p:sp>
          <p:nvSpPr>
            <p:cNvPr id="5" name="Oval 4"/>
            <p:cNvSpPr/>
            <p:nvPr/>
          </p:nvSpPr>
          <p:spPr>
            <a:xfrm>
              <a:off x="2285984" y="1285860"/>
              <a:ext cx="5643602" cy="5572140"/>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Oval 3"/>
            <p:cNvSpPr/>
            <p:nvPr/>
          </p:nvSpPr>
          <p:spPr>
            <a:xfrm>
              <a:off x="6858016" y="1785926"/>
              <a:ext cx="642942" cy="857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P5</a:t>
              </a:r>
              <a:endParaRPr lang="en-US" dirty="0"/>
            </a:p>
          </p:txBody>
        </p:sp>
        <p:sp>
          <p:nvSpPr>
            <p:cNvPr id="6" name="Oval 5"/>
            <p:cNvSpPr/>
            <p:nvPr/>
          </p:nvSpPr>
          <p:spPr>
            <a:xfrm>
              <a:off x="7572396" y="4000504"/>
              <a:ext cx="785818" cy="9286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P10</a:t>
              </a:r>
              <a:endParaRPr lang="en-US" dirty="0"/>
            </a:p>
          </p:txBody>
        </p:sp>
        <p:sp>
          <p:nvSpPr>
            <p:cNvPr id="7" name="Oval 6"/>
            <p:cNvSpPr/>
            <p:nvPr/>
          </p:nvSpPr>
          <p:spPr>
            <a:xfrm>
              <a:off x="6357950" y="5643578"/>
              <a:ext cx="928694" cy="10001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P18</a:t>
              </a:r>
              <a:endParaRPr lang="en-US" dirty="0"/>
            </a:p>
          </p:txBody>
        </p:sp>
        <p:sp>
          <p:nvSpPr>
            <p:cNvPr id="8" name="Oval 7"/>
            <p:cNvSpPr/>
            <p:nvPr/>
          </p:nvSpPr>
          <p:spPr>
            <a:xfrm>
              <a:off x="4429124" y="6286520"/>
              <a:ext cx="714380" cy="8572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P3</a:t>
              </a:r>
              <a:endParaRPr lang="en-US" dirty="0"/>
            </a:p>
          </p:txBody>
        </p:sp>
        <p:sp>
          <p:nvSpPr>
            <p:cNvPr id="9" name="Oval 8"/>
            <p:cNvSpPr/>
            <p:nvPr/>
          </p:nvSpPr>
          <p:spPr>
            <a:xfrm>
              <a:off x="2000232" y="4429132"/>
              <a:ext cx="928694" cy="9286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P3</a:t>
              </a:r>
              <a:endParaRPr lang="en-US" dirty="0"/>
            </a:p>
          </p:txBody>
        </p:sp>
        <p:sp>
          <p:nvSpPr>
            <p:cNvPr id="10" name="Oval 9"/>
            <p:cNvSpPr/>
            <p:nvPr/>
          </p:nvSpPr>
          <p:spPr>
            <a:xfrm>
              <a:off x="2071670" y="2357430"/>
              <a:ext cx="785818" cy="785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P9</a:t>
              </a:r>
              <a:endParaRPr lang="en-US" dirty="0"/>
            </a:p>
          </p:txBody>
        </p:sp>
        <p:sp>
          <p:nvSpPr>
            <p:cNvPr id="11" name="Oval 10"/>
            <p:cNvSpPr/>
            <p:nvPr/>
          </p:nvSpPr>
          <p:spPr>
            <a:xfrm>
              <a:off x="4000496" y="928670"/>
              <a:ext cx="1071570" cy="10001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P20</a:t>
              </a:r>
              <a:endParaRPr lang="en-US" dirty="0"/>
            </a:p>
          </p:txBody>
        </p:sp>
      </p:grpSp>
    </p:spTree>
    <p:extLst>
      <p:ext uri="{BB962C8B-B14F-4D97-AF65-F5344CB8AC3E}">
        <p14:creationId xmlns="" xmlns:p14="http://schemas.microsoft.com/office/powerpoint/2010/main" val="31630254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Bully Algorithm – Work out  </a:t>
            </a:r>
            <a:endParaRPr lang="en-US" dirty="0"/>
          </a:p>
        </p:txBody>
      </p:sp>
      <p:sp>
        <p:nvSpPr>
          <p:cNvPr id="3" name="Content Placeholder 2"/>
          <p:cNvSpPr>
            <a:spLocks noGrp="1"/>
          </p:cNvSpPr>
          <p:nvPr>
            <p:ph idx="1"/>
          </p:nvPr>
        </p:nvSpPr>
        <p:spPr/>
        <p:txBody>
          <a:bodyPr>
            <a:normAutofit/>
          </a:bodyPr>
          <a:lstStyle/>
          <a:p>
            <a:pPr algn="just"/>
            <a:r>
              <a:rPr lang="en-US" sz="2400" dirty="0" err="1" smtClean="0"/>
              <a:t>Pid’s</a:t>
            </a:r>
            <a:r>
              <a:rPr lang="en-US" sz="2400" dirty="0" smtClean="0"/>
              <a:t> 0,4,2,1,5,6,3,7, P7 was the initial coordinator and crashed, Illustrate Bully algorithm, if P4 initiates election , </a:t>
            </a:r>
            <a:r>
              <a:rPr lang="en-US" sz="2400" dirty="0"/>
              <a:t>Calculate total number of election messages and coordinator messages </a:t>
            </a:r>
          </a:p>
          <a:p>
            <a:pPr marL="0" indent="0" algn="just">
              <a:buNone/>
            </a:pPr>
            <a:r>
              <a:rPr lang="en-US" sz="2400" dirty="0" smtClean="0"/>
              <a:t> </a:t>
            </a:r>
            <a:endParaRPr lang="en-US" sz="2400" dirty="0"/>
          </a:p>
        </p:txBody>
      </p:sp>
    </p:spTree>
    <p:extLst>
      <p:ext uri="{BB962C8B-B14F-4D97-AF65-F5344CB8AC3E}">
        <p14:creationId xmlns="" xmlns:p14="http://schemas.microsoft.com/office/powerpoint/2010/main" val="3566099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228600" y="838200"/>
            <a:ext cx="8763000" cy="5715000"/>
          </a:xfrm>
        </p:spPr>
        <p:txBody>
          <a:bodyPr>
            <a:normAutofit fontScale="92500" lnSpcReduction="10000"/>
          </a:bodyPr>
          <a:lstStyle/>
          <a:p>
            <a:pPr algn="just">
              <a:buFont typeface="Wingdings" pitchFamily="2" charset="2"/>
              <a:buChar char="§"/>
            </a:pPr>
            <a:r>
              <a:rPr lang="en-IN" sz="2000" dirty="0">
                <a:latin typeface="Times New Roman" pitchFamily="18" charset="0"/>
                <a:cs typeface="Times New Roman" pitchFamily="18" charset="0"/>
              </a:rPr>
              <a:t>Recording the global state of a distributed system on-the-fly is an important paradigm when one is interested in </a:t>
            </a:r>
            <a:r>
              <a:rPr lang="en-IN" sz="2000" dirty="0" err="1">
                <a:latin typeface="Times New Roman" pitchFamily="18" charset="0"/>
                <a:cs typeface="Times New Roman" pitchFamily="18" charset="0"/>
              </a:rPr>
              <a:t>analyzing</a:t>
            </a:r>
            <a:r>
              <a:rPr lang="en-IN" sz="2000" dirty="0">
                <a:latin typeface="Times New Roman" pitchFamily="18" charset="0"/>
                <a:cs typeface="Times New Roman" pitchFamily="18" charset="0"/>
              </a:rPr>
              <a:t>, testing, or verifying properties associated with distributed </a:t>
            </a:r>
            <a:r>
              <a:rPr lang="en-IN" sz="2000" dirty="0" smtClean="0">
                <a:latin typeface="Times New Roman" pitchFamily="18" charset="0"/>
                <a:cs typeface="Times New Roman" pitchFamily="18" charset="0"/>
              </a:rPr>
              <a:t>execution</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a:latin typeface="Times New Roman" pitchFamily="18" charset="0"/>
                <a:cs typeface="Times New Roman" pitchFamily="18" charset="0"/>
              </a:rPr>
              <a:t>Unfortunately, the lack of both a globally shared memory and a global clock in a distributed system, added to the fact that message transfer delays in these systems are finite but unpredictable, makes this problem non-trivial</a:t>
            </a:r>
            <a:r>
              <a:rPr lang="en-IN" sz="2000" dirty="0" smtClean="0">
                <a:latin typeface="Times New Roman" pitchFamily="18" charset="0"/>
                <a:cs typeface="Times New Roman" pitchFamily="18" charset="0"/>
              </a:rPr>
              <a:t>.</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US" sz="2000"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A </a:t>
            </a:r>
            <a:r>
              <a:rPr lang="en-IN" sz="2000" dirty="0">
                <a:latin typeface="Times New Roman" pitchFamily="18" charset="0"/>
                <a:cs typeface="Times New Roman" pitchFamily="18" charset="0"/>
              </a:rPr>
              <a:t>distributed computing system consists of spatially separated processes that do not share a common memory and communicate asynchronously with each other by message passing over communication </a:t>
            </a:r>
            <a:r>
              <a:rPr lang="en-IN" sz="2000" dirty="0" smtClean="0">
                <a:latin typeface="Times New Roman" pitchFamily="18" charset="0"/>
                <a:cs typeface="Times New Roman" pitchFamily="18" charset="0"/>
              </a:rPr>
              <a:t>channels</a:t>
            </a:r>
          </a:p>
          <a:p>
            <a:pPr algn="just">
              <a:buFont typeface="Wingdings" pitchFamily="2" charset="2"/>
              <a:buChar char="§"/>
            </a:pPr>
            <a:endParaRPr lang="en-US" sz="2000" dirty="0" smtClean="0">
              <a:latin typeface="Times New Roman" pitchFamily="18" charset="0"/>
              <a:cs typeface="Times New Roman" pitchFamily="18" charset="0"/>
            </a:endParaRPr>
          </a:p>
          <a:p>
            <a:pPr algn="just">
              <a:buFont typeface="Wingdings" pitchFamily="2" charset="2"/>
              <a:buChar char="§"/>
            </a:pPr>
            <a:r>
              <a:rPr lang="en-IN" sz="2000" dirty="0">
                <a:latin typeface="Times New Roman" pitchFamily="18" charset="0"/>
                <a:cs typeface="Times New Roman" pitchFamily="18" charset="0"/>
              </a:rPr>
              <a:t>Each component of a distributed system has a local state</a:t>
            </a:r>
            <a:r>
              <a:rPr lang="en-IN" sz="2000" dirty="0" smtClean="0">
                <a:latin typeface="Times New Roman" pitchFamily="18" charset="0"/>
                <a:cs typeface="Times New Roman" pitchFamily="18" charset="0"/>
              </a:rPr>
              <a:t>.</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state of a process is characterized by the state of its local memory and a history of its activity. </a:t>
            </a:r>
            <a:endParaRPr lang="en-IN" sz="2000" dirty="0" smtClean="0">
              <a:latin typeface="Times New Roman" pitchFamily="18" charset="0"/>
              <a:cs typeface="Times New Roman" pitchFamily="18" charset="0"/>
            </a:endParaRP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state of a channel is characterized by the set of messages sent along the channel </a:t>
            </a:r>
            <a:endParaRPr lang="en-US"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3838525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838200"/>
            <a:ext cx="8610600" cy="5715000"/>
          </a:xfrm>
        </p:spPr>
        <p:txBody>
          <a:bodyPr>
            <a:normAutofit lnSpcReduction="10000"/>
          </a:bodyPr>
          <a:lstStyle/>
          <a:p>
            <a:pPr algn="just">
              <a:buFont typeface="Wingdings" pitchFamily="2" charset="2"/>
              <a:buChar char="§"/>
            </a:pPr>
            <a:r>
              <a:rPr lang="en-IN" sz="2000" dirty="0"/>
              <a:t>The global state of a distributed system is a collection of the local states of its </a:t>
            </a:r>
            <a:r>
              <a:rPr lang="en-IN" sz="2000" dirty="0" smtClean="0"/>
              <a:t>components</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a:t>Recording the global state of a distributed system is an important paradigm and it finds applications in several aspects of distributed system </a:t>
            </a:r>
            <a:r>
              <a:rPr lang="en-IN" sz="2000" dirty="0" smtClean="0"/>
              <a:t>design</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a:t>For examples, in detection of stable properties such as deadlocks, and termination </a:t>
            </a:r>
            <a:r>
              <a:rPr lang="en-IN" sz="2000" dirty="0" smtClean="0"/>
              <a:t>, </a:t>
            </a:r>
            <a:r>
              <a:rPr lang="en-IN" sz="2000" dirty="0"/>
              <a:t>global state of the system is examined for certain properties</a:t>
            </a:r>
            <a:r>
              <a:rPr lang="en-IN" sz="2000" dirty="0" smtClean="0"/>
              <a:t>;</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a:t>for failure recovery, a global state of the distributed system (called a checkpoint) is periodically saved and recovery from a processor failure is done by restoring the system to the last saved global </a:t>
            </a:r>
            <a:r>
              <a:rPr lang="en-IN" sz="2000" dirty="0" smtClean="0"/>
              <a:t>state</a:t>
            </a:r>
          </a:p>
          <a:p>
            <a:pPr algn="just">
              <a:buFont typeface="Wingdings" pitchFamily="2" charset="2"/>
              <a:buChar char="§"/>
            </a:pPr>
            <a:endParaRPr lang="en-IN" sz="2000" dirty="0"/>
          </a:p>
          <a:p>
            <a:pPr algn="just">
              <a:buFont typeface="Wingdings" pitchFamily="2" charset="2"/>
              <a:buChar char="§"/>
            </a:pPr>
            <a:r>
              <a:rPr lang="en-IN" sz="2000" dirty="0"/>
              <a:t>If shared memory were available, an up-to-date state of the entire system would be available to the processes sharing the memory.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absence of shared memory necessitates ways of getting a coherent and complete view of the system based on the local states of individual processes. </a:t>
            </a:r>
          </a:p>
          <a:p>
            <a:pPr algn="just">
              <a:buFont typeface="Wingdings" pitchFamily="2" charset="2"/>
              <a:buChar char="§"/>
            </a:pPr>
            <a:endParaRPr lang="en-IN" sz="2000" dirty="0" smtClean="0"/>
          </a:p>
          <a:p>
            <a:pPr marL="0" indent="0" algn="just">
              <a:buNone/>
            </a:pPr>
            <a:endParaRPr lang="en-IN" sz="2000" dirty="0">
              <a:latin typeface="Times New Roman" pitchFamily="18" charset="0"/>
              <a:cs typeface="Times New Roman" pitchFamily="18" charset="0"/>
            </a:endParaRPr>
          </a:p>
          <a:p>
            <a:pPr marL="0" indent="0" algn="just">
              <a:buNone/>
            </a:pPr>
            <a:endParaRPr lang="en-IN" sz="2000"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11974074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838200"/>
            <a:ext cx="8610600" cy="5715000"/>
          </a:xfrm>
        </p:spPr>
        <p:txBody>
          <a:bodyPr>
            <a:normAutofit lnSpcReduction="10000"/>
          </a:bodyPr>
          <a:lstStyle/>
          <a:p>
            <a:pPr algn="just">
              <a:buFont typeface="Wingdings" pitchFamily="2" charset="2"/>
              <a:buChar char="§"/>
            </a:pPr>
            <a:r>
              <a:rPr lang="en-IN" sz="2000" dirty="0" smtClean="0"/>
              <a:t>A </a:t>
            </a:r>
            <a:r>
              <a:rPr lang="en-IN" sz="2000" dirty="0"/>
              <a:t>meaningful global snapshot can be obtained if the components of the distributed system record their local states at the same time</a:t>
            </a:r>
            <a:endParaRPr lang="en-IN" sz="2000" dirty="0" smtClean="0"/>
          </a:p>
          <a:p>
            <a:pPr algn="just">
              <a:buFont typeface="Wingdings" pitchFamily="2" charset="2"/>
              <a:buChar char="§"/>
            </a:pPr>
            <a:endParaRPr lang="en-IN" sz="2000" dirty="0" smtClean="0"/>
          </a:p>
          <a:p>
            <a:pPr marL="0" indent="0" algn="just">
              <a:buNone/>
            </a:pPr>
            <a:r>
              <a:rPr lang="en-IN" sz="2000" b="1" dirty="0"/>
              <a:t>System </a:t>
            </a:r>
            <a:r>
              <a:rPr lang="en-IN" sz="2000" b="1" dirty="0" smtClean="0"/>
              <a:t>model</a:t>
            </a:r>
          </a:p>
          <a:p>
            <a:pPr algn="just">
              <a:lnSpc>
                <a:spcPct val="150000"/>
              </a:lnSpc>
              <a:buFont typeface="Wingdings" pitchFamily="2" charset="2"/>
              <a:buChar char="§"/>
            </a:pPr>
            <a:r>
              <a:rPr lang="en-IN" sz="2000" dirty="0"/>
              <a:t>The system consists of a collection of n processes, p1, p2, , </a:t>
            </a:r>
            <a:r>
              <a:rPr lang="en-IN" sz="2000" dirty="0" err="1"/>
              <a:t>pn</a:t>
            </a:r>
            <a:r>
              <a:rPr lang="en-IN" sz="2000" dirty="0"/>
              <a:t>, that are connected by channels. </a:t>
            </a:r>
            <a:endParaRPr lang="en-IN" sz="2000" dirty="0" smtClean="0"/>
          </a:p>
          <a:p>
            <a:pPr algn="just">
              <a:lnSpc>
                <a:spcPct val="150000"/>
              </a:lnSpc>
              <a:buFont typeface="Wingdings" pitchFamily="2" charset="2"/>
              <a:buChar char="§"/>
            </a:pPr>
            <a:r>
              <a:rPr lang="en-IN" sz="2000" dirty="0" smtClean="0"/>
              <a:t>There </a:t>
            </a:r>
            <a:r>
              <a:rPr lang="en-IN" sz="2000" dirty="0"/>
              <a:t>is no globally shared memory and processes communicate solely by passing messages. </a:t>
            </a:r>
            <a:endParaRPr lang="en-IN" sz="2000" dirty="0" smtClean="0"/>
          </a:p>
          <a:p>
            <a:pPr algn="just">
              <a:lnSpc>
                <a:spcPct val="150000"/>
              </a:lnSpc>
              <a:buFont typeface="Wingdings" pitchFamily="2" charset="2"/>
              <a:buChar char="§"/>
            </a:pPr>
            <a:r>
              <a:rPr lang="en-IN" sz="2000" dirty="0" smtClean="0"/>
              <a:t>There </a:t>
            </a:r>
            <a:r>
              <a:rPr lang="en-IN" sz="2000" dirty="0"/>
              <a:t>is no physical global clock in the system. Message send and receive is asynchronous. </a:t>
            </a:r>
            <a:endParaRPr lang="en-IN" sz="2000" dirty="0" smtClean="0"/>
          </a:p>
          <a:p>
            <a:pPr algn="just">
              <a:lnSpc>
                <a:spcPct val="150000"/>
              </a:lnSpc>
              <a:buFont typeface="Wingdings" pitchFamily="2" charset="2"/>
              <a:buChar char="§"/>
            </a:pPr>
            <a:r>
              <a:rPr lang="en-IN" sz="2000" dirty="0" smtClean="0"/>
              <a:t>Messages </a:t>
            </a:r>
            <a:r>
              <a:rPr lang="en-IN" sz="2000" dirty="0"/>
              <a:t>are delivered reliably with finite but arbitrary time delay. </a:t>
            </a:r>
            <a:endParaRPr lang="en-IN" sz="2000" dirty="0" smtClean="0"/>
          </a:p>
          <a:p>
            <a:pPr algn="just">
              <a:lnSpc>
                <a:spcPct val="150000"/>
              </a:lnSpc>
              <a:buFont typeface="Wingdings" pitchFamily="2" charset="2"/>
              <a:buChar char="§"/>
            </a:pPr>
            <a:r>
              <a:rPr lang="en-IN" sz="2000" dirty="0" smtClean="0"/>
              <a:t>The </a:t>
            </a:r>
            <a:r>
              <a:rPr lang="en-IN" sz="2000" dirty="0"/>
              <a:t>system can be described as a directed graph in which vertices represent the processes and edges represent unidirectional communication channels.</a:t>
            </a:r>
            <a:endParaRPr lang="en-IN" sz="2000" b="1" dirty="0" smtClean="0"/>
          </a:p>
          <a:p>
            <a:pPr marL="0" indent="0" algn="just">
              <a:buNone/>
            </a:pPr>
            <a:endParaRPr lang="en-IN" sz="2000" b="1" dirty="0"/>
          </a:p>
          <a:p>
            <a:pPr marL="0" indent="0" algn="just">
              <a:buNone/>
            </a:pPr>
            <a:endParaRPr lang="en-IN" sz="2000" b="1" dirty="0"/>
          </a:p>
          <a:p>
            <a:pPr algn="just">
              <a:buFont typeface="Wingdings" pitchFamily="2" charset="2"/>
              <a:buChar char="§"/>
            </a:pPr>
            <a:endParaRPr lang="en-IN" sz="2000" dirty="0" smtClean="0"/>
          </a:p>
          <a:p>
            <a:pPr marL="0" indent="0" algn="just">
              <a:buNone/>
            </a:pPr>
            <a:endParaRPr lang="en-IN" sz="2000" dirty="0">
              <a:latin typeface="Times New Roman" pitchFamily="18" charset="0"/>
              <a:cs typeface="Times New Roman" pitchFamily="18" charset="0"/>
            </a:endParaRPr>
          </a:p>
          <a:p>
            <a:pPr marL="0" indent="0" algn="just">
              <a:buNone/>
            </a:pPr>
            <a:endParaRPr lang="en-IN" sz="2000"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2157070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914400"/>
            <a:ext cx="8610600" cy="5638800"/>
          </a:xfrm>
        </p:spPr>
        <p:txBody>
          <a:bodyPr>
            <a:normAutofit fontScale="92500" lnSpcReduction="10000"/>
          </a:bodyPr>
          <a:lstStyle/>
          <a:p>
            <a:pPr marL="0" indent="0" algn="just">
              <a:buNone/>
            </a:pPr>
            <a:r>
              <a:rPr lang="en-IN" sz="2000" b="1" dirty="0" smtClean="0"/>
              <a:t>System model</a:t>
            </a:r>
          </a:p>
          <a:p>
            <a:pPr algn="just">
              <a:buFont typeface="Wingdings" pitchFamily="2" charset="2"/>
              <a:buChar char="§"/>
            </a:pPr>
            <a:r>
              <a:rPr lang="en-IN" sz="2000" dirty="0" smtClean="0"/>
              <a:t>Let </a:t>
            </a:r>
            <a:r>
              <a:rPr lang="en-IN" sz="2400" b="1" dirty="0" err="1">
                <a:solidFill>
                  <a:srgbClr val="FF0000"/>
                </a:solidFill>
              </a:rPr>
              <a:t>C</a:t>
            </a:r>
            <a:r>
              <a:rPr lang="en-IN" sz="2400" b="1" baseline="-25000" dirty="0" err="1">
                <a:solidFill>
                  <a:srgbClr val="FF0000"/>
                </a:solidFill>
              </a:rPr>
              <a:t>ij</a:t>
            </a:r>
            <a:r>
              <a:rPr lang="en-IN" sz="2400" b="1" dirty="0">
                <a:solidFill>
                  <a:srgbClr val="FF0000"/>
                </a:solidFill>
              </a:rPr>
              <a:t> </a:t>
            </a:r>
            <a:r>
              <a:rPr lang="en-IN" sz="2000" dirty="0"/>
              <a:t>denote the channel from process </a:t>
            </a:r>
            <a:r>
              <a:rPr lang="en-IN" sz="2400" b="1" dirty="0">
                <a:solidFill>
                  <a:srgbClr val="FF0000"/>
                </a:solidFill>
              </a:rPr>
              <a:t>p</a:t>
            </a:r>
            <a:r>
              <a:rPr lang="en-IN" sz="2400" b="1" baseline="-25000" dirty="0">
                <a:solidFill>
                  <a:srgbClr val="FF0000"/>
                </a:solidFill>
              </a:rPr>
              <a:t>i</a:t>
            </a:r>
            <a:r>
              <a:rPr lang="en-IN" sz="2000" baseline="-25000" dirty="0"/>
              <a:t> </a:t>
            </a:r>
            <a:r>
              <a:rPr lang="en-IN" sz="2000" dirty="0"/>
              <a:t>to process </a:t>
            </a:r>
            <a:r>
              <a:rPr lang="en-IN" sz="2400" b="1" dirty="0" err="1" smtClean="0">
                <a:solidFill>
                  <a:srgbClr val="FF0000"/>
                </a:solidFill>
              </a:rPr>
              <a:t>p</a:t>
            </a:r>
            <a:r>
              <a:rPr lang="en-IN" sz="2400" b="1" baseline="-25000" dirty="0" err="1" smtClean="0">
                <a:solidFill>
                  <a:srgbClr val="FF0000"/>
                </a:solidFill>
              </a:rPr>
              <a:t>j</a:t>
            </a:r>
            <a:endParaRPr lang="en-IN" sz="2400" b="1" baseline="-25000" dirty="0" smtClean="0">
              <a:solidFill>
                <a:srgbClr val="FF0000"/>
              </a:solidFill>
            </a:endParaRPr>
          </a:p>
          <a:p>
            <a:pPr marL="0" indent="0" algn="just">
              <a:buNone/>
            </a:pPr>
            <a:endParaRPr lang="en-IN" sz="2400" b="1" baseline="-25000" dirty="0" smtClean="0">
              <a:solidFill>
                <a:srgbClr val="FF0000"/>
              </a:solidFill>
            </a:endParaRPr>
          </a:p>
          <a:p>
            <a:pPr algn="just">
              <a:buFont typeface="Wingdings" pitchFamily="2" charset="2"/>
              <a:buChar char="§"/>
            </a:pPr>
            <a:r>
              <a:rPr lang="en-IN" sz="2400" dirty="0"/>
              <a:t>Processes and channels have states associated with them. </a:t>
            </a:r>
            <a:endParaRPr lang="en-IN" sz="2400" dirty="0" smtClean="0"/>
          </a:p>
          <a:p>
            <a:pPr algn="just">
              <a:buFont typeface="Wingdings" pitchFamily="2" charset="2"/>
              <a:buChar char="§"/>
            </a:pPr>
            <a:endParaRPr lang="en-IN" sz="2400" dirty="0" smtClean="0"/>
          </a:p>
          <a:p>
            <a:pPr algn="just">
              <a:buFont typeface="Wingdings" pitchFamily="2" charset="2"/>
              <a:buChar char="§"/>
            </a:pPr>
            <a:r>
              <a:rPr lang="en-IN" sz="2400" dirty="0" smtClean="0"/>
              <a:t>The </a:t>
            </a:r>
            <a:r>
              <a:rPr lang="en-IN" sz="2400" dirty="0"/>
              <a:t>state of a process at any time is defined by the contents of processor registers, stacks, local </a:t>
            </a:r>
            <a:r>
              <a:rPr lang="en-IN" sz="2400" dirty="0" smtClean="0"/>
              <a:t>memory</a:t>
            </a:r>
          </a:p>
          <a:p>
            <a:pPr algn="just">
              <a:buFont typeface="Wingdings" pitchFamily="2" charset="2"/>
              <a:buChar char="§"/>
            </a:pPr>
            <a:endParaRPr lang="en-IN" sz="2400" b="1" baseline="-25000" dirty="0" smtClean="0">
              <a:solidFill>
                <a:srgbClr val="FF0000"/>
              </a:solidFill>
            </a:endParaRPr>
          </a:p>
          <a:p>
            <a:pPr algn="just">
              <a:buFont typeface="Wingdings" pitchFamily="2" charset="2"/>
              <a:buChar char="§"/>
            </a:pPr>
            <a:r>
              <a:rPr lang="en-IN" sz="2000" dirty="0"/>
              <a:t>The state of channel </a:t>
            </a:r>
            <a:r>
              <a:rPr lang="en-IN" sz="2000" b="1" dirty="0" err="1">
                <a:solidFill>
                  <a:srgbClr val="FF0000"/>
                </a:solidFill>
              </a:rPr>
              <a:t>C</a:t>
            </a:r>
            <a:r>
              <a:rPr lang="en-IN" sz="2000" b="1" baseline="-25000" dirty="0" err="1">
                <a:solidFill>
                  <a:srgbClr val="FF0000"/>
                </a:solidFill>
              </a:rPr>
              <a:t>ij</a:t>
            </a:r>
            <a:r>
              <a:rPr lang="en-IN" sz="2000" dirty="0" smtClean="0"/>
              <a:t>, </a:t>
            </a:r>
            <a:r>
              <a:rPr lang="en-IN" sz="2000" dirty="0"/>
              <a:t>denoted by </a:t>
            </a:r>
            <a:r>
              <a:rPr lang="en-IN" sz="2000" b="1" dirty="0" err="1">
                <a:solidFill>
                  <a:srgbClr val="FF0000"/>
                </a:solidFill>
              </a:rPr>
              <a:t>SC</a:t>
            </a:r>
            <a:r>
              <a:rPr lang="en-IN" sz="2000" b="1" baseline="-25000" dirty="0" err="1">
                <a:solidFill>
                  <a:srgbClr val="FF0000"/>
                </a:solidFill>
              </a:rPr>
              <a:t>ij</a:t>
            </a:r>
            <a:r>
              <a:rPr lang="en-IN" sz="2000" b="1" dirty="0" smtClean="0">
                <a:solidFill>
                  <a:srgbClr val="FF0000"/>
                </a:solidFill>
              </a:rPr>
              <a:t>,</a:t>
            </a:r>
          </a:p>
          <a:p>
            <a:pPr algn="just">
              <a:buFont typeface="Wingdings" pitchFamily="2" charset="2"/>
              <a:buChar char="§"/>
            </a:pPr>
            <a:endParaRPr lang="en-IN" sz="2000" b="1" dirty="0" smtClean="0">
              <a:solidFill>
                <a:srgbClr val="FF0000"/>
              </a:solidFill>
            </a:endParaRPr>
          </a:p>
          <a:p>
            <a:pPr algn="just">
              <a:buFont typeface="Wingdings" pitchFamily="2" charset="2"/>
              <a:buChar char="§"/>
            </a:pPr>
            <a:r>
              <a:rPr lang="en-IN" sz="2000" dirty="0"/>
              <a:t>The actions performed by a process are </a:t>
            </a:r>
            <a:r>
              <a:rPr lang="en-IN" sz="2000" dirty="0" err="1"/>
              <a:t>modeled</a:t>
            </a:r>
            <a:r>
              <a:rPr lang="en-IN" sz="2000" dirty="0"/>
              <a:t> as three types of events, namely, internal events, message send events, and message receive events</a:t>
            </a:r>
            <a:r>
              <a:rPr lang="en-IN" sz="2000" dirty="0" smtClean="0"/>
              <a:t>.</a:t>
            </a:r>
          </a:p>
          <a:p>
            <a:pPr algn="just">
              <a:buFont typeface="Wingdings" pitchFamily="2" charset="2"/>
              <a:buChar char="§"/>
            </a:pPr>
            <a:endParaRPr lang="en-IN" sz="2000" dirty="0" smtClean="0"/>
          </a:p>
          <a:p>
            <a:pPr algn="just">
              <a:buFont typeface="Wingdings" pitchFamily="2" charset="2"/>
              <a:buChar char="§"/>
            </a:pPr>
            <a:r>
              <a:rPr lang="en-IN" sz="2000" dirty="0"/>
              <a:t>For a message </a:t>
            </a:r>
            <a:r>
              <a:rPr lang="en-IN" sz="2000" b="1" dirty="0" err="1">
                <a:solidFill>
                  <a:srgbClr val="FF0000"/>
                </a:solidFill>
              </a:rPr>
              <a:t>m</a:t>
            </a:r>
            <a:r>
              <a:rPr lang="en-IN" sz="2000" b="1" baseline="-25000" dirty="0" err="1">
                <a:solidFill>
                  <a:srgbClr val="FF0000"/>
                </a:solidFill>
              </a:rPr>
              <a:t>ij</a:t>
            </a:r>
            <a:r>
              <a:rPr lang="en-IN" sz="2000" dirty="0"/>
              <a:t> that is sent by process</a:t>
            </a:r>
            <a:r>
              <a:rPr lang="en-IN" sz="2000" b="1" dirty="0">
                <a:solidFill>
                  <a:srgbClr val="FF0000"/>
                </a:solidFill>
              </a:rPr>
              <a:t> p</a:t>
            </a:r>
            <a:r>
              <a:rPr lang="en-IN" sz="2000" b="1" baseline="-25000" dirty="0">
                <a:solidFill>
                  <a:srgbClr val="FF0000"/>
                </a:solidFill>
              </a:rPr>
              <a:t>i</a:t>
            </a:r>
            <a:r>
              <a:rPr lang="en-IN" sz="2000" b="1" dirty="0">
                <a:solidFill>
                  <a:srgbClr val="FF0000"/>
                </a:solidFill>
              </a:rPr>
              <a:t> </a:t>
            </a:r>
            <a:r>
              <a:rPr lang="en-IN" sz="2000" dirty="0"/>
              <a:t>to process </a:t>
            </a:r>
            <a:r>
              <a:rPr lang="en-IN" sz="2000" b="1" dirty="0" err="1">
                <a:solidFill>
                  <a:srgbClr val="FF0000"/>
                </a:solidFill>
              </a:rPr>
              <a:t>p</a:t>
            </a:r>
            <a:r>
              <a:rPr lang="en-IN" sz="2000" b="1" baseline="-25000" dirty="0" err="1">
                <a:solidFill>
                  <a:srgbClr val="FF0000"/>
                </a:solidFill>
              </a:rPr>
              <a:t>j</a:t>
            </a:r>
            <a:r>
              <a:rPr lang="en-IN" sz="2000" dirty="0"/>
              <a:t>, let </a:t>
            </a:r>
            <a:r>
              <a:rPr lang="en-IN" sz="2000" b="1" dirty="0" smtClean="0">
                <a:solidFill>
                  <a:srgbClr val="FF0000"/>
                </a:solidFill>
              </a:rPr>
              <a:t>send(</a:t>
            </a:r>
            <a:r>
              <a:rPr lang="en-IN" sz="2000" b="1" dirty="0" err="1" smtClean="0">
                <a:solidFill>
                  <a:srgbClr val="FF0000"/>
                </a:solidFill>
              </a:rPr>
              <a:t>m</a:t>
            </a:r>
            <a:r>
              <a:rPr lang="en-IN" sz="2000" b="1" baseline="-25000" dirty="0" err="1" smtClean="0">
                <a:solidFill>
                  <a:srgbClr val="FF0000"/>
                </a:solidFill>
              </a:rPr>
              <a:t>ij</a:t>
            </a:r>
            <a:r>
              <a:rPr lang="en-IN" sz="2000" b="1" dirty="0" smtClean="0">
                <a:solidFill>
                  <a:srgbClr val="FF0000"/>
                </a:solidFill>
              </a:rPr>
              <a:t>)</a:t>
            </a:r>
            <a:r>
              <a:rPr lang="en-IN" sz="2000" dirty="0" smtClean="0"/>
              <a:t> </a:t>
            </a:r>
            <a:r>
              <a:rPr lang="en-IN" sz="2000" dirty="0"/>
              <a:t>and </a:t>
            </a:r>
            <a:r>
              <a:rPr lang="en-IN" sz="2000" b="1" dirty="0" smtClean="0">
                <a:solidFill>
                  <a:srgbClr val="FF0000"/>
                </a:solidFill>
              </a:rPr>
              <a:t>rec(</a:t>
            </a:r>
            <a:r>
              <a:rPr lang="en-IN" sz="2000" b="1" dirty="0" err="1" smtClean="0">
                <a:solidFill>
                  <a:srgbClr val="FF0000"/>
                </a:solidFill>
              </a:rPr>
              <a:t>m</a:t>
            </a:r>
            <a:r>
              <a:rPr lang="en-IN" sz="2000" b="1" baseline="-25000" dirty="0" err="1" smtClean="0">
                <a:solidFill>
                  <a:srgbClr val="FF0000"/>
                </a:solidFill>
              </a:rPr>
              <a:t>ij</a:t>
            </a:r>
            <a:r>
              <a:rPr lang="en-IN" sz="2000" b="1" dirty="0" smtClean="0">
                <a:solidFill>
                  <a:srgbClr val="FF0000"/>
                </a:solidFill>
              </a:rPr>
              <a:t>)</a:t>
            </a:r>
            <a:r>
              <a:rPr lang="en-IN" sz="2000" dirty="0" smtClean="0"/>
              <a:t> </a:t>
            </a:r>
            <a:r>
              <a:rPr lang="en-IN" sz="2000" dirty="0"/>
              <a:t>denote its send and receive events, respectively. </a:t>
            </a:r>
            <a:endParaRPr lang="en-IN" sz="2000" dirty="0" smtClean="0"/>
          </a:p>
          <a:p>
            <a:pPr algn="just">
              <a:buFont typeface="Wingdings" pitchFamily="2" charset="2"/>
              <a:buChar char="§"/>
            </a:pPr>
            <a:endParaRPr lang="en-IN" sz="2000" dirty="0" smtClean="0"/>
          </a:p>
          <a:p>
            <a:pPr algn="just">
              <a:buFont typeface="Wingdings" pitchFamily="2" charset="2"/>
              <a:buChar char="§"/>
            </a:pPr>
            <a:r>
              <a:rPr lang="en-IN" sz="2000" dirty="0" smtClean="0"/>
              <a:t>Occurrence </a:t>
            </a:r>
            <a:r>
              <a:rPr lang="en-IN" sz="2000" dirty="0"/>
              <a:t>of events changes the states of respective processes and channels, thus causing transitions in the global system state</a:t>
            </a:r>
            <a:endParaRPr lang="en-IN" sz="2000" b="1" dirty="0" smtClean="0">
              <a:solidFill>
                <a:srgbClr val="FF0000"/>
              </a:solidFill>
            </a:endParaRPr>
          </a:p>
          <a:p>
            <a:pPr algn="just">
              <a:buFont typeface="Wingdings" pitchFamily="2" charset="2"/>
              <a:buChar char="§"/>
            </a:pPr>
            <a:endParaRPr lang="en-IN" sz="2000" dirty="0" smtClean="0"/>
          </a:p>
          <a:p>
            <a:pPr marL="0" indent="0" algn="just">
              <a:buNone/>
            </a:pPr>
            <a:endParaRPr lang="en-IN" sz="2000" dirty="0" smtClean="0">
              <a:latin typeface="Times New Roman" pitchFamily="18" charset="0"/>
              <a:cs typeface="Times New Roman" pitchFamily="18" charset="0"/>
            </a:endParaRPr>
          </a:p>
          <a:p>
            <a:pPr marL="0" indent="0" algn="just">
              <a:buNone/>
            </a:pPr>
            <a:endParaRPr lang="en-IN" sz="2000"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3644213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914400"/>
            <a:ext cx="8610600" cy="5638800"/>
          </a:xfrm>
        </p:spPr>
        <p:txBody>
          <a:bodyPr>
            <a:normAutofit/>
          </a:bodyPr>
          <a:lstStyle/>
          <a:p>
            <a:pPr algn="just">
              <a:buFont typeface="Wingdings" pitchFamily="2" charset="2"/>
              <a:buChar char="§"/>
            </a:pPr>
            <a:r>
              <a:rPr lang="en-IN" sz="2000" dirty="0"/>
              <a:t>For example, an internal event changes the state of the process at which it occurs</a:t>
            </a:r>
            <a:r>
              <a:rPr lang="en-IN" sz="2000" dirty="0" smtClean="0"/>
              <a:t>.</a:t>
            </a:r>
          </a:p>
          <a:p>
            <a:pPr algn="just">
              <a:buFont typeface="Wingdings" pitchFamily="2" charset="2"/>
              <a:buChar char="§"/>
            </a:pPr>
            <a:endParaRPr lang="en-IN" sz="2000" dirty="0" smtClean="0"/>
          </a:p>
          <a:p>
            <a:pPr algn="just">
              <a:buFont typeface="Wingdings" pitchFamily="2" charset="2"/>
              <a:buChar char="§"/>
            </a:pPr>
            <a:r>
              <a:rPr lang="en-IN" sz="2000" dirty="0" smtClean="0"/>
              <a:t> </a:t>
            </a:r>
            <a:r>
              <a:rPr lang="en-IN" sz="2000" dirty="0"/>
              <a:t>A send event (or a receive event) changes the state of the process that sends (or receives) the message and the state of the channel on which the message is sent (or received). </a:t>
            </a:r>
            <a:endParaRPr lang="en-IN" sz="2000" dirty="0" smtClean="0"/>
          </a:p>
          <a:p>
            <a:pPr algn="just">
              <a:buFont typeface="Wingdings" pitchFamily="2" charset="2"/>
              <a:buChar char="§"/>
            </a:pPr>
            <a:endParaRPr lang="en-IN" sz="2000" dirty="0" smtClean="0"/>
          </a:p>
          <a:p>
            <a:pPr algn="just">
              <a:buFont typeface="Wingdings" pitchFamily="2" charset="2"/>
              <a:buChar char="§"/>
            </a:pPr>
            <a:r>
              <a:rPr lang="en-IN" sz="2000" dirty="0" smtClean="0"/>
              <a:t>The </a:t>
            </a:r>
            <a:r>
              <a:rPr lang="en-IN" sz="2000" dirty="0"/>
              <a:t>events at a process are linearly ordered by their order of occurrence</a:t>
            </a:r>
            <a:r>
              <a:rPr lang="en-IN" sz="2000" dirty="0" smtClean="0"/>
              <a:t>.</a:t>
            </a:r>
          </a:p>
          <a:p>
            <a:pPr algn="just">
              <a:buFont typeface="Wingdings" pitchFamily="2" charset="2"/>
              <a:buChar char="§"/>
            </a:pPr>
            <a:endParaRPr lang="en-IN" sz="2000" dirty="0">
              <a:latin typeface="Times New Roman" pitchFamily="18" charset="0"/>
              <a:cs typeface="Times New Roman" pitchFamily="18" charset="0"/>
            </a:endParaRPr>
          </a:p>
          <a:p>
            <a:pPr algn="just">
              <a:buFont typeface="Wingdings" pitchFamily="2" charset="2"/>
              <a:buChar char="§"/>
            </a:pPr>
            <a:r>
              <a:rPr lang="en-IN" sz="2000" dirty="0"/>
              <a:t>At any instant, the state of process </a:t>
            </a:r>
            <a:r>
              <a:rPr lang="en-IN" sz="2000" b="1" dirty="0">
                <a:solidFill>
                  <a:srgbClr val="FF0000"/>
                </a:solidFill>
              </a:rPr>
              <a:t>p</a:t>
            </a:r>
            <a:r>
              <a:rPr lang="en-IN" sz="2000" b="1" baseline="-25000" dirty="0">
                <a:solidFill>
                  <a:srgbClr val="FF0000"/>
                </a:solidFill>
              </a:rPr>
              <a:t>i</a:t>
            </a:r>
            <a:r>
              <a:rPr lang="en-IN" sz="2000" dirty="0"/>
              <a:t>, denoted by </a:t>
            </a:r>
            <a:r>
              <a:rPr lang="en-IN" sz="2000" b="1" dirty="0" err="1">
                <a:solidFill>
                  <a:srgbClr val="FF0000"/>
                </a:solidFill>
              </a:rPr>
              <a:t>LS</a:t>
            </a:r>
            <a:r>
              <a:rPr lang="en-IN" sz="2000" b="1" baseline="-25000" dirty="0" err="1">
                <a:solidFill>
                  <a:srgbClr val="FF0000"/>
                </a:solidFill>
              </a:rPr>
              <a:t>i</a:t>
            </a:r>
            <a:r>
              <a:rPr lang="en-IN" sz="2000" dirty="0"/>
              <a:t>, is a result of the sequence of all the events executed by pi up to that </a:t>
            </a:r>
            <a:r>
              <a:rPr lang="en-IN" sz="2000" dirty="0" smtClean="0"/>
              <a:t>instant</a:t>
            </a:r>
          </a:p>
          <a:p>
            <a:pPr marL="0" indent="0" algn="just">
              <a:buNone/>
            </a:pPr>
            <a:endParaRPr lang="en-IN" sz="2000" dirty="0">
              <a:latin typeface="Times New Roman" pitchFamily="18" charset="0"/>
              <a:cs typeface="Times New Roman" pitchFamily="18" charset="0"/>
            </a:endParaRPr>
          </a:p>
          <a:p>
            <a:pPr marL="0" indent="0" algn="just">
              <a:buNone/>
            </a:pPr>
            <a:endParaRPr lang="en-IN" sz="2000" dirty="0" smtClean="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43000" y="5181600"/>
            <a:ext cx="7304314" cy="83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954810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838200"/>
            <a:ext cx="8610600" cy="5715000"/>
          </a:xfrm>
        </p:spPr>
        <p:txBody>
          <a:bodyPr>
            <a:normAutofit/>
          </a:bodyPr>
          <a:lstStyle/>
          <a:p>
            <a:pPr marL="0" indent="0" algn="just">
              <a:buNone/>
            </a:pPr>
            <a:r>
              <a:rPr lang="en-IN" sz="2000" b="1" dirty="0"/>
              <a:t>A consistent </a:t>
            </a:r>
            <a:r>
              <a:rPr lang="en-IN" sz="2000" b="1" dirty="0" smtClean="0"/>
              <a:t>global state</a:t>
            </a:r>
          </a:p>
          <a:p>
            <a:pPr marL="0" indent="0" algn="just">
              <a:buNone/>
            </a:pPr>
            <a:r>
              <a:rPr lang="en-IN" sz="2000" dirty="0"/>
              <a:t>The global state of a distributed system is a collection of the local states of the processes and the channels. </a:t>
            </a:r>
            <a:r>
              <a:rPr lang="en-IN" sz="2000" dirty="0" err="1"/>
              <a:t>Notationally</a:t>
            </a:r>
            <a:r>
              <a:rPr lang="en-IN" sz="2000" dirty="0"/>
              <a:t>, global state GS is defined </a:t>
            </a:r>
            <a:r>
              <a:rPr lang="en-IN" sz="2000" dirty="0" smtClean="0"/>
              <a:t>as</a:t>
            </a: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r>
              <a:rPr lang="en-IN" sz="2000" dirty="0"/>
              <a:t>A global state GS is a consistent global state </a:t>
            </a:r>
            <a:r>
              <a:rPr lang="en-IN" sz="2000" dirty="0" smtClean="0"/>
              <a:t>if </a:t>
            </a:r>
            <a:r>
              <a:rPr lang="en-IN" sz="2000" dirty="0"/>
              <a:t>it satisfies the following two </a:t>
            </a:r>
            <a:r>
              <a:rPr lang="en-IN" sz="2000" dirty="0" smtClean="0"/>
              <a:t>conditions</a:t>
            </a: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0" y="2133600"/>
            <a:ext cx="4327451"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2000" y="4419600"/>
            <a:ext cx="7658100" cy="1295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788270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838200"/>
            <a:ext cx="8610600" cy="5715000"/>
          </a:xfrm>
        </p:spPr>
        <p:txBody>
          <a:bodyPr>
            <a:normAutofit/>
          </a:bodyPr>
          <a:lstStyle/>
          <a:p>
            <a:pPr marL="0" indent="0" algn="just">
              <a:buNone/>
            </a:pPr>
            <a:r>
              <a:rPr lang="en-IN" sz="2000" b="1" dirty="0"/>
              <a:t>Interpretation in terms of </a:t>
            </a:r>
            <a:r>
              <a:rPr lang="en-IN" sz="2000" b="1" dirty="0" smtClean="0"/>
              <a:t>cuts</a:t>
            </a:r>
          </a:p>
          <a:p>
            <a:pPr marL="0" indent="0" algn="just">
              <a:buNone/>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Cuts in a space–time diagram provide a powerful graphical aid in representing and reasoning about the global states of a computation.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 </a:t>
            </a:r>
            <a:r>
              <a:rPr lang="en-IN" sz="2000" dirty="0"/>
              <a:t>cut is a line joining an arbitrary point on each process line that slices the space–time diagram into a PAST and a FUTURE</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A consistent global state corresponds to a cut in which every message received in the PAST of the cut has been sent in the PAST of that cut.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Such </a:t>
            </a:r>
            <a:r>
              <a:rPr lang="en-IN" sz="2000" dirty="0"/>
              <a:t>a cut is known as a consistent cut.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All </a:t>
            </a:r>
            <a:r>
              <a:rPr lang="en-IN" sz="2000" dirty="0"/>
              <a:t>the messages that cross the cut from the PAST to the FUTURE are captured in the corresponding channel state</a:t>
            </a:r>
            <a:r>
              <a:rPr lang="en-IN" sz="2000" dirty="0" smtClean="0"/>
              <a:t>.</a:t>
            </a:r>
          </a:p>
          <a:p>
            <a:pPr marL="0" indent="0" algn="just">
              <a:buNone/>
            </a:pPr>
            <a:endParaRPr lang="en-IN" sz="2000" b="1"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24970545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1143000"/>
            <a:ext cx="8610600" cy="5410200"/>
          </a:xfrm>
        </p:spPr>
        <p:txBody>
          <a:bodyPr>
            <a:normAutofit/>
          </a:bodyPr>
          <a:lstStyle/>
          <a:p>
            <a:pPr marL="0" indent="0" algn="just">
              <a:buNone/>
            </a:pPr>
            <a:r>
              <a:rPr lang="en-IN" sz="2000" b="1" dirty="0"/>
              <a:t>Interpretation in terms of </a:t>
            </a:r>
            <a:r>
              <a:rPr lang="en-IN" sz="2000" b="1" dirty="0" smtClean="0"/>
              <a:t>cuts</a:t>
            </a: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smtClean="0">
              <a:latin typeface="Times New Roman" pitchFamily="18" charset="0"/>
              <a:cs typeface="Times New Roman" pitchFamily="18" charset="0"/>
            </a:endParaRPr>
          </a:p>
          <a:p>
            <a:pPr marL="0" indent="0" algn="just">
              <a:buNone/>
            </a:pPr>
            <a:r>
              <a:rPr lang="en-IN" sz="2000" dirty="0"/>
              <a:t>Cut C1 is inconsistent because message m1 is flowing from the FUTURE to the PAST</a:t>
            </a:r>
            <a:endParaRPr lang="en-IN" sz="2000" b="1" dirty="0" smtClean="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2550" y="1676400"/>
            <a:ext cx="8978900" cy="3048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29130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Global state and snapshot recording algorithms</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lnSpcReduction="10000"/>
          </a:bodyPr>
          <a:lstStyle/>
          <a:p>
            <a:pPr marL="0" indent="0" algn="just">
              <a:buNone/>
            </a:pPr>
            <a:r>
              <a:rPr lang="en-IN" sz="2000" b="1" dirty="0"/>
              <a:t>Issues in recording a </a:t>
            </a:r>
            <a:r>
              <a:rPr lang="en-IN" sz="2000" b="1" dirty="0" smtClean="0"/>
              <a:t>global state</a:t>
            </a:r>
          </a:p>
          <a:p>
            <a:pPr marL="0" indent="0" algn="just">
              <a:buNone/>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If a global physical clock were available, the following simple procedure could be used to record a consistent global snapshot of a distributed system.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In </a:t>
            </a:r>
            <a:r>
              <a:rPr lang="en-IN" sz="2000" dirty="0"/>
              <a:t>this, the initiator of the snapshot collection decides a future time at which the snapshot is to be taken and broadcasts this time to every process.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All </a:t>
            </a:r>
            <a:r>
              <a:rPr lang="en-IN" sz="2000" dirty="0"/>
              <a:t>processes take their local snapshots at that instant in the global time</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However, a global physical clock is not available in a distributed system and the following two issues need to be addressed in recording of a consistent global snapshot of a distributed </a:t>
            </a:r>
            <a:r>
              <a:rPr lang="en-IN" sz="2000" dirty="0" smtClean="0"/>
              <a:t>system</a:t>
            </a:r>
          </a:p>
          <a:p>
            <a:pPr algn="just">
              <a:buFont typeface="Wingdings" pitchFamily="2" charset="2"/>
              <a:buChar char="§"/>
            </a:pPr>
            <a:endParaRPr lang="en-IN" sz="2000" dirty="0"/>
          </a:p>
          <a:p>
            <a:pPr algn="just">
              <a:buFont typeface="Wingdings" pitchFamily="2" charset="2"/>
              <a:buChar char="§"/>
            </a:pPr>
            <a:r>
              <a:rPr lang="en-IN" sz="2000" dirty="0" smtClean="0"/>
              <a:t>1</a:t>
            </a:r>
            <a:r>
              <a:rPr lang="en-IN" sz="2000" dirty="0"/>
              <a:t>: How to distinguish between the messages to be recorded in the snapshot (either in a channel state or a process state) from those not to be </a:t>
            </a:r>
            <a:r>
              <a:rPr lang="en-IN" sz="2000" dirty="0" smtClean="0"/>
              <a:t>recorded</a:t>
            </a:r>
          </a:p>
          <a:p>
            <a:pPr algn="just">
              <a:buFont typeface="Wingdings" pitchFamily="2" charset="2"/>
              <a:buChar char="§"/>
            </a:pPr>
            <a:r>
              <a:rPr lang="en-IN" sz="2000" dirty="0" smtClean="0"/>
              <a:t>2</a:t>
            </a:r>
            <a:r>
              <a:rPr lang="en-IN" sz="2000" dirty="0"/>
              <a:t>: How to determine the instant when a process takes its snapshot</a:t>
            </a:r>
          </a:p>
          <a:p>
            <a:pPr marL="0" indent="0" algn="just">
              <a:buNone/>
            </a:pPr>
            <a:endParaRPr lang="en-IN" sz="2000" b="1"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3724849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a:solidFill>
                  <a:srgbClr val="002060"/>
                </a:solidFill>
              </a:rPr>
              <a:t>Snapshot algorithms for FIFO channels</a:t>
            </a:r>
            <a:endParaRPr lang="en-US" sz="3000" b="1" dirty="0">
              <a:solidFill>
                <a:srgbClr val="002060"/>
              </a:solidFill>
            </a:endParaRPr>
          </a:p>
        </p:txBody>
      </p:sp>
      <p:sp>
        <p:nvSpPr>
          <p:cNvPr id="3" name="Content Placeholder 2"/>
          <p:cNvSpPr>
            <a:spLocks noGrp="1"/>
          </p:cNvSpPr>
          <p:nvPr>
            <p:ph idx="1"/>
          </p:nvPr>
        </p:nvSpPr>
        <p:spPr>
          <a:xfrm>
            <a:off x="381000" y="1066800"/>
            <a:ext cx="8610600" cy="5486400"/>
          </a:xfrm>
        </p:spPr>
        <p:txBody>
          <a:bodyPr>
            <a:normAutofit/>
          </a:bodyPr>
          <a:lstStyle/>
          <a:p>
            <a:pPr marL="0" indent="0" algn="just">
              <a:buNone/>
            </a:pPr>
            <a:r>
              <a:rPr lang="en-IN" sz="2000" b="1" dirty="0" err="1"/>
              <a:t>Chandy</a:t>
            </a:r>
            <a:r>
              <a:rPr lang="en-IN" sz="2000" b="1" dirty="0"/>
              <a:t>–</a:t>
            </a:r>
            <a:r>
              <a:rPr lang="en-IN" sz="2000" b="1" dirty="0" err="1"/>
              <a:t>Lamport</a:t>
            </a:r>
            <a:r>
              <a:rPr lang="en-IN" sz="2000" b="1" dirty="0"/>
              <a:t> algorithm</a:t>
            </a:r>
            <a:endParaRPr lang="en-IN" sz="2000" b="1" dirty="0">
              <a:latin typeface="Times New Roman" pitchFamily="18" charset="0"/>
              <a:cs typeface="Times New Roman" pitchFamily="18" charset="0"/>
            </a:endParaRPr>
          </a:p>
          <a:p>
            <a:pPr marL="0" indent="0" algn="just">
              <a:buNone/>
            </a:pPr>
            <a:r>
              <a:rPr lang="en-IN" sz="2000" dirty="0"/>
              <a:t>The </a:t>
            </a:r>
            <a:r>
              <a:rPr lang="en-IN" sz="2000" dirty="0" err="1"/>
              <a:t>Chandy-Lamport</a:t>
            </a:r>
            <a:r>
              <a:rPr lang="en-IN" sz="2000" dirty="0"/>
              <a:t> algorithm uses a control message, called a marker. </a:t>
            </a:r>
            <a:endParaRPr lang="en-IN" sz="2000" dirty="0" smtClean="0"/>
          </a:p>
          <a:p>
            <a:pPr marL="0" indent="0" algn="just">
              <a:buNone/>
            </a:pPr>
            <a:endParaRPr lang="en-IN" sz="2000" dirty="0" smtClean="0"/>
          </a:p>
          <a:p>
            <a:pPr marL="0" indent="0" algn="just">
              <a:buNone/>
            </a:pPr>
            <a:r>
              <a:rPr lang="en-IN" sz="2000" dirty="0" smtClean="0"/>
              <a:t>After </a:t>
            </a:r>
            <a:r>
              <a:rPr lang="en-IN" sz="2000" dirty="0"/>
              <a:t>a site has recorded its snapshot, it sends a marker along all of its outgoing channels before sending out any more messages. </a:t>
            </a:r>
            <a:endParaRPr lang="en-IN" sz="2000" dirty="0" smtClean="0"/>
          </a:p>
          <a:p>
            <a:pPr marL="0" indent="0" algn="just">
              <a:buNone/>
            </a:pPr>
            <a:endParaRPr lang="en-IN" sz="2000" dirty="0" smtClean="0"/>
          </a:p>
          <a:p>
            <a:pPr marL="0" indent="0" algn="just">
              <a:buNone/>
            </a:pPr>
            <a:r>
              <a:rPr lang="en-IN" sz="2000" dirty="0" smtClean="0"/>
              <a:t>Since </a:t>
            </a:r>
            <a:r>
              <a:rPr lang="en-IN" sz="2000" dirty="0"/>
              <a:t>channels are FIFO, a marker separates the messages in the channel into those to be included in the snapshot (i.e., channel state or process state) from those not to be recorded in the snapshot. </a:t>
            </a:r>
            <a:endParaRPr lang="en-IN" sz="2000" dirty="0" smtClean="0"/>
          </a:p>
          <a:p>
            <a:pPr marL="0" indent="0" algn="just">
              <a:buNone/>
            </a:pPr>
            <a:endParaRPr lang="en-IN" sz="2000" b="1" dirty="0">
              <a:latin typeface="Times New Roman" pitchFamily="18" charset="0"/>
              <a:cs typeface="Times New Roman" pitchFamily="18" charset="0"/>
            </a:endParaRPr>
          </a:p>
          <a:p>
            <a:pPr marL="0" indent="0" algn="just">
              <a:buNone/>
            </a:pPr>
            <a:r>
              <a:rPr lang="en-IN" sz="2000" b="1" dirty="0"/>
              <a:t>The </a:t>
            </a:r>
            <a:r>
              <a:rPr lang="en-IN" sz="2000" b="1" dirty="0" smtClean="0"/>
              <a:t>algorithm</a:t>
            </a:r>
          </a:p>
          <a:p>
            <a:pPr marL="0" indent="0" algn="just">
              <a:buNone/>
            </a:pPr>
            <a:endParaRPr lang="en-IN" sz="2000" b="1" dirty="0">
              <a:latin typeface="Times New Roman" pitchFamily="18" charset="0"/>
              <a:cs typeface="Times New Roman" pitchFamily="18" charset="0"/>
            </a:endParaRPr>
          </a:p>
          <a:p>
            <a:pPr marL="0" indent="0" algn="just">
              <a:buNone/>
            </a:pPr>
            <a:r>
              <a:rPr lang="en-IN" sz="2000" dirty="0" smtClean="0"/>
              <a:t>A </a:t>
            </a:r>
            <a:r>
              <a:rPr lang="en-IN" sz="2000" dirty="0"/>
              <a:t>process initiates snapshot collection by executing the marker sending rule by which it records its local state and sends a marker on each outgoing channel</a:t>
            </a: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677464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a:solidFill>
                  <a:srgbClr val="002060"/>
                </a:solidFill>
              </a:rPr>
              <a:t>Snapshot algorithms for FIFO channels</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a:bodyPr>
          <a:lstStyle/>
          <a:p>
            <a:pPr marL="0" indent="0" algn="just">
              <a:buNone/>
            </a:pPr>
            <a:r>
              <a:rPr lang="en-IN" sz="2000" b="1" dirty="0" err="1"/>
              <a:t>Chandy</a:t>
            </a:r>
            <a:r>
              <a:rPr lang="en-IN" sz="2000" b="1" dirty="0"/>
              <a:t>–</a:t>
            </a:r>
            <a:r>
              <a:rPr lang="en-IN" sz="2000" b="1" dirty="0" err="1"/>
              <a:t>Lamport</a:t>
            </a:r>
            <a:r>
              <a:rPr lang="en-IN" sz="2000" b="1" dirty="0"/>
              <a:t> </a:t>
            </a:r>
            <a:r>
              <a:rPr lang="en-IN" sz="2000" b="1" dirty="0" smtClean="0"/>
              <a:t>algorithm</a:t>
            </a:r>
          </a:p>
          <a:p>
            <a:pPr marL="0" indent="0" algn="just">
              <a:buNone/>
            </a:pPr>
            <a:r>
              <a:rPr lang="en-IN" sz="2000" dirty="0" smtClean="0"/>
              <a:t>A </a:t>
            </a:r>
            <a:r>
              <a:rPr lang="en-IN" sz="2000" dirty="0"/>
              <a:t>process executes the marker receiving rule on receiving a marker. </a:t>
            </a:r>
            <a:endParaRPr lang="en-IN" sz="2000" dirty="0" smtClean="0"/>
          </a:p>
          <a:p>
            <a:pPr marL="0" indent="0" algn="just">
              <a:buNone/>
            </a:pPr>
            <a:endParaRPr lang="en-IN" sz="2000" dirty="0"/>
          </a:p>
          <a:p>
            <a:pPr marL="0" indent="0" algn="just">
              <a:buNone/>
            </a:pPr>
            <a:r>
              <a:rPr lang="en-IN" sz="2000" dirty="0" smtClean="0"/>
              <a:t>If </a:t>
            </a:r>
            <a:r>
              <a:rPr lang="en-IN" sz="2000" dirty="0"/>
              <a:t>the process has not yet recorded its local state, it records the state of the channel on which the marker is received as empty and executes the marker sending rule to record its local state Otherwise, the state of the incoming channel on which the marker is received is </a:t>
            </a:r>
            <a:r>
              <a:rPr lang="en-IN" sz="2000" dirty="0" smtClean="0"/>
              <a:t>recorded</a:t>
            </a:r>
          </a:p>
          <a:p>
            <a:pPr marL="0" indent="0" algn="just">
              <a:buNone/>
            </a:pPr>
            <a:endParaRPr lang="en-IN" sz="2000" dirty="0"/>
          </a:p>
          <a:p>
            <a:pPr marL="0" indent="0" algn="just">
              <a:buNone/>
            </a:pPr>
            <a:r>
              <a:rPr lang="en-IN" sz="2000" dirty="0"/>
              <a:t>The algorithm can be initiated by any process by executing the marker sending rule. </a:t>
            </a:r>
            <a:endParaRPr lang="en-IN" sz="2000" dirty="0" smtClean="0"/>
          </a:p>
          <a:p>
            <a:pPr marL="0" indent="0" algn="just">
              <a:buNone/>
            </a:pPr>
            <a:endParaRPr lang="en-IN" sz="2000" dirty="0" smtClean="0"/>
          </a:p>
          <a:p>
            <a:pPr marL="0" indent="0" algn="just">
              <a:buNone/>
            </a:pPr>
            <a:r>
              <a:rPr lang="en-IN" sz="2000" dirty="0" smtClean="0"/>
              <a:t>The </a:t>
            </a:r>
            <a:r>
              <a:rPr lang="en-IN" sz="2000" dirty="0"/>
              <a:t>algorithm terminates after each process has received a marker on all of its incoming channels</a:t>
            </a:r>
            <a:r>
              <a:rPr lang="en-IN" sz="2000" dirty="0" smtClean="0"/>
              <a:t>.</a:t>
            </a:r>
          </a:p>
          <a:p>
            <a:pPr marL="0" indent="0" algn="just">
              <a:buNone/>
            </a:pPr>
            <a:endParaRPr lang="en-IN" sz="2000" dirty="0" smtClean="0"/>
          </a:p>
          <a:p>
            <a:pPr marL="0" indent="0" algn="just">
              <a:buNone/>
            </a:pPr>
            <a:r>
              <a:rPr lang="en-IN" sz="2000" dirty="0"/>
              <a:t>The recorded local snapshots can be put together to create the global snapshot</a:t>
            </a:r>
          </a:p>
          <a:p>
            <a:pPr marL="0" indent="0" algn="just">
              <a:buNone/>
            </a:pPr>
            <a:endParaRPr lang="en-IN" sz="2000" dirty="0" smtClean="0"/>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545842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575"/>
            <a:ext cx="8229600" cy="1143000"/>
          </a:xfrm>
        </p:spPr>
        <p:txBody>
          <a:bodyPr>
            <a:noAutofit/>
          </a:bodyPr>
          <a:lstStyle/>
          <a:p>
            <a:r>
              <a:rPr lang="en-IN" sz="3000" b="1" dirty="0">
                <a:solidFill>
                  <a:srgbClr val="002060"/>
                </a:solidFill>
              </a:rPr>
              <a:t>Snapshot algorithms for FIFO channels</a:t>
            </a:r>
            <a:endParaRPr lang="en-US" sz="3000" b="1" dirty="0">
              <a:solidFill>
                <a:srgbClr val="002060"/>
              </a:solidFill>
            </a:endParaRPr>
          </a:p>
        </p:txBody>
      </p:sp>
      <p:sp>
        <p:nvSpPr>
          <p:cNvPr id="3" name="Content Placeholder 2"/>
          <p:cNvSpPr>
            <a:spLocks noGrp="1"/>
          </p:cNvSpPr>
          <p:nvPr>
            <p:ph idx="1"/>
          </p:nvPr>
        </p:nvSpPr>
        <p:spPr>
          <a:xfrm>
            <a:off x="381000" y="914400"/>
            <a:ext cx="8610600" cy="5638800"/>
          </a:xfrm>
        </p:spPr>
        <p:txBody>
          <a:bodyPr>
            <a:normAutofit/>
          </a:bodyPr>
          <a:lstStyle/>
          <a:p>
            <a:pPr marL="0" indent="0" algn="just">
              <a:buNone/>
            </a:pPr>
            <a:r>
              <a:rPr lang="en-IN" sz="2000" b="1" dirty="0" err="1"/>
              <a:t>Chandy</a:t>
            </a:r>
            <a:r>
              <a:rPr lang="en-IN" sz="2000" b="1" dirty="0"/>
              <a:t>–</a:t>
            </a:r>
            <a:r>
              <a:rPr lang="en-IN" sz="2000" b="1" dirty="0" err="1"/>
              <a:t>Lamport</a:t>
            </a:r>
            <a:r>
              <a:rPr lang="en-IN" sz="2000" b="1" dirty="0"/>
              <a:t> </a:t>
            </a:r>
            <a:r>
              <a:rPr lang="en-IN" sz="2000" b="1" dirty="0" smtClean="0"/>
              <a:t>algorithm</a:t>
            </a:r>
          </a:p>
          <a:p>
            <a:pPr marL="0" indent="0" algn="just">
              <a:buNone/>
            </a:pPr>
            <a:endParaRPr lang="en-IN" sz="2000" dirty="0" smtClean="0"/>
          </a:p>
          <a:p>
            <a:pPr marL="0" indent="0" algn="just">
              <a:buNone/>
            </a:pPr>
            <a:endParaRPr lang="en-IN" sz="2000" dirty="0" smtClean="0"/>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371600" y="1447800"/>
            <a:ext cx="6438900" cy="51818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1474079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000" b="1" dirty="0" smtClean="0">
                <a:solidFill>
                  <a:srgbClr val="002060"/>
                </a:solidFill>
              </a:rPr>
              <a:t>Termination Detection</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lnSpcReduction="10000"/>
          </a:bodyPr>
          <a:lstStyle/>
          <a:p>
            <a:pPr algn="just">
              <a:buFont typeface="Wingdings" pitchFamily="2" charset="2"/>
              <a:buChar char="§"/>
            </a:pPr>
            <a:r>
              <a:rPr lang="en-IN" sz="2000" dirty="0"/>
              <a:t>In distributed processing systems, a problem is typically solved in a distributed manner with the cooperation of a number of processes</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In such an environment, inferring if a distributed computation has ended is essential so that the results produced by the computation can be </a:t>
            </a:r>
            <a:r>
              <a:rPr lang="en-IN" sz="2000" dirty="0" smtClean="0"/>
              <a:t>used</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messages used for the purpose of termination detection (by a termination detection algorithm) are called control messages</a:t>
            </a:r>
            <a:r>
              <a:rPr lang="en-IN" sz="2000" dirty="0" smtClean="0"/>
              <a:t>.</a:t>
            </a:r>
          </a:p>
          <a:p>
            <a:pPr marL="0" indent="0" algn="just">
              <a:buNone/>
            </a:pPr>
            <a:endParaRPr lang="en-IN" sz="2000" b="1" dirty="0">
              <a:latin typeface="Times New Roman" pitchFamily="18" charset="0"/>
              <a:cs typeface="Times New Roman" pitchFamily="18" charset="0"/>
            </a:endParaRPr>
          </a:p>
          <a:p>
            <a:pPr marL="0" indent="0" algn="just">
              <a:buNone/>
            </a:pPr>
            <a:r>
              <a:rPr lang="en-IN" sz="2000" b="1" dirty="0"/>
              <a:t>A termination detection (TD) algorithm must ensure the following: </a:t>
            </a:r>
            <a:endParaRPr lang="en-IN" sz="2000" b="1" dirty="0" smtClean="0"/>
          </a:p>
          <a:p>
            <a:pPr marL="0" indent="0" algn="just">
              <a:buNone/>
            </a:pPr>
            <a:endParaRPr lang="en-IN" sz="2000" b="1" dirty="0">
              <a:latin typeface="Times New Roman" pitchFamily="18" charset="0"/>
              <a:cs typeface="Times New Roman" pitchFamily="18" charset="0"/>
            </a:endParaRPr>
          </a:p>
          <a:p>
            <a:pPr marL="457200" indent="-457200" algn="just">
              <a:buFont typeface="+mj-lt"/>
              <a:buAutoNum type="arabicPeriod"/>
            </a:pPr>
            <a:r>
              <a:rPr lang="en-IN" sz="2000" dirty="0"/>
              <a:t>Execution of a TD algorithm cannot indefinitely delay the underlying computation; that is, execution of the termination detection algorithm must not freeze the underlying </a:t>
            </a:r>
            <a:r>
              <a:rPr lang="en-IN" sz="2000" dirty="0" smtClean="0"/>
              <a:t>computation</a:t>
            </a:r>
          </a:p>
          <a:p>
            <a:pPr marL="457200" indent="-457200" algn="just">
              <a:buFont typeface="+mj-lt"/>
              <a:buAutoNum type="arabicPeriod"/>
            </a:pPr>
            <a:endParaRPr lang="en-IN" sz="2000" b="1" dirty="0">
              <a:latin typeface="Times New Roman" pitchFamily="18" charset="0"/>
              <a:cs typeface="Times New Roman" pitchFamily="18" charset="0"/>
            </a:endParaRPr>
          </a:p>
          <a:p>
            <a:pPr marL="457200" indent="-457200" algn="just">
              <a:buFont typeface="+mj-lt"/>
              <a:buAutoNum type="arabicPeriod"/>
            </a:pPr>
            <a:r>
              <a:rPr lang="en-IN" sz="2000" dirty="0"/>
              <a:t>The termination detection algorithm must not require addition of new communication channels between processes.</a:t>
            </a: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6122126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000" b="1" dirty="0" smtClean="0">
                <a:solidFill>
                  <a:srgbClr val="002060"/>
                </a:solidFill>
              </a:rPr>
              <a:t>Termination Detection</a:t>
            </a:r>
            <a:endParaRPr lang="en-US" sz="3000" b="1" dirty="0">
              <a:solidFill>
                <a:srgbClr val="002060"/>
              </a:solidFill>
            </a:endParaRPr>
          </a:p>
        </p:txBody>
      </p:sp>
      <p:sp>
        <p:nvSpPr>
          <p:cNvPr id="3" name="Content Placeholder 2"/>
          <p:cNvSpPr>
            <a:spLocks noGrp="1"/>
          </p:cNvSpPr>
          <p:nvPr>
            <p:ph idx="1"/>
          </p:nvPr>
        </p:nvSpPr>
        <p:spPr>
          <a:xfrm>
            <a:off x="381000" y="1143000"/>
            <a:ext cx="8610600" cy="5410200"/>
          </a:xfrm>
        </p:spPr>
        <p:txBody>
          <a:bodyPr>
            <a:normAutofit/>
          </a:bodyPr>
          <a:lstStyle/>
          <a:p>
            <a:pPr marL="0" indent="0" algn="just">
              <a:buNone/>
            </a:pPr>
            <a:r>
              <a:rPr lang="en-IN" sz="2000" b="1" dirty="0"/>
              <a:t>System model of a distributed </a:t>
            </a:r>
            <a:r>
              <a:rPr lang="en-IN" sz="2000" b="1" dirty="0" smtClean="0"/>
              <a:t>computation</a:t>
            </a:r>
          </a:p>
          <a:p>
            <a:pPr marL="0" indent="0" algn="just">
              <a:buNone/>
            </a:pPr>
            <a:endParaRPr lang="en-IN" sz="2000" b="1" dirty="0" smtClean="0"/>
          </a:p>
          <a:p>
            <a:pPr algn="just">
              <a:buFont typeface="Wingdings" pitchFamily="2" charset="2"/>
              <a:buChar char="§"/>
            </a:pPr>
            <a:r>
              <a:rPr lang="en-IN" sz="2000" dirty="0"/>
              <a:t>A distributed computation consists of a fixed set of processes that communicate solely by message passing. </a:t>
            </a:r>
            <a:endParaRPr lang="en-IN" sz="2000" dirty="0" smtClean="0"/>
          </a:p>
          <a:p>
            <a:pPr algn="just">
              <a:buFont typeface="Wingdings" pitchFamily="2" charset="2"/>
              <a:buChar char="§"/>
            </a:pPr>
            <a:endParaRPr lang="en-IN" sz="2000" dirty="0" smtClean="0"/>
          </a:p>
          <a:p>
            <a:pPr algn="just">
              <a:buFont typeface="Wingdings" pitchFamily="2" charset="2"/>
              <a:buChar char="§"/>
            </a:pPr>
            <a:r>
              <a:rPr lang="en-IN" sz="2000" dirty="0" smtClean="0"/>
              <a:t>All </a:t>
            </a:r>
            <a:r>
              <a:rPr lang="en-IN" sz="2000" dirty="0"/>
              <a:t>messages are received correctly after an arbitrary but finite delay</a:t>
            </a:r>
            <a:r>
              <a:rPr lang="en-IN" sz="2000" dirty="0" smtClean="0"/>
              <a:t>.</a:t>
            </a:r>
          </a:p>
          <a:p>
            <a:pPr algn="just">
              <a:buFont typeface="Wingdings" pitchFamily="2" charset="2"/>
              <a:buChar char="§"/>
            </a:pPr>
            <a:endParaRPr lang="en-IN" sz="2000" dirty="0" smtClean="0"/>
          </a:p>
          <a:p>
            <a:pPr algn="just">
              <a:buFont typeface="Wingdings" pitchFamily="2" charset="2"/>
              <a:buChar char="§"/>
            </a:pPr>
            <a:r>
              <a:rPr lang="en-IN" sz="2000" dirty="0" smtClean="0"/>
              <a:t> </a:t>
            </a:r>
            <a:r>
              <a:rPr lang="en-IN" sz="2000" dirty="0"/>
              <a:t>Communication is asynchronous, i.e., a process never waits for the receiver to be ready before sending a message.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Messages </a:t>
            </a:r>
            <a:r>
              <a:rPr lang="en-IN" sz="2000" dirty="0"/>
              <a:t>sent over the same communication channel may not obey the FIFO ordering</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A distributed computation has the following characteristics</a:t>
            </a:r>
            <a:r>
              <a:rPr lang="en-IN" sz="2000" dirty="0" smtClean="0"/>
              <a:t>:</a:t>
            </a: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2751084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000" b="1" dirty="0" smtClean="0">
                <a:solidFill>
                  <a:srgbClr val="002060"/>
                </a:solidFill>
              </a:rPr>
              <a:t>Termination Detection</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lnSpcReduction="10000"/>
          </a:bodyPr>
          <a:lstStyle/>
          <a:p>
            <a:pPr marL="0" indent="0" algn="just">
              <a:buNone/>
            </a:pPr>
            <a:r>
              <a:rPr lang="en-IN" sz="2000" b="1" dirty="0"/>
              <a:t>System model of a distributed </a:t>
            </a:r>
            <a:r>
              <a:rPr lang="en-IN" sz="2000" b="1" dirty="0" smtClean="0"/>
              <a:t>computation</a:t>
            </a:r>
          </a:p>
          <a:p>
            <a:pPr marL="0" indent="0" algn="just">
              <a:buNone/>
            </a:pPr>
            <a:endParaRPr lang="en-IN" sz="2000" b="1" dirty="0" smtClean="0"/>
          </a:p>
          <a:p>
            <a:pPr marL="457200" indent="-457200" algn="just">
              <a:buFont typeface="+mj-lt"/>
              <a:buAutoNum type="arabicPeriod"/>
            </a:pPr>
            <a:r>
              <a:rPr lang="en-IN" sz="2000" dirty="0"/>
              <a:t>At any given time during execution of the distributed computation, a process can be in only one of the two states</a:t>
            </a:r>
            <a:r>
              <a:rPr lang="en-IN" sz="2000" b="1" dirty="0"/>
              <a:t>: active</a:t>
            </a:r>
            <a:r>
              <a:rPr lang="en-IN" sz="2000" dirty="0"/>
              <a:t>, </a:t>
            </a:r>
            <a:r>
              <a:rPr lang="en-IN" sz="2000" dirty="0" smtClean="0"/>
              <a:t>and </a:t>
            </a:r>
            <a:r>
              <a:rPr lang="en-IN" sz="2000" b="1" dirty="0"/>
              <a:t>idle, </a:t>
            </a:r>
            <a:endParaRPr lang="en-IN" sz="2000" b="1" dirty="0" smtClean="0"/>
          </a:p>
          <a:p>
            <a:pPr marL="457200" indent="-457200" algn="just">
              <a:buFont typeface="+mj-lt"/>
              <a:buAutoNum type="arabicPeriod"/>
            </a:pPr>
            <a:endParaRPr lang="en-IN" sz="2000" b="1" dirty="0">
              <a:latin typeface="Times New Roman" pitchFamily="18" charset="0"/>
              <a:cs typeface="Times New Roman" pitchFamily="18" charset="0"/>
            </a:endParaRPr>
          </a:p>
          <a:p>
            <a:pPr marL="457200" indent="-457200" algn="just">
              <a:buFont typeface="+mj-lt"/>
              <a:buAutoNum type="arabicPeriod"/>
            </a:pPr>
            <a:r>
              <a:rPr lang="en-IN" sz="2000" dirty="0"/>
              <a:t>An active process can become idle at any </a:t>
            </a:r>
            <a:r>
              <a:rPr lang="en-IN" sz="2000" dirty="0" smtClean="0"/>
              <a:t>time</a:t>
            </a:r>
          </a:p>
          <a:p>
            <a:pPr marL="457200" indent="-457200" algn="just">
              <a:buFont typeface="+mj-lt"/>
              <a:buAutoNum type="arabicPeriod"/>
            </a:pPr>
            <a:endParaRPr lang="en-IN" sz="2000" dirty="0"/>
          </a:p>
          <a:p>
            <a:pPr marL="457200" indent="-457200" algn="just">
              <a:buFont typeface="+mj-lt"/>
              <a:buAutoNum type="arabicPeriod"/>
            </a:pPr>
            <a:r>
              <a:rPr lang="en-IN" sz="2000" dirty="0"/>
              <a:t>An idle process can become active only on the receipt of a message from another </a:t>
            </a:r>
            <a:r>
              <a:rPr lang="en-IN" sz="2000" dirty="0" smtClean="0"/>
              <a:t>process</a:t>
            </a:r>
          </a:p>
          <a:p>
            <a:pPr marL="457200" indent="-457200" algn="just">
              <a:buFont typeface="+mj-lt"/>
              <a:buAutoNum type="arabicPeriod"/>
            </a:pPr>
            <a:endParaRPr lang="en-IN" sz="2000" dirty="0"/>
          </a:p>
          <a:p>
            <a:pPr marL="457200" indent="-457200" algn="just">
              <a:buFont typeface="+mj-lt"/>
              <a:buAutoNum type="arabicPeriod"/>
            </a:pPr>
            <a:r>
              <a:rPr lang="en-IN" sz="2000" dirty="0"/>
              <a:t>Only active processes can send messages</a:t>
            </a:r>
            <a:r>
              <a:rPr lang="en-IN" sz="2000" dirty="0" smtClean="0"/>
              <a:t>.</a:t>
            </a:r>
          </a:p>
          <a:p>
            <a:pPr marL="457200" indent="-457200" algn="just">
              <a:buFont typeface="+mj-lt"/>
              <a:buAutoNum type="arabicPeriod"/>
            </a:pPr>
            <a:endParaRPr lang="en-IN" sz="2000" dirty="0"/>
          </a:p>
          <a:p>
            <a:pPr marL="457200" indent="-457200" algn="just">
              <a:buFont typeface="+mj-lt"/>
              <a:buAutoNum type="arabicPeriod"/>
            </a:pPr>
            <a:r>
              <a:rPr lang="en-IN" sz="2000" dirty="0"/>
              <a:t>A message can be received by a process when the process is in either of the two states</a:t>
            </a:r>
            <a:r>
              <a:rPr lang="en-IN" sz="2000" dirty="0" smtClean="0"/>
              <a:t>,</a:t>
            </a:r>
          </a:p>
          <a:p>
            <a:pPr marL="457200" indent="-457200" algn="just">
              <a:buFont typeface="+mj-lt"/>
              <a:buAutoNum type="arabicPeriod"/>
            </a:pPr>
            <a:endParaRPr lang="en-IN" sz="2000" dirty="0"/>
          </a:p>
          <a:p>
            <a:pPr marL="457200" indent="-457200" algn="just">
              <a:buFont typeface="+mj-lt"/>
              <a:buAutoNum type="arabicPeriod"/>
            </a:pPr>
            <a:r>
              <a:rPr lang="en-IN" sz="2000" dirty="0"/>
              <a:t>The sending of a message and the receipt of a message occur as atomic actions.</a:t>
            </a:r>
            <a:endParaRPr lang="en-IN" sz="2000" dirty="0" smtClean="0"/>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29149107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000" b="1" dirty="0" smtClean="0">
                <a:solidFill>
                  <a:srgbClr val="002060"/>
                </a:solidFill>
              </a:rPr>
              <a:t>Termination Detection</a:t>
            </a:r>
            <a:endParaRPr lang="en-US" sz="3000" b="1" dirty="0">
              <a:solidFill>
                <a:srgbClr val="002060"/>
              </a:solidFill>
            </a:endParaRPr>
          </a:p>
        </p:txBody>
      </p:sp>
      <p:sp>
        <p:nvSpPr>
          <p:cNvPr id="3" name="Content Placeholder 2"/>
          <p:cNvSpPr>
            <a:spLocks noGrp="1"/>
          </p:cNvSpPr>
          <p:nvPr>
            <p:ph idx="1"/>
          </p:nvPr>
        </p:nvSpPr>
        <p:spPr>
          <a:xfrm>
            <a:off x="381000" y="1143000"/>
            <a:ext cx="8610600" cy="5410200"/>
          </a:xfrm>
        </p:spPr>
        <p:txBody>
          <a:bodyPr>
            <a:normAutofit/>
          </a:bodyPr>
          <a:lstStyle/>
          <a:p>
            <a:pPr marL="0" indent="0" algn="just">
              <a:buNone/>
            </a:pPr>
            <a:r>
              <a:rPr lang="en-IN" sz="2000" b="1" dirty="0"/>
              <a:t>System model of a distributed </a:t>
            </a:r>
            <a:r>
              <a:rPr lang="en-IN" sz="2000" b="1" dirty="0" smtClean="0"/>
              <a:t>computation</a:t>
            </a:r>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smtClean="0"/>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1676400"/>
            <a:ext cx="8810625" cy="2286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9658743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a:solidFill>
                  <a:srgbClr val="002060"/>
                </a:solidFill>
              </a:rPr>
              <a:t>Termination detection using distributed snapshots</a:t>
            </a:r>
            <a:endParaRPr lang="en-US" sz="3000" b="1" dirty="0">
              <a:solidFill>
                <a:srgbClr val="002060"/>
              </a:solidFill>
            </a:endParaRPr>
          </a:p>
        </p:txBody>
      </p:sp>
      <p:sp>
        <p:nvSpPr>
          <p:cNvPr id="3" name="Content Placeholder 2"/>
          <p:cNvSpPr>
            <a:spLocks noGrp="1"/>
          </p:cNvSpPr>
          <p:nvPr>
            <p:ph idx="1"/>
          </p:nvPr>
        </p:nvSpPr>
        <p:spPr>
          <a:xfrm>
            <a:off x="381000" y="1143000"/>
            <a:ext cx="8610600" cy="5410200"/>
          </a:xfrm>
        </p:spPr>
        <p:txBody>
          <a:bodyPr>
            <a:normAutofit/>
          </a:bodyPr>
          <a:lstStyle/>
          <a:p>
            <a:pPr algn="just">
              <a:buFont typeface="Wingdings" pitchFamily="2" charset="2"/>
              <a:buChar char="§"/>
            </a:pPr>
            <a:r>
              <a:rPr lang="en-IN" sz="2000" dirty="0"/>
              <a:t>The algorithm uses the fact that a consistent snapshot of a distributed system captures stable properties.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Termination </a:t>
            </a:r>
            <a:r>
              <a:rPr lang="en-IN" sz="2000" dirty="0"/>
              <a:t>of a distributed computation is a stable property.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Thus</a:t>
            </a:r>
            <a:r>
              <a:rPr lang="en-IN" sz="2000" dirty="0"/>
              <a:t>, if a consistent snapshot of a distributed computation is taken after the distributed computation has terminated, the snapshot will capture the termination of the computation. </a:t>
            </a:r>
            <a:endParaRPr lang="en-IN" sz="2000" b="1" dirty="0"/>
          </a:p>
          <a:p>
            <a:pPr algn="just">
              <a:buFont typeface="Wingdings" pitchFamily="2" charset="2"/>
              <a:buChar char="§"/>
            </a:pPr>
            <a:endParaRPr lang="en-IN" sz="2000" b="1" dirty="0" smtClean="0"/>
          </a:p>
          <a:p>
            <a:pPr algn="just">
              <a:buFont typeface="Wingdings" pitchFamily="2" charset="2"/>
              <a:buChar char="§"/>
            </a:pPr>
            <a:r>
              <a:rPr lang="en-IN" sz="2000" dirty="0"/>
              <a:t>The algorithm assumes that there is a logical bidirectional communication channel between every pair of processes</a:t>
            </a:r>
            <a:r>
              <a:rPr lang="en-IN" sz="2000" dirty="0" smtClean="0"/>
              <a:t>.</a:t>
            </a:r>
          </a:p>
          <a:p>
            <a:pPr algn="just">
              <a:buFont typeface="Wingdings" pitchFamily="2" charset="2"/>
              <a:buChar char="§"/>
            </a:pPr>
            <a:endParaRPr lang="en-IN" sz="2000" dirty="0"/>
          </a:p>
          <a:p>
            <a:pPr algn="just">
              <a:buFont typeface="Wingdings" pitchFamily="2" charset="2"/>
              <a:buChar char="§"/>
            </a:pPr>
            <a:r>
              <a:rPr lang="en-IN" sz="2000" dirty="0" smtClean="0"/>
              <a:t> </a:t>
            </a:r>
            <a:r>
              <a:rPr lang="en-IN" sz="2000" dirty="0"/>
              <a:t>Communication channels are reliable but non-FIFO. Message delay is arbitrary but finite</a:t>
            </a:r>
            <a:r>
              <a:rPr lang="en-IN" sz="2000" dirty="0" smtClean="0"/>
              <a:t>.</a:t>
            </a:r>
          </a:p>
          <a:p>
            <a:pPr algn="just">
              <a:buFont typeface="Wingdings" pitchFamily="2" charset="2"/>
              <a:buChar char="§"/>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a:p>
          <a:p>
            <a:pPr marL="0" indent="0" algn="just">
              <a:buNone/>
            </a:pPr>
            <a:endParaRPr lang="en-IN" sz="2000" b="1" dirty="0" smtClean="0"/>
          </a:p>
          <a:p>
            <a:pPr marL="0" indent="0" algn="just">
              <a:buNone/>
            </a:pPr>
            <a:endParaRPr lang="en-IN" sz="2000" b="1" dirty="0" smtClean="0"/>
          </a:p>
          <a:p>
            <a:pPr marL="0" indent="0" algn="just">
              <a:buNone/>
            </a:pPr>
            <a:endParaRPr lang="en-IN" sz="2000" b="1"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2709700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1. Termination </a:t>
            </a:r>
            <a:r>
              <a:rPr lang="en-IN" sz="3000" b="1" dirty="0">
                <a:solidFill>
                  <a:srgbClr val="002060"/>
                </a:solidFill>
              </a:rPr>
              <a:t>detection using distributed snapshots</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fontScale="92500" lnSpcReduction="10000"/>
          </a:bodyPr>
          <a:lstStyle/>
          <a:p>
            <a:pPr marL="0" indent="0" algn="just">
              <a:buNone/>
            </a:pPr>
            <a:r>
              <a:rPr lang="en-IN" sz="2000" b="1" dirty="0"/>
              <a:t>Informal </a:t>
            </a:r>
            <a:r>
              <a:rPr lang="en-IN" sz="2000" b="1" dirty="0" smtClean="0"/>
              <a:t>description</a:t>
            </a:r>
          </a:p>
          <a:p>
            <a:pPr marL="0" indent="0" algn="just">
              <a:buNone/>
            </a:pPr>
            <a:endParaRPr lang="en-IN" sz="2000" b="1" dirty="0"/>
          </a:p>
          <a:p>
            <a:pPr algn="just">
              <a:buFont typeface="Wingdings" pitchFamily="2" charset="2"/>
              <a:buChar char="§"/>
            </a:pPr>
            <a:r>
              <a:rPr lang="en-IN" sz="2000" dirty="0"/>
              <a:t>The main idea behind the algorithm is as follows: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when </a:t>
            </a:r>
            <a:r>
              <a:rPr lang="en-IN" sz="2000" dirty="0"/>
              <a:t>a computation terminates, there must exist a unique process which became idle last</a:t>
            </a:r>
            <a:r>
              <a:rPr lang="en-IN" sz="2000" dirty="0" smtClean="0"/>
              <a:t>.</a:t>
            </a:r>
          </a:p>
          <a:p>
            <a:pPr algn="just">
              <a:buFont typeface="Wingdings" pitchFamily="2" charset="2"/>
              <a:buChar char="§"/>
            </a:pPr>
            <a:endParaRPr lang="en-IN" sz="2000" dirty="0"/>
          </a:p>
          <a:p>
            <a:pPr algn="just">
              <a:buFont typeface="Wingdings" pitchFamily="2" charset="2"/>
              <a:buChar char="§"/>
            </a:pPr>
            <a:r>
              <a:rPr lang="en-IN" sz="2000" dirty="0" smtClean="0"/>
              <a:t> </a:t>
            </a:r>
            <a:r>
              <a:rPr lang="en-IN" sz="2000" dirty="0"/>
              <a:t>When a process goes from active to idle, it issues a request to all other processes to take a local snapshot, and also requests itself to take a local snapshot.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When </a:t>
            </a:r>
            <a:r>
              <a:rPr lang="en-IN" sz="2000" dirty="0"/>
              <a:t>a process receives the request, if it agrees that the requester became idle before itself, it grants the request by taking a local snapshot for the request.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 </a:t>
            </a:r>
            <a:r>
              <a:rPr lang="en-IN" sz="2000" dirty="0"/>
              <a:t>request is said to be successful if all processes have taken a local snapshot for it</a:t>
            </a:r>
            <a:r>
              <a:rPr lang="en-IN" sz="2000" dirty="0" smtClean="0"/>
              <a:t>.</a:t>
            </a:r>
          </a:p>
          <a:p>
            <a:pPr algn="just">
              <a:buFont typeface="Wingdings" pitchFamily="2" charset="2"/>
              <a:buChar char="§"/>
            </a:pPr>
            <a:endParaRPr lang="en-IN" sz="2000" dirty="0"/>
          </a:p>
          <a:p>
            <a:pPr algn="just">
              <a:buFont typeface="Wingdings" pitchFamily="2" charset="2"/>
              <a:buChar char="§"/>
            </a:pPr>
            <a:r>
              <a:rPr lang="en-IN" sz="2000" dirty="0" smtClean="0"/>
              <a:t> </a:t>
            </a:r>
            <a:r>
              <a:rPr lang="en-IN" sz="2000" dirty="0"/>
              <a:t>The requester or any external agent may collect all the local snapshots of a request. </a:t>
            </a:r>
            <a:endParaRPr lang="en-IN" sz="2000" b="1" dirty="0" smtClean="0"/>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3330112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a:solidFill>
                  <a:srgbClr val="002060"/>
                </a:solidFill>
              </a:rPr>
              <a:t>Termination detection using distributed snapshots</a:t>
            </a:r>
            <a:endParaRPr lang="en-US" sz="3000" b="1" dirty="0">
              <a:solidFill>
                <a:srgbClr val="002060"/>
              </a:solidFill>
            </a:endParaRPr>
          </a:p>
        </p:txBody>
      </p:sp>
      <p:sp>
        <p:nvSpPr>
          <p:cNvPr id="3" name="Content Placeholder 2"/>
          <p:cNvSpPr>
            <a:spLocks noGrp="1"/>
          </p:cNvSpPr>
          <p:nvPr>
            <p:ph idx="1"/>
          </p:nvPr>
        </p:nvSpPr>
        <p:spPr>
          <a:xfrm>
            <a:off x="381000" y="1066800"/>
            <a:ext cx="8610600" cy="5486400"/>
          </a:xfrm>
        </p:spPr>
        <p:txBody>
          <a:bodyPr>
            <a:normAutofit/>
          </a:bodyPr>
          <a:lstStyle/>
          <a:p>
            <a:pPr marL="0" indent="0" algn="just">
              <a:buNone/>
            </a:pPr>
            <a:r>
              <a:rPr lang="en-IN" sz="2000" b="1" dirty="0"/>
              <a:t>Informal </a:t>
            </a:r>
            <a:r>
              <a:rPr lang="en-IN" sz="2000" b="1" dirty="0" smtClean="0"/>
              <a:t>description</a:t>
            </a:r>
          </a:p>
          <a:p>
            <a:pPr marL="0" indent="0" algn="just">
              <a:buNone/>
            </a:pPr>
            <a:endParaRPr lang="en-IN" sz="2000" b="1" dirty="0"/>
          </a:p>
          <a:p>
            <a:pPr algn="just">
              <a:buFont typeface="Wingdings" pitchFamily="2" charset="2"/>
              <a:buChar char="§"/>
            </a:pPr>
            <a:r>
              <a:rPr lang="en-IN" sz="2000" dirty="0" smtClean="0"/>
              <a:t>If </a:t>
            </a:r>
            <a:r>
              <a:rPr lang="en-IN" sz="2000" dirty="0"/>
              <a:t>a request is successful, a global snapshot of the request can thus be obtained and the recorded state will indicate termination of the computation, viz.,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in </a:t>
            </a:r>
            <a:r>
              <a:rPr lang="en-IN" sz="2000" dirty="0"/>
              <a:t>the recorded snapshot, all the processes are idle and there is no message in transit to any of the processes</a:t>
            </a:r>
            <a:endParaRPr lang="en-IN" sz="2000" b="1" dirty="0" smtClean="0"/>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98564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2</a:t>
            </a:r>
            <a:r>
              <a:rPr lang="en-IN" sz="3000" b="1" dirty="0">
                <a:solidFill>
                  <a:srgbClr val="002060"/>
                </a:solidFill>
              </a:rPr>
              <a:t>. Termination detection by weight throwing</a:t>
            </a:r>
            <a:endParaRPr lang="en-US" sz="3000" b="1" dirty="0">
              <a:solidFill>
                <a:srgbClr val="002060"/>
              </a:solidFill>
            </a:endParaRPr>
          </a:p>
        </p:txBody>
      </p:sp>
      <p:sp>
        <p:nvSpPr>
          <p:cNvPr id="3" name="Content Placeholder 2"/>
          <p:cNvSpPr>
            <a:spLocks noGrp="1"/>
          </p:cNvSpPr>
          <p:nvPr>
            <p:ph idx="1"/>
          </p:nvPr>
        </p:nvSpPr>
        <p:spPr>
          <a:xfrm>
            <a:off x="381000" y="990600"/>
            <a:ext cx="8610600" cy="5562600"/>
          </a:xfrm>
        </p:spPr>
        <p:txBody>
          <a:bodyPr>
            <a:normAutofit lnSpcReduction="10000"/>
          </a:bodyPr>
          <a:lstStyle/>
          <a:p>
            <a:pPr algn="just">
              <a:buFont typeface="Wingdings" pitchFamily="2" charset="2"/>
              <a:buChar char="§"/>
            </a:pPr>
            <a:r>
              <a:rPr lang="en-IN" sz="2000" dirty="0"/>
              <a:t>In termination detection by weight throwing, a process called controlling </a:t>
            </a:r>
            <a:r>
              <a:rPr lang="en-IN" sz="2000" dirty="0" smtClean="0"/>
              <a:t>agent monitors </a:t>
            </a:r>
            <a:r>
              <a:rPr lang="en-IN" sz="2000" dirty="0"/>
              <a:t>the computation.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 </a:t>
            </a:r>
            <a:r>
              <a:rPr lang="en-IN" sz="2000" dirty="0"/>
              <a:t>communication channel exists between each of the processes and the controlling agent and also between every pair of processes. </a:t>
            </a:r>
            <a:endParaRPr lang="en-IN" sz="2000" dirty="0" smtClean="0"/>
          </a:p>
          <a:p>
            <a:pPr algn="just">
              <a:buFont typeface="Wingdings" pitchFamily="2" charset="2"/>
              <a:buChar char="§"/>
            </a:pPr>
            <a:endParaRPr lang="en-IN" sz="2000" b="1" dirty="0" smtClean="0">
              <a:latin typeface="Times New Roman" pitchFamily="18" charset="0"/>
              <a:cs typeface="Times New Roman" pitchFamily="18" charset="0"/>
            </a:endParaRPr>
          </a:p>
          <a:p>
            <a:pPr algn="just">
              <a:buFont typeface="Wingdings" pitchFamily="2" charset="2"/>
              <a:buChar char="§"/>
            </a:pPr>
            <a:r>
              <a:rPr lang="en-IN" sz="2000" dirty="0"/>
              <a:t>Initially, all processes are in the idle state.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weight at each process is zero and the weight at the controlling agent is 1.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computation starts when the controlling agent sends a basic message to one of the processes.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process becomes active and the computation starts</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A non-zero weight W (0 &lt; W ≤ 1) is assigned to each process in the active state and to each message in transit in the following manner:</a:t>
            </a:r>
            <a:endParaRPr lang="en-IN" sz="2000" b="1" dirty="0">
              <a:latin typeface="Times New Roman" pitchFamily="18" charset="0"/>
              <a:cs typeface="Times New Roman" pitchFamily="18" charset="0"/>
            </a:endParaRPr>
          </a:p>
          <a:p>
            <a:pPr algn="just">
              <a:buFont typeface="Wingdings" pitchFamily="2" charset="2"/>
              <a:buChar char="§"/>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6006181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2</a:t>
            </a:r>
            <a:r>
              <a:rPr lang="en-IN" sz="3000" b="1" dirty="0">
                <a:solidFill>
                  <a:srgbClr val="002060"/>
                </a:solidFill>
              </a:rPr>
              <a:t>. Termination detection by weight throwing</a:t>
            </a:r>
            <a:endParaRPr lang="en-US" sz="3000" b="1" dirty="0">
              <a:solidFill>
                <a:srgbClr val="002060"/>
              </a:solidFill>
            </a:endParaRPr>
          </a:p>
        </p:txBody>
      </p:sp>
      <p:sp>
        <p:nvSpPr>
          <p:cNvPr id="3" name="Content Placeholder 2"/>
          <p:cNvSpPr>
            <a:spLocks noGrp="1"/>
          </p:cNvSpPr>
          <p:nvPr>
            <p:ph idx="1"/>
          </p:nvPr>
        </p:nvSpPr>
        <p:spPr>
          <a:xfrm>
            <a:off x="381000" y="1219200"/>
            <a:ext cx="8610600" cy="5334000"/>
          </a:xfrm>
        </p:spPr>
        <p:txBody>
          <a:bodyPr>
            <a:normAutofit/>
          </a:bodyPr>
          <a:lstStyle/>
          <a:p>
            <a:pPr algn="just">
              <a:buFont typeface="Wingdings" pitchFamily="2" charset="2"/>
              <a:buChar char="§"/>
            </a:pPr>
            <a:r>
              <a:rPr lang="en-IN" sz="2000" dirty="0"/>
              <a:t>When a process sends a message, it sends a part of its weight in the message</a:t>
            </a:r>
            <a:r>
              <a:rPr lang="en-IN" sz="2000" dirty="0" smtClean="0"/>
              <a:t>.</a:t>
            </a:r>
          </a:p>
          <a:p>
            <a:pPr algn="just">
              <a:buFont typeface="Wingdings" pitchFamily="2" charset="2"/>
              <a:buChar char="§"/>
            </a:pPr>
            <a:endParaRPr lang="en-IN" sz="2000" dirty="0"/>
          </a:p>
          <a:p>
            <a:pPr algn="just">
              <a:buFont typeface="Wingdings" pitchFamily="2" charset="2"/>
              <a:buChar char="§"/>
            </a:pPr>
            <a:r>
              <a:rPr lang="en-IN" sz="2000" dirty="0" smtClean="0"/>
              <a:t> </a:t>
            </a:r>
            <a:r>
              <a:rPr lang="en-IN" sz="2000" dirty="0"/>
              <a:t>When a process receives a message, it add the weight received in the message to its weight</a:t>
            </a:r>
            <a:r>
              <a:rPr lang="en-IN" sz="2000" dirty="0" smtClean="0"/>
              <a:t>.</a:t>
            </a:r>
          </a:p>
          <a:p>
            <a:pPr algn="just">
              <a:buFont typeface="Wingdings" pitchFamily="2" charset="2"/>
              <a:buChar char="§"/>
            </a:pPr>
            <a:endParaRPr lang="en-IN" sz="2000" dirty="0"/>
          </a:p>
          <a:p>
            <a:pPr algn="just">
              <a:buFont typeface="Wingdings" pitchFamily="2" charset="2"/>
              <a:buChar char="§"/>
            </a:pPr>
            <a:r>
              <a:rPr lang="en-IN" sz="2000" dirty="0" smtClean="0"/>
              <a:t> </a:t>
            </a:r>
            <a:r>
              <a:rPr lang="en-IN" sz="2000" dirty="0"/>
              <a:t>Thus, the sum of weights on all the processes and on all the messages in transit is always 1.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When </a:t>
            </a:r>
            <a:r>
              <a:rPr lang="en-IN" sz="2000" dirty="0"/>
              <a:t>a process becomes passive, it sends its weight to the controlling agent in a control message, which the controlling agent adds to its weight.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controlling agent concludes termination if its weight becomes 1</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2141286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2</a:t>
            </a:r>
            <a:r>
              <a:rPr lang="en-IN" sz="3000" b="1" dirty="0">
                <a:solidFill>
                  <a:srgbClr val="002060"/>
                </a:solidFill>
              </a:rPr>
              <a:t>. Termination detection by weight throwing</a:t>
            </a:r>
            <a:endParaRPr lang="en-US" sz="3000" b="1" dirty="0">
              <a:solidFill>
                <a:srgbClr val="002060"/>
              </a:solidFill>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 y="1524000"/>
            <a:ext cx="8313420" cy="27584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830525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3000" b="1" dirty="0" smtClean="0">
                <a:solidFill>
                  <a:srgbClr val="002060"/>
                </a:solidFill>
              </a:rPr>
              <a:t>2</a:t>
            </a:r>
            <a:r>
              <a:rPr lang="en-IN" sz="3000" b="1" dirty="0">
                <a:solidFill>
                  <a:srgbClr val="002060"/>
                </a:solidFill>
              </a:rPr>
              <a:t>. Termination detection by weight throwing</a:t>
            </a:r>
            <a:endParaRPr lang="en-US" sz="3000" b="1" dirty="0">
              <a:solidFill>
                <a:srgbClr val="002060"/>
              </a:solidFill>
            </a:endParaRPr>
          </a:p>
        </p:txBody>
      </p:sp>
      <p:sp>
        <p:nvSpPr>
          <p:cNvPr id="3" name="Content Placeholder 2"/>
          <p:cNvSpPr>
            <a:spLocks noGrp="1"/>
          </p:cNvSpPr>
          <p:nvPr>
            <p:ph idx="1"/>
          </p:nvPr>
        </p:nvSpPr>
        <p:spPr/>
        <p:txBody>
          <a:bodyPr/>
          <a:lstStyle/>
          <a:p>
            <a:endParaRPr lang="en-IN"/>
          </a:p>
        </p:txBody>
      </p:sp>
      <p:pic>
        <p:nvPicPr>
          <p:cNvPr id="2050" name="Picture 2" descr="C:\Users\Jithin Jacob\Desktop\Capture.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1219200"/>
            <a:ext cx="8642350" cy="50292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0517762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sp>
        <p:nvSpPr>
          <p:cNvPr id="3" name="Content Placeholder 2"/>
          <p:cNvSpPr>
            <a:spLocks noGrp="1"/>
          </p:cNvSpPr>
          <p:nvPr>
            <p:ph idx="1"/>
          </p:nvPr>
        </p:nvSpPr>
        <p:spPr>
          <a:xfrm>
            <a:off x="381000" y="1066800"/>
            <a:ext cx="8610600" cy="5486400"/>
          </a:xfrm>
        </p:spPr>
        <p:txBody>
          <a:bodyPr>
            <a:normAutofit fontScale="92500" lnSpcReduction="20000"/>
          </a:bodyPr>
          <a:lstStyle/>
          <a:p>
            <a:pPr algn="just">
              <a:buFont typeface="Wingdings" pitchFamily="2" charset="2"/>
              <a:buChar char="§"/>
            </a:pPr>
            <a:r>
              <a:rPr lang="en-IN" sz="2000" dirty="0"/>
              <a:t>The algorithm assumes there are N processes Pi, 0 ≤ i ≤ N, which are </a:t>
            </a:r>
            <a:r>
              <a:rPr lang="en-IN" sz="2000" dirty="0" smtClean="0"/>
              <a:t>modelled </a:t>
            </a:r>
            <a:r>
              <a:rPr lang="en-IN" sz="2000" dirty="0"/>
              <a:t>as the nodes i, 0 ≤ i ≤ N, of a fixed connected undirected graph</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The edges of the graph represent the communication channels, through which a process sends messages to </a:t>
            </a:r>
            <a:r>
              <a:rPr lang="en-IN" sz="2000" dirty="0" smtClean="0"/>
              <a:t>neighbouring </a:t>
            </a:r>
            <a:r>
              <a:rPr lang="en-IN" sz="2000" dirty="0"/>
              <a:t>processes in the graph.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algorithm uses a fixed spanning tree of the graph with process P0 at its root which is responsible for termination </a:t>
            </a:r>
            <a:r>
              <a:rPr lang="en-IN" sz="2000" dirty="0" smtClean="0"/>
              <a:t>detection</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Process P0 communicates with other processes to determine their states and the messages used for this purpose are called signals</a:t>
            </a:r>
            <a:r>
              <a:rPr lang="en-IN" sz="2000" dirty="0" smtClean="0"/>
              <a:t>.</a:t>
            </a:r>
          </a:p>
          <a:p>
            <a:pPr algn="just">
              <a:buFont typeface="Wingdings" pitchFamily="2" charset="2"/>
              <a:buChar char="§"/>
            </a:pPr>
            <a:endParaRPr lang="en-IN" sz="2000" b="1" dirty="0">
              <a:latin typeface="Times New Roman" pitchFamily="18" charset="0"/>
              <a:cs typeface="Times New Roman" pitchFamily="18" charset="0"/>
            </a:endParaRPr>
          </a:p>
          <a:p>
            <a:pPr algn="just">
              <a:buFont typeface="Wingdings" pitchFamily="2" charset="2"/>
              <a:buChar char="§"/>
            </a:pPr>
            <a:r>
              <a:rPr lang="en-IN" sz="2000" dirty="0"/>
              <a:t>All leaf nodes report to their parents, if they have terminated.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 </a:t>
            </a:r>
            <a:r>
              <a:rPr lang="en-IN" sz="2000" dirty="0"/>
              <a:t>parent node will similarly report to its parent when it has completed processing and all of its immediate children have terminated, and so on.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The </a:t>
            </a:r>
            <a:r>
              <a:rPr lang="en-IN" sz="2000" dirty="0"/>
              <a:t>root concludes that termination has occurred, if it has terminated and all of its immediate children have also terminated</a:t>
            </a: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2339564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sp>
        <p:nvSpPr>
          <p:cNvPr id="3" name="Content Placeholder 2"/>
          <p:cNvSpPr>
            <a:spLocks noGrp="1"/>
          </p:cNvSpPr>
          <p:nvPr>
            <p:ph idx="1"/>
          </p:nvPr>
        </p:nvSpPr>
        <p:spPr>
          <a:xfrm>
            <a:off x="381000" y="1066800"/>
            <a:ext cx="8610600" cy="5486400"/>
          </a:xfrm>
        </p:spPr>
        <p:txBody>
          <a:bodyPr>
            <a:normAutofit/>
          </a:bodyPr>
          <a:lstStyle/>
          <a:p>
            <a:pPr algn="just">
              <a:buFont typeface="Wingdings" pitchFamily="2" charset="2"/>
              <a:buChar char="§"/>
            </a:pPr>
            <a:r>
              <a:rPr lang="en-IN" sz="2000" dirty="0"/>
              <a:t>The termination detection algorithm generates two waves of signals moving inward and outward through the spanning tree.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Initially</a:t>
            </a:r>
            <a:r>
              <a:rPr lang="en-IN" sz="2000" dirty="0"/>
              <a:t>, a contracting wave of signals, called tokens, moves inward from leaves to the root.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If </a:t>
            </a:r>
            <a:r>
              <a:rPr lang="en-IN" sz="2000" dirty="0"/>
              <a:t>this token wave reaches the root without discovering that termination has occurred, the root initiates a second outward wave of repeat signals.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As </a:t>
            </a:r>
            <a:r>
              <a:rPr lang="en-IN" sz="2000" dirty="0"/>
              <a:t>this repeat wave reaches leaves, the token wave gradually forms and starts moving inward again. </a:t>
            </a:r>
            <a:endParaRPr lang="en-IN" sz="2000" dirty="0" smtClean="0"/>
          </a:p>
          <a:p>
            <a:pPr algn="just">
              <a:buFont typeface="Wingdings" pitchFamily="2" charset="2"/>
              <a:buChar char="§"/>
            </a:pPr>
            <a:endParaRPr lang="en-IN" sz="2000" dirty="0"/>
          </a:p>
          <a:p>
            <a:pPr algn="just">
              <a:buFont typeface="Wingdings" pitchFamily="2" charset="2"/>
              <a:buChar char="§"/>
            </a:pPr>
            <a:r>
              <a:rPr lang="en-IN" sz="2000" dirty="0" smtClean="0"/>
              <a:t>This </a:t>
            </a:r>
            <a:r>
              <a:rPr lang="en-IN" sz="2000" dirty="0"/>
              <a:t>sequence of events is repeated until the termination is detected</a:t>
            </a:r>
            <a:endParaRPr lang="en-IN" sz="20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4122634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3074"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 y="1143000"/>
            <a:ext cx="8610600" cy="487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5125608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sp>
        <p:nvSpPr>
          <p:cNvPr id="3" name="Content Placeholder 2"/>
          <p:cNvSpPr>
            <a:spLocks noGrp="1"/>
          </p:cNvSpPr>
          <p:nvPr>
            <p:ph idx="1"/>
          </p:nvPr>
        </p:nvSpPr>
        <p:spPr>
          <a:xfrm>
            <a:off x="457200" y="1143000"/>
            <a:ext cx="8229600" cy="5486400"/>
          </a:xfrm>
        </p:spPr>
        <p:txBody>
          <a:bodyPr>
            <a:normAutofit/>
          </a:bodyPr>
          <a:lstStyle/>
          <a:p>
            <a:pPr algn="just"/>
            <a:r>
              <a:rPr lang="en-IN" sz="2000" dirty="0"/>
              <a:t>Initially, each leaf process is given a token</a:t>
            </a:r>
            <a:r>
              <a:rPr lang="en-IN" sz="2000" dirty="0" smtClean="0"/>
              <a:t>.</a:t>
            </a:r>
          </a:p>
          <a:p>
            <a:pPr algn="just"/>
            <a:endParaRPr lang="en-IN" sz="2000" dirty="0"/>
          </a:p>
          <a:p>
            <a:pPr algn="just"/>
            <a:r>
              <a:rPr lang="en-IN" sz="2000" dirty="0" smtClean="0"/>
              <a:t> </a:t>
            </a:r>
            <a:r>
              <a:rPr lang="en-IN" sz="2000" dirty="0"/>
              <a:t>Each leaf process, after it has terminated, sends its token to its parent</a:t>
            </a:r>
            <a:r>
              <a:rPr lang="en-IN" sz="2000" dirty="0" smtClean="0"/>
              <a:t>.</a:t>
            </a:r>
          </a:p>
          <a:p>
            <a:pPr algn="just"/>
            <a:endParaRPr lang="en-IN" sz="2000" dirty="0"/>
          </a:p>
          <a:p>
            <a:pPr algn="just"/>
            <a:r>
              <a:rPr lang="en-IN" sz="2000" dirty="0" smtClean="0"/>
              <a:t> </a:t>
            </a:r>
            <a:r>
              <a:rPr lang="en-IN" sz="2000" dirty="0"/>
              <a:t>When a parent process terminates and after it has received a token from each of its children, it sends a token to its parent. </a:t>
            </a:r>
            <a:endParaRPr lang="en-IN" sz="2000" dirty="0" smtClean="0"/>
          </a:p>
          <a:p>
            <a:pPr algn="just"/>
            <a:endParaRPr lang="en-IN" sz="2000" dirty="0"/>
          </a:p>
          <a:p>
            <a:pPr algn="just"/>
            <a:r>
              <a:rPr lang="en-IN" sz="2000" dirty="0" smtClean="0"/>
              <a:t>This </a:t>
            </a:r>
            <a:r>
              <a:rPr lang="en-IN" sz="2000" dirty="0"/>
              <a:t>way, each process indicates to its parent process that the </a:t>
            </a:r>
            <a:r>
              <a:rPr lang="en-IN" sz="2000" dirty="0" err="1"/>
              <a:t>subtree</a:t>
            </a:r>
            <a:r>
              <a:rPr lang="en-IN" sz="2000" dirty="0"/>
              <a:t> below it has become idle. </a:t>
            </a:r>
            <a:endParaRPr lang="en-IN" sz="2000" dirty="0" smtClean="0"/>
          </a:p>
          <a:p>
            <a:pPr algn="just"/>
            <a:endParaRPr lang="en-IN" sz="2000" dirty="0"/>
          </a:p>
          <a:p>
            <a:pPr algn="just"/>
            <a:r>
              <a:rPr lang="en-IN" sz="2000" dirty="0" smtClean="0"/>
              <a:t>In </a:t>
            </a:r>
            <a:r>
              <a:rPr lang="en-IN" sz="2000" dirty="0"/>
              <a:t>a similar manner, the tokens get propagated to the root. </a:t>
            </a:r>
            <a:endParaRPr lang="en-IN" sz="2000" dirty="0" smtClean="0"/>
          </a:p>
          <a:p>
            <a:pPr algn="just"/>
            <a:endParaRPr lang="en-IN" sz="2000" dirty="0"/>
          </a:p>
          <a:p>
            <a:pPr algn="just"/>
            <a:r>
              <a:rPr lang="en-IN" sz="2000" dirty="0" smtClean="0"/>
              <a:t>The </a:t>
            </a:r>
            <a:r>
              <a:rPr lang="en-IN" sz="2000" dirty="0"/>
              <a:t>root of the tree concludes that termination has occurred, after it has become idle and has received a token from each of its children.</a:t>
            </a:r>
          </a:p>
        </p:txBody>
      </p:sp>
    </p:spTree>
    <p:extLst>
      <p:ext uri="{BB962C8B-B14F-4D97-AF65-F5344CB8AC3E}">
        <p14:creationId xmlns="" xmlns:p14="http://schemas.microsoft.com/office/powerpoint/2010/main" val="6923441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4098"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990600"/>
            <a:ext cx="8305800" cy="5562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750215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 y="990600"/>
            <a:ext cx="8610600" cy="5638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635405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614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9575" y="914400"/>
            <a:ext cx="8324850" cy="57578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662834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717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5300" y="990600"/>
            <a:ext cx="8153400" cy="5853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680915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819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762000"/>
            <a:ext cx="8067675" cy="32956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47675" y="3962400"/>
            <a:ext cx="8343900" cy="2743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138305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921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33400" y="1066800"/>
            <a:ext cx="8229599" cy="525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807443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IN" sz="2800" b="1" dirty="0" smtClean="0">
                <a:solidFill>
                  <a:srgbClr val="002060"/>
                </a:solidFill>
              </a:rPr>
              <a:t>3. </a:t>
            </a:r>
            <a:r>
              <a:rPr lang="en-IN" sz="2400" b="1" dirty="0">
                <a:solidFill>
                  <a:srgbClr val="002060"/>
                </a:solidFill>
              </a:rPr>
              <a:t>A spanning-tree-based termination detection algorithm</a:t>
            </a:r>
            <a:endParaRPr lang="en-US" sz="2400" b="1" dirty="0">
              <a:solidFill>
                <a:srgbClr val="002060"/>
              </a:solidFill>
            </a:endParaRPr>
          </a:p>
        </p:txBody>
      </p:sp>
      <p:pic>
        <p:nvPicPr>
          <p:cNvPr id="1024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62000" y="990600"/>
            <a:ext cx="7848600" cy="2438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95337" y="3581400"/>
            <a:ext cx="7815263" cy="2286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7773433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Spanning Tree Workout</a:t>
            </a:r>
            <a:endParaRPr lang="en-IN" dirty="0"/>
          </a:p>
        </p:txBody>
      </p:sp>
      <p:sp>
        <p:nvSpPr>
          <p:cNvPr id="3" name="Content Placeholder 2"/>
          <p:cNvSpPr>
            <a:spLocks noGrp="1"/>
          </p:cNvSpPr>
          <p:nvPr>
            <p:ph idx="1"/>
          </p:nvPr>
        </p:nvSpPr>
        <p:spPr/>
        <p:txBody>
          <a:bodyPr>
            <a:normAutofit/>
          </a:bodyPr>
          <a:lstStyle/>
          <a:p>
            <a:pPr algn="just"/>
            <a:r>
              <a:rPr lang="en-IN" dirty="0"/>
              <a:t>Apply spanning tree-based termination detection algorithm in the following scenario. </a:t>
            </a:r>
            <a:r>
              <a:rPr lang="en-IN" dirty="0" smtClean="0"/>
              <a:t>The nodes </a:t>
            </a:r>
            <a:r>
              <a:rPr lang="en-IN" dirty="0"/>
              <a:t>are processes 0 to 6. Leaf nodes 3, 4, 5, and 6 are each given tokens T3, T4, T5 and </a:t>
            </a:r>
            <a:r>
              <a:rPr lang="en-IN" dirty="0" smtClean="0"/>
              <a:t>T6 respectively</a:t>
            </a:r>
            <a:r>
              <a:rPr lang="en-IN" dirty="0"/>
              <a:t>. Leaf nodes 3, 4, 5 and 6 terminate in the order, but before terminating node </a:t>
            </a:r>
            <a:r>
              <a:rPr lang="en-IN" dirty="0" smtClean="0"/>
              <a:t>5,it sends </a:t>
            </a:r>
            <a:r>
              <a:rPr lang="en-IN" dirty="0"/>
              <a:t>a message to </a:t>
            </a:r>
            <a:r>
              <a:rPr lang="en-IN" dirty="0" smtClean="0"/>
              <a:t>node 1</a:t>
            </a:r>
            <a:endParaRPr lang="en-IN" dirty="0"/>
          </a:p>
        </p:txBody>
      </p:sp>
    </p:spTree>
    <p:extLst>
      <p:ext uri="{BB962C8B-B14F-4D97-AF65-F5344CB8AC3E}">
        <p14:creationId xmlns="" xmlns:p14="http://schemas.microsoft.com/office/powerpoint/2010/main" val="752824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735</TotalTime>
  <Words>5052</Words>
  <Application>Microsoft Office PowerPoint</Application>
  <PresentationFormat>On-screen Show (4:3)</PresentationFormat>
  <Paragraphs>644</Paragraphs>
  <Slides>69</Slides>
  <Notes>0</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Office Theme</vt:lpstr>
      <vt:lpstr>CST 402  DISTRIBUTED COMPUTING  MODULE II</vt:lpstr>
      <vt:lpstr>Module – II Lesson Plan</vt:lpstr>
      <vt:lpstr>Logical time</vt:lpstr>
      <vt:lpstr>Logical time</vt:lpstr>
      <vt:lpstr>Logical time</vt:lpstr>
      <vt:lpstr>Logical time</vt:lpstr>
      <vt:lpstr>A framework for a system of logical clocks</vt:lpstr>
      <vt:lpstr>A framework for a system of logical clocks</vt:lpstr>
      <vt:lpstr>Implementing logical clocks</vt:lpstr>
      <vt:lpstr>Scalar Time</vt:lpstr>
      <vt:lpstr>Scalar Time</vt:lpstr>
      <vt:lpstr>Slide 12</vt:lpstr>
      <vt:lpstr>Scalar Time</vt:lpstr>
      <vt:lpstr>Scalar Time</vt:lpstr>
      <vt:lpstr>Scalar Time</vt:lpstr>
      <vt:lpstr>Scalar Time</vt:lpstr>
      <vt:lpstr>Vector Time</vt:lpstr>
      <vt:lpstr>Vector Time</vt:lpstr>
      <vt:lpstr>Vector Time</vt:lpstr>
      <vt:lpstr>Vector Time</vt:lpstr>
      <vt:lpstr>Vector Time</vt:lpstr>
      <vt:lpstr>Slide 22</vt:lpstr>
      <vt:lpstr>Slide 23</vt:lpstr>
      <vt:lpstr>Slide 24</vt:lpstr>
      <vt:lpstr>A ring-based election in progress          participant. Any process can begin an election.</vt:lpstr>
      <vt:lpstr>Slide 26</vt:lpstr>
      <vt:lpstr>Slide 27</vt:lpstr>
      <vt:lpstr>Slide 28</vt:lpstr>
      <vt:lpstr>Slide 29</vt:lpstr>
      <vt:lpstr>The bully algorithm</vt:lpstr>
      <vt:lpstr>The bully algorithm</vt:lpstr>
      <vt:lpstr>Ring algorithm – work out </vt:lpstr>
      <vt:lpstr>Slide 33</vt:lpstr>
      <vt:lpstr>Bully Algorithm – Work out  </vt:lpstr>
      <vt:lpstr>Global state and snapshot recording algorithms</vt:lpstr>
      <vt:lpstr>Global state and snapshot recording algorithms</vt:lpstr>
      <vt:lpstr>Global state and snapshot recording algorithms</vt:lpstr>
      <vt:lpstr>Global state and snapshot recording algorithms</vt:lpstr>
      <vt:lpstr>Global state and snapshot recording algorithms</vt:lpstr>
      <vt:lpstr>Global state and snapshot recording algorithms</vt:lpstr>
      <vt:lpstr>Global state and snapshot recording algorithms</vt:lpstr>
      <vt:lpstr>Global state and snapshot recording algorithms</vt:lpstr>
      <vt:lpstr>Global state and snapshot recording algorithms</vt:lpstr>
      <vt:lpstr>Snapshot algorithms for FIFO channels</vt:lpstr>
      <vt:lpstr>Snapshot algorithms for FIFO channels</vt:lpstr>
      <vt:lpstr>Snapshot algorithms for FIFO channels</vt:lpstr>
      <vt:lpstr>Termination Detection</vt:lpstr>
      <vt:lpstr>Termination Detection</vt:lpstr>
      <vt:lpstr>Termination Detection</vt:lpstr>
      <vt:lpstr>Termination Detection</vt:lpstr>
      <vt:lpstr>Termination detection using distributed snapshots</vt:lpstr>
      <vt:lpstr>1. Termination detection using distributed snapshots</vt:lpstr>
      <vt:lpstr>Termination detection using distributed snapshots</vt:lpstr>
      <vt:lpstr>2. Termination detection by weight throwing</vt:lpstr>
      <vt:lpstr>2. Termination detection by weight throwing</vt:lpstr>
      <vt:lpstr>2. Termination detection by weight throwing</vt:lpstr>
      <vt:lpstr>2. Termination detection by weight throwing</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3. A spanning-tree-based termination detection algorithm</vt:lpstr>
      <vt:lpstr>Spanning Tree Workout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 402 - DISTRIBUTED COMPUTING</dc:title>
  <dc:creator>Jithin Jacob</dc:creator>
  <cp:lastModifiedBy>Jithin S</cp:lastModifiedBy>
  <cp:revision>153</cp:revision>
  <dcterms:created xsi:type="dcterms:W3CDTF">2006-08-16T00:00:00Z</dcterms:created>
  <dcterms:modified xsi:type="dcterms:W3CDTF">2025-12-14T09:04:28Z</dcterms:modified>
</cp:coreProperties>
</file>